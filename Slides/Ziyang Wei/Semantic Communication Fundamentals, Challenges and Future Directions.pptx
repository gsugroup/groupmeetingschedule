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9" r:id="rId2"/>
    <p:sldId id="260" r:id="rId3"/>
    <p:sldId id="265" r:id="rId4"/>
    <p:sldId id="278" r:id="rId5"/>
    <p:sldId id="274" r:id="rId6"/>
    <p:sldId id="267" r:id="rId7"/>
    <p:sldId id="275" r:id="rId8"/>
    <p:sldId id="276" r:id="rId9"/>
    <p:sldId id="279" r:id="rId10"/>
    <p:sldId id="280" r:id="rId11"/>
    <p:sldId id="281" r:id="rId12"/>
    <p:sldId id="268" r:id="rId13"/>
    <p:sldId id="285" r:id="rId14"/>
    <p:sldId id="262" r:id="rId15"/>
    <p:sldId id="266" r:id="rId16"/>
    <p:sldId id="263" r:id="rId17"/>
    <p:sldId id="270" r:id="rId18"/>
    <p:sldId id="282" r:id="rId19"/>
    <p:sldId id="294" r:id="rId20"/>
    <p:sldId id="273" r:id="rId21"/>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3" autoAdjust="0"/>
    <p:restoredTop sz="94660"/>
  </p:normalViewPr>
  <p:slideViewPr>
    <p:cSldViewPr snapToGrid="0">
      <p:cViewPr varScale="1">
        <p:scale>
          <a:sx n="112" d="100"/>
          <a:sy n="112" d="100"/>
        </p:scale>
        <p:origin x="5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
Do not transmit all original data, discard redundant data, and only transmit key information that can completely restore the original data.Since semantic communication transmits key information instead of all data, the bandwidth requirement is much lower than traditional communication.</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sz="4000">
                <a:latin typeface="Times New Roman" panose="02020603050405020304" charset="0"/>
                <a:ea typeface="Times New Roman" panose="02020603050405020304" charset="0"/>
                <a:cs typeface="Times New Roman" panose="02020603050405020304" charset="0"/>
              </a:rPr>
              <a:t>Semantic Communication: Fundamentals, Challenges and Future Directions</a:t>
            </a:r>
          </a:p>
        </p:txBody>
      </p:sp>
      <p:sp>
        <p:nvSpPr>
          <p:cNvPr id="3" name="副标题 2"/>
          <p:cNvSpPr>
            <a:spLocks noGrp="1"/>
          </p:cNvSpPr>
          <p:nvPr>
            <p:ph type="subTitle" idx="1"/>
          </p:nvPr>
        </p:nvSpPr>
        <p:spPr/>
        <p:txBody>
          <a:bodyPr/>
          <a:lstStyle/>
          <a:p>
            <a:r>
              <a:rPr lang="en-US" altLang="zh-CN" sz="1800">
                <a:latin typeface="Times New Roman" panose="02020603050405020304" charset="0"/>
                <a:ea typeface="Times New Roman" panose="02020603050405020304" charset="0"/>
                <a:cs typeface="Times New Roman" panose="02020603050405020304" charset="0"/>
              </a:rPr>
              <a:t>Presenter: Ziyang Wei</a:t>
            </a:r>
          </a:p>
          <a:p>
            <a:r>
              <a:rPr lang="en-US" altLang="zh-CN" sz="1800">
                <a:latin typeface="Times New Roman" panose="02020603050405020304" charset="0"/>
                <a:ea typeface="Times New Roman" panose="02020603050405020304" charset="0"/>
                <a:cs typeface="Times New Roman" panose="02020603050405020304" charset="0"/>
              </a:rPr>
              <a:t>04/18/2025</a:t>
            </a:r>
            <a:endParaRPr lang="zh-CN" altLang="en-US" sz="1800">
              <a:latin typeface="Times New Roman" panose="02020603050405020304" charset="0"/>
              <a:ea typeface="Times New Roman" panose="02020603050405020304" charset="0"/>
              <a:cs typeface="Times New Roman" panose="02020603050405020304" charset="0"/>
            </a:endParaRPr>
          </a:p>
        </p:txBody>
      </p:sp>
      <p:sp>
        <p:nvSpPr>
          <p:cNvPr id="6" name="TextBox 5"/>
          <p:cNvSpPr txBox="1"/>
          <p:nvPr/>
        </p:nvSpPr>
        <p:spPr>
          <a:xfrm>
            <a:off x="11635105" y="5939790"/>
            <a:ext cx="2971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a:t>
            </a:r>
          </a:p>
        </p:txBody>
      </p:sp>
      <p:sp>
        <p:nvSpPr>
          <p:cNvPr id="7" name="TextBox 6"/>
          <p:cNvSpPr txBox="1"/>
          <p:nvPr/>
        </p:nvSpPr>
        <p:spPr>
          <a:xfrm>
            <a:off x="11635105" y="5939790"/>
            <a:ext cx="2971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latin typeface="Times New Roman" panose="02020603050405020304" charset="0"/>
                <a:ea typeface="Times New Roman" panose="02020603050405020304" charset="0"/>
                <a:cs typeface="Times New Roman" panose="02020603050405020304" charset="0"/>
              </a:rPr>
              <a:t>O</a:t>
            </a:r>
            <a:r>
              <a:rPr lang="en-US" altLang="zh-CN">
                <a:solidFill>
                  <a:schemeClr val="tx1"/>
                </a:solidFill>
                <a:latin typeface="Times New Roman" panose="02020603050405020304" charset="0"/>
                <a:ea typeface="Times New Roman" panose="02020603050405020304" charset="0"/>
                <a:cs typeface="Times New Roman" panose="02020603050405020304" charset="0"/>
              </a:rPr>
              <a:t>utline</a:t>
            </a:r>
            <a:endParaRPr lang="zh-CN" altLang="en-US">
              <a:latin typeface="Times New Roman" panose="02020603050405020304" charset="0"/>
              <a:ea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pPr>
              <a:buFont typeface="Arial" panose="020B0604020202020204" pitchFamily="34" charset="0"/>
              <a:buChar char="•"/>
            </a:pPr>
            <a:r>
              <a:rPr lang="en-US" altLang="zh-CN">
                <a:solidFill>
                  <a:schemeClr val="tx1"/>
                </a:solidFill>
                <a:latin typeface="Times New Roman" panose="02020603050405020304" charset="0"/>
                <a:ea typeface="Times New Roman" panose="02020603050405020304" charset="0"/>
                <a:cs typeface="Times New Roman" panose="02020603050405020304" charset="0"/>
              </a:rPr>
              <a:t>Introduction</a:t>
            </a:r>
            <a:endParaRPr lang="en-US" altLang="zh-CN">
              <a:latin typeface="Times New Roman" panose="02020603050405020304" charset="0"/>
              <a:ea typeface="Times New Roman" panose="02020603050405020304" charset="0"/>
              <a:cs typeface="Times New Roman" panose="02020603050405020304" charset="0"/>
            </a:endParaRPr>
          </a:p>
          <a:p>
            <a:pPr>
              <a:buFont typeface="Arial" panose="020B0604020202020204" pitchFamily="34" charset="0"/>
              <a:buChar char="•"/>
            </a:pPr>
            <a:r>
              <a:rPr lang="en-US" altLang="zh-CN">
                <a:latin typeface="Times New Roman" panose="02020603050405020304" charset="0"/>
                <a:ea typeface="Times New Roman" panose="02020603050405020304" charset="0"/>
                <a:cs typeface="Times New Roman" panose="02020603050405020304" charset="0"/>
              </a:rPr>
              <a:t>Technical Approaches</a:t>
            </a:r>
          </a:p>
          <a:p>
            <a:pPr>
              <a:buFont typeface="Arial" panose="020B0604020202020204" pitchFamily="34" charset="0"/>
              <a:buChar char="•"/>
            </a:pPr>
            <a:r>
              <a:rPr lang="en-US" altLang="zh-CN">
                <a:latin typeface="Times New Roman" panose="02020603050405020304" charset="0"/>
                <a:ea typeface="Times New Roman" panose="02020603050405020304" charset="0"/>
                <a:cs typeface="Times New Roman" panose="02020603050405020304" charset="0"/>
              </a:rPr>
              <a:t>Security Challenges</a:t>
            </a:r>
          </a:p>
          <a:p>
            <a:pPr>
              <a:buFont typeface="Arial" panose="020B0604020202020204" pitchFamily="34" charset="0"/>
              <a:buChar char="•"/>
            </a:pPr>
            <a:r>
              <a:rPr lang="en-US" altLang="zh-CN">
                <a:latin typeface="Times New Roman" panose="02020603050405020304" charset="0"/>
                <a:ea typeface="Times New Roman" panose="02020603050405020304" charset="0"/>
                <a:cs typeface="Times New Roman" panose="02020603050405020304" charset="0"/>
              </a:rPr>
              <a:t>Future Directions</a:t>
            </a:r>
          </a:p>
          <a:p>
            <a:pPr>
              <a:buFont typeface="Arial" panose="020B0604020202020204" pitchFamily="34" charset="0"/>
              <a:buChar char="•"/>
            </a:pPr>
            <a:r>
              <a:rPr lang="en-US" altLang="zh-CN">
                <a:latin typeface="Times New Roman" panose="02020603050405020304" charset="0"/>
                <a:ea typeface="Times New Roman" panose="02020603050405020304" charset="0"/>
                <a:cs typeface="Times New Roman" panose="02020603050405020304" charset="0"/>
              </a:rPr>
              <a:t>Conclusion</a:t>
            </a:r>
            <a:endParaRPr lang="zh-CN" altLang="en-US">
              <a:latin typeface="Times New Roman" panose="02020603050405020304" charset="0"/>
              <a:ea typeface="Times New Roman" panose="02020603050405020304" charset="0"/>
              <a:cs typeface="Times New Roman" panose="02020603050405020304" charset="0"/>
            </a:endParaRPr>
          </a:p>
        </p:txBody>
      </p:sp>
      <p:sp>
        <p:nvSpPr>
          <p:cNvPr id="4" name="TextBox 3"/>
          <p:cNvSpPr txBox="1"/>
          <p:nvPr/>
        </p:nvSpPr>
        <p:spPr>
          <a:xfrm>
            <a:off x="11635105" y="5939790"/>
            <a:ext cx="914400" cy="457200"/>
          </a:xfrm>
          <a:prstGeom prst="rect">
            <a:avLst/>
          </a:prstGeom>
          <a:noFill/>
        </p:spPr>
        <p:txBody>
          <a:bodyPr wrap="none">
            <a:spAutoFit/>
          </a:bodyPr>
          <a:lstStyle/>
          <a:p>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marL="0" indent="0" algn="l">
              <a:buNone/>
            </a:pPr>
            <a:r>
              <a:rPr lang="en-US" altLang="zh-CN" sz="2800">
                <a:solidFill>
                  <a:srgbClr val="000000"/>
                </a:solidFill>
                <a:latin typeface="Times New Roman" panose="02020603050405020304" charset="0"/>
                <a:ea typeface="Times New Roman" panose="02020603050405020304" charset="0"/>
                <a:cs typeface="Times New Roman" panose="02020603050405020304" charset="0"/>
              </a:rPr>
              <a:t>Introduction</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Technical Approaches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Security Challenges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Future Directions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Conclusion</a:t>
            </a:r>
          </a:p>
        </p:txBody>
      </p:sp>
      <p:sp>
        <p:nvSpPr>
          <p:cNvPr id="3" name="文本占位符 2"/>
          <p:cNvSpPr>
            <a:spLocks noGrp="1"/>
          </p:cNvSpPr>
          <p:nvPr>
            <p:ph type="body" idx="1"/>
          </p:nvPr>
        </p:nvSpPr>
        <p:spPr/>
        <p:txBody>
          <a:bodyPr/>
          <a:lstStyle/>
          <a:p>
            <a:endParaRPr lang="zh-CN" altLang="en-US">
              <a:latin typeface="Times New Roman" panose="02020603050405020304" charset="0"/>
              <a:ea typeface="Times New Roman" panose="02020603050405020304" charset="0"/>
              <a:cs typeface="Times New Roman" panose="02020603050405020304" charset="0"/>
            </a:endParaRPr>
          </a:p>
        </p:txBody>
      </p:sp>
      <p:sp>
        <p:nvSpPr>
          <p:cNvPr id="6" name="TextBox 5"/>
          <p:cNvSpPr txBox="1"/>
          <p:nvPr/>
        </p:nvSpPr>
        <p:spPr>
          <a:xfrm>
            <a:off x="11635105" y="5939790"/>
            <a:ext cx="2971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Times New Roman" panose="02020603050405020304" charset="0"/>
                <a:ea typeface="Times New Roman" panose="02020603050405020304" charset="0"/>
                <a:cs typeface="Times New Roman" panose="02020603050405020304" charset="0"/>
              </a:rPr>
              <a:t>Motivation</a:t>
            </a:r>
          </a:p>
        </p:txBody>
      </p:sp>
      <p:sp>
        <p:nvSpPr>
          <p:cNvPr id="3" name="内容占位符 2"/>
          <p:cNvSpPr>
            <a:spLocks noGrp="1"/>
          </p:cNvSpPr>
          <p:nvPr>
            <p:ph idx="1"/>
          </p:nvPr>
        </p:nvSpPr>
        <p:spPr>
          <a:xfrm>
            <a:off x="838177" y="1958052"/>
            <a:ext cx="4196394" cy="4351338"/>
          </a:xfrm>
        </p:spPr>
        <p:txBody>
          <a:bodyPr>
            <a:noAutofit/>
          </a:bodyPr>
          <a:lstStyle/>
          <a:p>
            <a:r>
              <a:rPr lang="en-US" altLang="zh-CN">
                <a:latin typeface="Times New Roman" panose="02020603050405020304" charset="0"/>
                <a:ea typeface="Times New Roman" panose="02020603050405020304" charset="0"/>
                <a:cs typeface="Times New Roman" panose="02020603050405020304" charset="0"/>
              </a:rPr>
              <a:t>Limitations of Traditional Communication</a:t>
            </a:r>
          </a:p>
          <a:p>
            <a:pPr lvl="1"/>
            <a:r>
              <a:rPr lang="en-US" altLang="zh-CN">
                <a:latin typeface="Times New Roman" panose="02020603050405020304" charset="0"/>
                <a:ea typeface="Times New Roman" panose="02020603050405020304" charset="0"/>
                <a:cs typeface="Times New Roman" panose="02020603050405020304" charset="0"/>
              </a:rPr>
              <a:t>Focuses on bit-level transmission accuracy.</a:t>
            </a:r>
          </a:p>
          <a:p>
            <a:pPr lvl="1"/>
            <a:r>
              <a:rPr lang="en-US" altLang="zh-CN">
                <a:latin typeface="Times New Roman" panose="02020603050405020304" charset="0"/>
                <a:ea typeface="Times New Roman" panose="02020603050405020304" charset="0"/>
                <a:cs typeface="Times New Roman" panose="02020603050405020304" charset="0"/>
              </a:rPr>
              <a:t>Semantic meaning is not considered in system design.</a:t>
            </a:r>
          </a:p>
          <a:p>
            <a:pPr lvl="1"/>
            <a:r>
              <a:rPr lang="en-US" altLang="zh-CN">
                <a:latin typeface="Times New Roman" panose="02020603050405020304" charset="0"/>
                <a:ea typeface="Times New Roman" panose="02020603050405020304" charset="0"/>
                <a:cs typeface="Times New Roman" panose="02020603050405020304" charset="0"/>
              </a:rPr>
              <a:t>Semantic understanding depends on context and shared knowledge.</a:t>
            </a:r>
          </a:p>
        </p:txBody>
      </p:sp>
      <p:sp>
        <p:nvSpPr>
          <p:cNvPr id="8" name="TextBox 7"/>
          <p:cNvSpPr txBox="1"/>
          <p:nvPr/>
        </p:nvSpPr>
        <p:spPr>
          <a:xfrm>
            <a:off x="11635105" y="5939790"/>
            <a:ext cx="2971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4</a:t>
            </a:r>
          </a:p>
        </p:txBody>
      </p:sp>
      <p:pic>
        <p:nvPicPr>
          <p:cNvPr id="4" name="图片 3" descr="upload_post_object_v2_1570604828"/>
          <p:cNvPicPr>
            <a:picLocks noChangeAspect="1"/>
          </p:cNvPicPr>
          <p:nvPr/>
        </p:nvPicPr>
        <p:blipFill>
          <a:blip r:embed="rId2"/>
          <a:stretch>
            <a:fillRect/>
          </a:stretch>
        </p:blipFill>
        <p:spPr>
          <a:xfrm>
            <a:off x="4956215" y="1958056"/>
            <a:ext cx="7235810" cy="3775679"/>
          </a:xfrm>
          <a:prstGeom prst="rect">
            <a:avLst/>
          </a:prstGeom>
        </p:spPr>
      </p:pic>
      <p:sp>
        <p:nvSpPr>
          <p:cNvPr id="5" name="文本框 4"/>
          <p:cNvSpPr txBox="1"/>
          <p:nvPr userDrawn="1"/>
        </p:nvSpPr>
        <p:spPr>
          <a:xfrm>
            <a:off x="180935" y="6447414"/>
            <a:ext cx="11252637" cy="369570"/>
          </a:xfrm>
          <a:prstGeom prst="rect">
            <a:avLst/>
          </a:prstGeom>
        </p:spPr>
        <p:txBody>
          <a:bodyPr wrap="square" rtlCol="0">
            <a:noAutofit/>
          </a:bodyPr>
          <a:lstStyle/>
          <a:p>
            <a:r>
              <a:rPr lang="en-US" altLang="zh-CN" sz="1000">
                <a:solidFill>
                  <a:srgbClr val="FFFFFF"/>
                </a:solidFill>
              </a:rPr>
              <a:t>Z. Lu et al., "Semantics</a:t>
            </a:r>
            <a:r>
              <a:rPr lang="zh-CN" altLang="en-US" sz="1000">
                <a:solidFill>
                  <a:srgbClr val="FFFFFF"/>
                </a:solidFill>
              </a:rPr>
              <a:t>-</a:t>
            </a:r>
            <a:r>
              <a:rPr lang="en-US" altLang="zh-CN" sz="1000">
                <a:solidFill>
                  <a:srgbClr val="FFFFFF"/>
                </a:solidFill>
              </a:rPr>
              <a:t>Empowered Communications: A Tutorial</a:t>
            </a:r>
            <a:r>
              <a:rPr lang="zh-CN" altLang="en-US" sz="1000">
                <a:solidFill>
                  <a:srgbClr val="FFFFFF"/>
                </a:solidFill>
              </a:rPr>
              <a:t>-</a:t>
            </a:r>
            <a:r>
              <a:rPr lang="en-US" altLang="zh-CN" sz="1000">
                <a:solidFill>
                  <a:srgbClr val="FFFFFF"/>
                </a:solidFill>
              </a:rPr>
              <a:t>Cum</a:t>
            </a:r>
            <a:r>
              <a:rPr lang="zh-CN" altLang="en-US" sz="1000">
                <a:solidFill>
                  <a:srgbClr val="FFFFFF"/>
                </a:solidFill>
              </a:rPr>
              <a:t>-</a:t>
            </a:r>
            <a:r>
              <a:rPr lang="en-US" altLang="zh-CN" sz="1000">
                <a:solidFill>
                  <a:srgbClr val="FFFFFF"/>
                </a:solidFill>
              </a:rPr>
              <a:t>Survey," in IEEE Communications Surveys </a:t>
            </a:r>
            <a:r>
              <a:rPr lang="zh-CN" altLang="en-US" sz="1000">
                <a:solidFill>
                  <a:srgbClr val="FFFFFF"/>
                </a:solidFill>
              </a:rPr>
              <a:t>&amp; </a:t>
            </a:r>
            <a:r>
              <a:rPr lang="en-US" altLang="zh-CN" sz="1000">
                <a:solidFill>
                  <a:srgbClr val="FFFFFF"/>
                </a:solidFill>
              </a:rPr>
              <a:t>Tutorials, vol. 26, no. 1, pp. 41</a:t>
            </a:r>
            <a:r>
              <a:rPr lang="zh-CN" altLang="en-US" sz="1000">
                <a:solidFill>
                  <a:srgbClr val="FFFFFF"/>
                </a:solidFill>
              </a:rPr>
              <a:t>-</a:t>
            </a:r>
            <a:r>
              <a:rPr lang="en-US" altLang="zh-CN" sz="1000">
                <a:solidFill>
                  <a:srgbClr val="FFFFFF"/>
                </a:solidFill>
              </a:rPr>
              <a:t>79, Firstquarter 2024</a:t>
            </a:r>
            <a:endParaRPr lang="zh-CN" altLang="en-US" sz="10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Times New Roman" panose="02020603050405020304" charset="0"/>
                <a:ea typeface="Times New Roman" panose="02020603050405020304" charset="0"/>
                <a:cs typeface="Times New Roman" panose="02020603050405020304" charset="0"/>
              </a:rPr>
              <a:t>What is Semantic Communication?</a:t>
            </a:r>
          </a:p>
        </p:txBody>
      </p:sp>
      <p:sp>
        <p:nvSpPr>
          <p:cNvPr id="3" name="内容占位符 2"/>
          <p:cNvSpPr>
            <a:spLocks noGrp="1"/>
          </p:cNvSpPr>
          <p:nvPr>
            <p:ph idx="1"/>
          </p:nvPr>
        </p:nvSpPr>
        <p:spPr/>
        <p:txBody>
          <a:bodyPr/>
          <a:lstStyle/>
          <a:p>
            <a:r>
              <a:rPr lang="en-US" altLang="zh-CN">
                <a:latin typeface="Times New Roman" panose="02020603050405020304" charset="0"/>
                <a:ea typeface="Times New Roman" panose="02020603050405020304" charset="0"/>
                <a:cs typeface="Times New Roman" panose="02020603050405020304" charset="0"/>
              </a:rPr>
              <a:t>Semantic Communication (SemCom) refers to the process of transmitting meaningful information between </a:t>
            </a:r>
            <a:r>
              <a:rPr lang="en-US" altLang="zh-CN">
                <a:solidFill>
                  <a:schemeClr val="tx1"/>
                </a:solidFill>
                <a:latin typeface="Times New Roman" panose="02020603050405020304" charset="0"/>
                <a:ea typeface="Times New Roman" panose="02020603050405020304" charset="0"/>
                <a:cs typeface="Times New Roman" panose="02020603050405020304" charset="0"/>
              </a:rPr>
              <a:t>transmitter</a:t>
            </a:r>
            <a:r>
              <a:rPr lang="en-US" altLang="zh-CN">
                <a:latin typeface="Times New Roman" panose="02020603050405020304" charset="0"/>
                <a:ea typeface="Times New Roman" panose="02020603050405020304" charset="0"/>
                <a:cs typeface="Times New Roman" panose="02020603050405020304" charset="0"/>
              </a:rPr>
              <a:t> and receiver.</a:t>
            </a:r>
          </a:p>
          <a:p>
            <a:pPr lvl="1"/>
            <a:r>
              <a:rPr lang="en-US" altLang="zh-CN">
                <a:latin typeface="Times New Roman" panose="02020603050405020304" charset="0"/>
                <a:ea typeface="Times New Roman" panose="02020603050405020304" charset="0"/>
                <a:cs typeface="Times New Roman" panose="02020603050405020304" charset="0"/>
              </a:rPr>
              <a:t>Encoder extracts semantic features (images </a:t>
            </a:r>
            <a:r>
              <a:rPr lang="en-US" altLang="en-US">
                <a:latin typeface="Times New Roman" panose="02020603050405020304" charset="0"/>
                <a:ea typeface="Times New Roman" panose="02020603050405020304" charset="0"/>
                <a:cs typeface="Times New Roman" panose="02020603050405020304" charset="0"/>
              </a:rPr>
              <a:t>→</a:t>
            </a:r>
            <a:r>
              <a:rPr lang="en-US" altLang="zh-CN">
                <a:latin typeface="Times New Roman" panose="02020603050405020304" charset="0"/>
                <a:ea typeface="Times New Roman" panose="02020603050405020304" charset="0"/>
                <a:cs typeface="Times New Roman" panose="02020603050405020304" charset="0"/>
              </a:rPr>
              <a:t> feature vectors).</a:t>
            </a:r>
          </a:p>
          <a:p>
            <a:pPr lvl="1"/>
            <a:r>
              <a:rPr lang="en-US" altLang="zh-CN">
                <a:latin typeface="Times New Roman" panose="02020603050405020304" charset="0"/>
                <a:ea typeface="Times New Roman" panose="02020603050405020304" charset="0"/>
                <a:cs typeface="Times New Roman" panose="02020603050405020304" charset="0"/>
              </a:rPr>
              <a:t>Feature vectors transmitted over a communication channel.</a:t>
            </a:r>
          </a:p>
          <a:p>
            <a:pPr lvl="1"/>
            <a:r>
              <a:rPr lang="en-US" altLang="zh-CN">
                <a:latin typeface="Times New Roman" panose="02020603050405020304" charset="0"/>
                <a:ea typeface="Times New Roman" panose="02020603050405020304" charset="0"/>
                <a:cs typeface="Times New Roman" panose="02020603050405020304" charset="0"/>
              </a:rPr>
              <a:t>Decoder reconstructs the original information.</a:t>
            </a:r>
            <a:endParaRPr lang="en-US" altLang="en-US">
              <a:latin typeface="Times New Roman" panose="02020603050405020304" charset="0"/>
              <a:ea typeface="Times New Roman" panose="02020603050405020304" charset="0"/>
              <a:cs typeface="Times New Roman" panose="02020603050405020304" charset="0"/>
            </a:endParaRPr>
          </a:p>
        </p:txBody>
      </p:sp>
      <p:sp>
        <p:nvSpPr>
          <p:cNvPr id="10" name="TextBox 9"/>
          <p:cNvSpPr txBox="1"/>
          <p:nvPr/>
        </p:nvSpPr>
        <p:spPr>
          <a:xfrm>
            <a:off x="11635105" y="5939790"/>
            <a:ext cx="2971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5</a:t>
            </a:r>
          </a:p>
        </p:txBody>
      </p:sp>
      <p:pic>
        <p:nvPicPr>
          <p:cNvPr id="6" name="图片 5" descr="upload_post_object_v2_3285421415"/>
          <p:cNvPicPr>
            <a:picLocks noChangeAspect="1"/>
          </p:cNvPicPr>
          <p:nvPr/>
        </p:nvPicPr>
        <p:blipFill>
          <a:blip r:embed="rId3"/>
          <a:stretch>
            <a:fillRect/>
          </a:stretch>
        </p:blipFill>
        <p:spPr>
          <a:xfrm>
            <a:off x="1721326" y="3960973"/>
            <a:ext cx="7456391" cy="2407550"/>
          </a:xfrm>
          <a:prstGeom prst="rect">
            <a:avLst/>
          </a:prstGeom>
        </p:spPr>
      </p:pic>
      <p:sp>
        <p:nvSpPr>
          <p:cNvPr id="4" name="文本框 3"/>
          <p:cNvSpPr txBox="1"/>
          <p:nvPr userDrawn="1"/>
        </p:nvSpPr>
        <p:spPr>
          <a:xfrm>
            <a:off x="358203" y="6433185"/>
            <a:ext cx="11176796" cy="247650"/>
          </a:xfrm>
          <a:prstGeom prst="rect">
            <a:avLst/>
          </a:prstGeom>
        </p:spPr>
        <p:txBody>
          <a:bodyPr wrap="square" rtlCol="0">
            <a:noAutofit/>
          </a:bodyPr>
          <a:lstStyle/>
          <a:p>
            <a:pPr algn="l"/>
            <a:r>
              <a:rPr lang="en-US" altLang="zh-CN" sz="1000">
                <a:solidFill>
                  <a:srgbClr val="FFFFFF"/>
                </a:solidFill>
              </a:rPr>
              <a:t>W. Yang et al., "Semantic Communications for Future Internet: Fundamentals, Applications, and Challenges," in IEEE Communications Surveys &amp; Tutorials, vol. 25, no. 1, pp. 213-250, Firstquarter 2023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l"/>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Introduction</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000000"/>
                </a:solidFill>
                <a:latin typeface="Times New Roman" panose="02020603050405020304" charset="0"/>
                <a:ea typeface="Times New Roman" panose="02020603050405020304" charset="0"/>
                <a:cs typeface="Times New Roman" panose="02020603050405020304" charset="0"/>
              </a:rPr>
              <a:t>Technical Approaches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Security Challenges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Future Directions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Conclusion</a:t>
            </a:r>
          </a:p>
        </p:txBody>
      </p:sp>
      <p:sp>
        <p:nvSpPr>
          <p:cNvPr id="3" name="文本占位符 2"/>
          <p:cNvSpPr>
            <a:spLocks noGrp="1"/>
          </p:cNvSpPr>
          <p:nvPr>
            <p:ph type="body" idx="1"/>
          </p:nvPr>
        </p:nvSpPr>
        <p:spPr/>
        <p:txBody>
          <a:bodyPr/>
          <a:lstStyle/>
          <a:p>
            <a:endParaRPr lang="zh-CN" altLang="en-US">
              <a:latin typeface="Times New Roman" panose="02020603050405020304" charset="0"/>
              <a:ea typeface="Times New Roman" panose="02020603050405020304" charset="0"/>
              <a:cs typeface="Times New Roman" panose="02020603050405020304" charset="0"/>
            </a:endParaRPr>
          </a:p>
        </p:txBody>
      </p:sp>
      <p:sp>
        <p:nvSpPr>
          <p:cNvPr id="6" name="TextBox 5"/>
          <p:cNvSpPr txBox="1"/>
          <p:nvPr/>
        </p:nvSpPr>
        <p:spPr>
          <a:xfrm>
            <a:off x="11635105" y="5939790"/>
            <a:ext cx="297180" cy="368300"/>
          </a:xfrm>
          <a:prstGeom prst="rect">
            <a:avLst/>
          </a:prstGeom>
          <a:noFill/>
        </p:spPr>
        <p:txBody>
          <a:bodyPr wrap="none">
            <a:spAutoFit/>
          </a:bodyPr>
          <a:lstStyle/>
          <a:p>
            <a:r>
              <a:rPr lang="en-US" altLang="zh-CN">
                <a:latin typeface="Times New Roman" panose="02020603050405020304" charset="0"/>
                <a:ea typeface="Times New Roman" panose="02020603050405020304" charset="0"/>
                <a:cs typeface="Times New Roman" panose="02020603050405020304" charset="0"/>
              </a:rPr>
              <a:t>6</a:t>
            </a:r>
            <a:endParaRPr>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Times New Roman" panose="02020603050405020304" charset="0"/>
                <a:ea typeface="Times New Roman" panose="02020603050405020304" charset="0"/>
                <a:cs typeface="Times New Roman" panose="02020603050405020304" charset="0"/>
              </a:rPr>
              <a:t>Technical Approaches</a:t>
            </a:r>
          </a:p>
        </p:txBody>
      </p:sp>
      <p:sp>
        <p:nvSpPr>
          <p:cNvPr id="3" name="内容占位符 2"/>
          <p:cNvSpPr>
            <a:spLocks noGrp="1"/>
          </p:cNvSpPr>
          <p:nvPr>
            <p:ph idx="1"/>
          </p:nvPr>
        </p:nvSpPr>
        <p:spPr/>
        <p:txBody>
          <a:bodyPr/>
          <a:lstStyle/>
          <a:p>
            <a:r>
              <a:rPr lang="en-US" altLang="zh-CN">
                <a:latin typeface="Times New Roman" panose="02020603050405020304" charset="0"/>
                <a:ea typeface="Times New Roman" panose="02020603050405020304" charset="0"/>
                <a:cs typeface="Times New Roman" panose="02020603050405020304" charset="0"/>
              </a:rPr>
              <a:t>Classical Semantic Information Theory</a:t>
            </a:r>
          </a:p>
          <a:p>
            <a:r>
              <a:rPr lang="en-US" altLang="zh-CN">
                <a:latin typeface="Times New Roman" panose="02020603050405020304" charset="0"/>
                <a:ea typeface="Times New Roman" panose="02020603050405020304" charset="0"/>
                <a:cs typeface="Times New Roman" panose="02020603050405020304" charset="0"/>
              </a:rPr>
              <a:t>Knowledge Graph-Based Communication</a:t>
            </a:r>
          </a:p>
          <a:p>
            <a:r>
              <a:rPr lang="en-US" altLang="zh-CN">
                <a:latin typeface="Times New Roman" panose="02020603050405020304" charset="0"/>
                <a:ea typeface="Times New Roman" panose="02020603050405020304" charset="0"/>
                <a:cs typeface="Times New Roman" panose="02020603050405020304" charset="0"/>
              </a:rPr>
              <a:t>Deep Learning-Based Approaches</a:t>
            </a:r>
          </a:p>
          <a:p>
            <a:r>
              <a:rPr lang="en-US" altLang="zh-CN">
                <a:latin typeface="Times New Roman" panose="02020603050405020304" charset="0"/>
                <a:ea typeface="Times New Roman" panose="02020603050405020304" charset="0"/>
                <a:cs typeface="Times New Roman" panose="02020603050405020304" charset="0"/>
              </a:rPr>
              <a:t>Goal-Oriented Communication</a:t>
            </a:r>
          </a:p>
        </p:txBody>
      </p:sp>
      <p:sp>
        <p:nvSpPr>
          <p:cNvPr id="44" name="TextBox 43"/>
          <p:cNvSpPr txBox="1"/>
          <p:nvPr/>
        </p:nvSpPr>
        <p:spPr>
          <a:xfrm>
            <a:off x="11635105" y="5939790"/>
            <a:ext cx="297180" cy="368300"/>
          </a:xfrm>
          <a:prstGeom prst="rect">
            <a:avLst/>
          </a:prstGeom>
          <a:noFill/>
        </p:spPr>
        <p:txBody>
          <a:bodyPr wrap="none">
            <a:spAutoFit/>
          </a:bodyPr>
          <a:lstStyle/>
          <a:p>
            <a:r>
              <a:rPr lang="en-US" altLang="zh-CN">
                <a:latin typeface="Times New Roman" panose="02020603050405020304" charset="0"/>
                <a:ea typeface="Times New Roman" panose="02020603050405020304" charset="0"/>
                <a:cs typeface="Times New Roman" panose="02020603050405020304" charset="0"/>
              </a:rPr>
              <a:t>7</a:t>
            </a:r>
            <a:endParaRPr>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Times New Roman" panose="02020603050405020304" charset="0"/>
                <a:ea typeface="Times New Roman" panose="02020603050405020304" charset="0"/>
                <a:cs typeface="Times New Roman" panose="02020603050405020304" charset="0"/>
              </a:rPr>
              <a:t>Classical Semantic Information Theory</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Autofit/>
              </a:bodyPr>
              <a:lstStyle/>
              <a:p>
                <a:r>
                  <a:rPr lang="en-US" altLang="zh-CN">
                    <a:solidFill>
                      <a:schemeClr val="tx1"/>
                    </a:solidFill>
                    <a:latin typeface="Times New Roman" panose="02020603050405020304" charset="0"/>
                    <a:ea typeface="Times New Roman" panose="02020603050405020304" charset="0"/>
                    <a:cs typeface="Times New Roman" panose="02020603050405020304" charset="0"/>
                  </a:rPr>
                  <a:t>To extend Shannon's theory to include the meaning of information, not just its symbols.</a:t>
                </a:r>
                <a:r>
                  <a:rPr lang="en-US" altLang="zh-CN">
                    <a:latin typeface="Times New Roman" panose="02020603050405020304" charset="0"/>
                    <a:ea typeface="Times New Roman" panose="02020603050405020304" charset="0"/>
                    <a:cs typeface="Times New Roman" panose="02020603050405020304" charset="0"/>
                  </a:rPr>
                  <a:t> </a:t>
                </a:r>
                <a:r>
                  <a:rPr lang="en-US" altLang="zh-CN">
                    <a:solidFill>
                      <a:schemeClr val="tx1"/>
                    </a:solidFill>
                    <a:latin typeface="Times New Roman" panose="02020603050405020304" charset="0"/>
                    <a:ea typeface="Times New Roman" panose="02020603050405020304" charset="0"/>
                    <a:cs typeface="Times New Roman" panose="02020603050405020304" charset="0"/>
                  </a:rPr>
                  <a:t>semantic entropy: </a:t>
                </a:r>
              </a:p>
              <a:p>
                <a:pPr lvl="1"/>
                <a14:m>
                  <m:oMath xmlns:m="http://schemas.openxmlformats.org/officeDocument/2006/math">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𝐻</m:t>
                        </m:r>
                      </m:e>
                      <m:sub>
                        <m:r>
                          <a:rPr lang="en-US" altLang="zh-CN" i="1">
                            <a:latin typeface="Cambria Math" panose="02040503050406030204" charset="0"/>
                            <a:cs typeface="Cambria Math" panose="02040503050406030204" charset="0"/>
                          </a:rPr>
                          <m:t>𝑠</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m:t>
                    </m:r>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pitchFamily="18"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r>
                          <a:rPr lang="en-US" altLang="zh-CN" i="1">
                            <a:latin typeface="Cambria Math" panose="02040503050406030204" charset="0"/>
                            <a:cs typeface="Cambria Math" panose="02040503050406030204" charset="0"/>
                          </a:rPr>
                          <m:t>𝑃</m:t>
                        </m:r>
                      </m:e>
                    </m:nary>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func>
                      <m:funcPr>
                        <m:ctrlPr>
                          <a:rPr lang="en-US" altLang="zh-CN" i="1">
                            <a:latin typeface="Cambria Math" panose="02040503050406030204" pitchFamily="18" charset="0"/>
                            <a:cs typeface="Cambria Math" panose="02040503050406030204" charset="0"/>
                          </a:rPr>
                        </m:ctrlPr>
                      </m:funcPr>
                      <m:fName>
                        <m:r>
                          <a:rPr lang="en-US" altLang="zh-CN" i="1">
                            <a:latin typeface="Cambria Math" panose="02040503050406030204" charset="0"/>
                            <a:cs typeface="Cambria Math" panose="02040503050406030204" charset="0"/>
                          </a:rPr>
                          <m:t>𝑙𝑜𝑔</m:t>
                        </m:r>
                      </m:fName>
                      <m:e>
                        <m:r>
                          <a:rPr lang="en-US" altLang="zh-CN" i="1">
                            <a:latin typeface="Cambria Math" panose="02040503050406030204" charset="0"/>
                            <a:cs typeface="Cambria Math" panose="02040503050406030204" charset="0"/>
                          </a:rPr>
                          <m:t>𝑃</m:t>
                        </m:r>
                      </m:e>
                    </m:func>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𝑀</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𝑛</m:t>
                        </m:r>
                      </m:sub>
                    </m:sSub>
                    <m:r>
                      <a:rPr lang="en-US" altLang="zh-CN"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pPr lvl="1"/>
                <a14:m>
                  <m:oMath xmlns:m="http://schemas.openxmlformats.org/officeDocument/2006/math">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𝑖</m:t>
                        </m:r>
                      </m:sub>
                    </m:sSub>
                  </m:oMath>
                </a14:m>
                <a:r>
                  <a:rPr lang="en-US" altLang="zh-CN">
                    <a:latin typeface="Cambria Math" panose="02040503050406030204" charset="0"/>
                    <a:cs typeface="Cambria Math" panose="02040503050406030204" charset="0"/>
                  </a:rPr>
                  <a:t>: </a:t>
                </a:r>
                <a:r>
                  <a:rPr lang="en-US" altLang="zh-CN" i="1">
                    <a:latin typeface="Cambria Math" panose="02040503050406030204" charset="0"/>
                    <a:cs typeface="Cambria Math" panose="02040503050406030204" charset="0"/>
                  </a:rPr>
                  <a:t> </a:t>
                </a:r>
                <a:r>
                  <a:rPr lang="en-US" altLang="zh-CN">
                    <a:latin typeface="Cambria Math" panose="02040503050406030204" charset="0"/>
                    <a:cs typeface="Cambria Math" panose="02040503050406030204" charset="0"/>
                  </a:rPr>
                  <a:t>a semantic unit,</a:t>
                </a:r>
                <a:r>
                  <a:rPr lang="en-US" altLang="zh-CN" i="1">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probability of meaning </a:t>
                </a:r>
                <a14:m>
                  <m:oMath xmlns:m="http://schemas.openxmlformats.org/officeDocument/2006/math">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𝑖</m:t>
                        </m:r>
                      </m:sub>
                    </m:sSub>
                  </m:oMath>
                </a14:m>
                <a:endParaRPr lang="en-US" altLang="zh-CN" i="1">
                  <a:latin typeface="Cambria Math" panose="02040503050406030204" charset="0"/>
                  <a:cs typeface="Cambria Math" panose="02040503050406030204" charset="0"/>
                </a:endParaRPr>
              </a:p>
              <a:p>
                <a:r>
                  <a:rPr lang="en-US" altLang="zh-CN">
                    <a:latin typeface="Times New Roman" panose="02020603050405020304" charset="0"/>
                    <a:ea typeface="Times New Roman" panose="02020603050405020304" charset="0"/>
                    <a:cs typeface="Times New Roman" panose="02020603050405020304" charset="0"/>
                  </a:rPr>
                  <a:t>Semantic Mutual Information</a:t>
                </a:r>
              </a:p>
              <a:p>
                <a:pPr lvl="1"/>
                <a14:m>
                  <m:oMath xmlns:m="http://schemas.openxmlformats.org/officeDocument/2006/math">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𝐼</m:t>
                        </m:r>
                      </m:e>
                      <m:sub>
                        <m:r>
                          <a:rPr lang="en-US" altLang="zh-CN" i="1">
                            <a:latin typeface="Cambria Math" panose="02040503050406030204" charset="0"/>
                            <a:cs typeface="Cambria Math" panose="02040503050406030204" charset="0"/>
                          </a:rPr>
                          <m:t>𝑠</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𝑌</m:t>
                    </m:r>
                    <m:r>
                      <a:rPr lang="en-US" altLang="zh-CN" i="1">
                        <a:latin typeface="Cambria Math" panose="02040503050406030204" charset="0"/>
                        <a:cs typeface="Cambria Math" panose="02040503050406030204" charset="0"/>
                      </a:rPr>
                      <m:t>)=</m:t>
                    </m:r>
                    <m:nary>
                      <m:naryPr>
                        <m:chr m:val="∑"/>
                        <m:limLoc m:val="undOvr"/>
                        <m:supHide m:val="on"/>
                        <m:ctrlPr>
                          <a:rPr lang="en-US" altLang="zh-CN" i="1">
                            <a:latin typeface="Cambria Math" panose="02040503050406030204" pitchFamily="18" charset="0"/>
                            <a:cs typeface="Cambria Math" panose="02040503050406030204" charset="0"/>
                          </a:rPr>
                        </m:ctrlPr>
                      </m:naryPr>
                      <m:sub>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𝑋</m:t>
                        </m:r>
                      </m:sub>
                      <m:sup/>
                      <m:e>
                        <m:nary>
                          <m:naryPr>
                            <m:chr m:val="∑"/>
                            <m:limLoc m:val="undOvr"/>
                            <m:supHide m:val="on"/>
                            <m:ctrlPr>
                              <a:rPr lang="en-US" altLang="zh-CN" i="1">
                                <a:latin typeface="Cambria Math" panose="02040503050406030204" pitchFamily="18" charset="0"/>
                                <a:cs typeface="Cambria Math" panose="02040503050406030204" charset="0"/>
                              </a:rPr>
                            </m:ctrlPr>
                          </m:naryPr>
                          <m:sub>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𝑌</m:t>
                            </m:r>
                          </m:sub>
                          <m:sup/>
                          <m:e>
                            <m:r>
                              <a:rPr lang="en-US" altLang="zh-CN" i="1">
                                <a:latin typeface="Cambria Math" panose="02040503050406030204" charset="0"/>
                                <a:cs typeface="Cambria Math" panose="02040503050406030204" charset="0"/>
                              </a:rPr>
                              <m:t>𝑃</m:t>
                            </m:r>
                          </m:e>
                        </m:nary>
                      </m:e>
                    </m:nary>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func>
                      <m:funcPr>
                        <m:ctrlPr>
                          <a:rPr lang="en-US" altLang="zh-CN" i="1">
                            <a:latin typeface="Cambria Math" panose="02040503050406030204" pitchFamily="18" charset="0"/>
                            <a:cs typeface="Cambria Math" panose="02040503050406030204" charset="0"/>
                          </a:rPr>
                        </m:ctrlPr>
                      </m:funcPr>
                      <m:fName>
                        <m:r>
                          <a:rPr lang="en-US" altLang="zh-CN" i="1">
                            <a:latin typeface="Cambria Math" panose="02040503050406030204" charset="0"/>
                            <a:cs typeface="Cambria Math" panose="02040503050406030204" charset="0"/>
                          </a:rPr>
                          <m:t>𝑙𝑜𝑔</m:t>
                        </m:r>
                      </m:fName>
                      <m:e>
                        <m:d>
                          <m:dPr>
                            <m:ctrlPr>
                              <a:rPr lang="en-US" altLang="zh-CN" i="1">
                                <a:latin typeface="Cambria Math" panose="02040503050406030204" pitchFamily="18" charset="0"/>
                                <a:cs typeface="Cambria Math" panose="02040503050406030204" charset="0"/>
                              </a:rPr>
                            </m:ctrlPr>
                          </m:dPr>
                          <m:e>
                            <m:f>
                              <m:fPr>
                                <m:ctrlPr>
                                  <a:rPr lang="en-US" altLang="zh-CN" i="1">
                                    <a:latin typeface="Cambria Math" panose="02040503050406030204" pitchFamily="18" charset="0"/>
                                    <a:cs typeface="Cambria Math" panose="02040503050406030204" charset="0"/>
                                  </a:rPr>
                                </m:ctrlPr>
                              </m:fPr>
                              <m:num>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𝑥</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𝑦</m:t>
                                    </m:r>
                                  </m:sub>
                                </m:sSub>
                                <m:r>
                                  <a:rPr lang="en-US" altLang="zh-CN" i="1">
                                    <a:latin typeface="Cambria Math" panose="02040503050406030204" charset="0"/>
                                    <a:cs typeface="Cambria Math" panose="02040503050406030204" charset="0"/>
                                  </a:rPr>
                                  <m:t>)</m:t>
                                </m:r>
                              </m:num>
                              <m:den>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𝑥</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𝑚</m:t>
                                    </m:r>
                                  </m:e>
                                  <m:sub>
                                    <m:r>
                                      <a:rPr lang="en-US" altLang="zh-CN" i="1">
                                        <a:latin typeface="Cambria Math" panose="02040503050406030204" charset="0"/>
                                        <a:cs typeface="Cambria Math" panose="02040503050406030204" charset="0"/>
                                      </a:rPr>
                                      <m:t>𝑦</m:t>
                                    </m:r>
                                  </m:sub>
                                </m:sSub>
                                <m:r>
                                  <a:rPr lang="en-US" altLang="zh-CN" i="1">
                                    <a:latin typeface="Cambria Math" panose="02040503050406030204" charset="0"/>
                                    <a:cs typeface="Cambria Math" panose="02040503050406030204" charset="0"/>
                                  </a:rPr>
                                  <m:t>)</m:t>
                                </m:r>
                              </m:den>
                            </m:f>
                          </m:e>
                        </m:d>
                      </m:e>
                    </m:func>
                  </m:oMath>
                </a14:m>
                <a:r>
                  <a:rPr lang="en-US" altLang="zh-CN">
                    <a:latin typeface="Cambria Math" panose="02040503050406030204" charset="0"/>
                    <a:cs typeface="Cambria Math" panose="02040503050406030204" charset="0"/>
                  </a:rPr>
                  <a:t>,  If the </a:t>
                </a:r>
                <a:r>
                  <a:rPr lang="en-US" altLang="zh-CN">
                    <a:solidFill>
                      <a:schemeClr val="tx1"/>
                    </a:solidFill>
                    <a:latin typeface="Cambria Math" panose="02040503050406030204" charset="0"/>
                    <a:ea typeface="微软雅黑" panose="020B0503020204020204" charset="-122"/>
                    <a:cs typeface="Cambria Math" panose="02040503050406030204" charset="0"/>
                  </a:rPr>
                  <a:t>transmitter</a:t>
                </a:r>
                <a:r>
                  <a:rPr lang="en-US" altLang="zh-CN">
                    <a:latin typeface="Cambria Math" panose="02040503050406030204" charset="0"/>
                    <a:cs typeface="Cambria Math" panose="02040503050406030204" charset="0"/>
                  </a:rPr>
                  <a:t> and the receiver have more consistent "semantics" for the same message, the higher the mutual information.</a:t>
                </a:r>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3"/>
                <a:stretch>
                  <a:fillRect l="-6" t="-11" r="6" b="4"/>
                </a:stretch>
              </a:blipFill>
            </p:spPr>
            <p:txBody>
              <a:bodyPr/>
              <a:lstStyle/>
              <a:p>
                <a:r>
                  <a:rPr lang="zh-CN" altLang="en-US">
                    <a:noFill/>
                  </a:rPr>
                  <a:t> </a:t>
                </a:r>
              </a:p>
            </p:txBody>
          </p:sp>
        </mc:Fallback>
      </mc:AlternateContent>
      <p:sp>
        <p:nvSpPr>
          <p:cNvPr id="38" name="TextBox 37"/>
          <p:cNvSpPr txBox="1"/>
          <p:nvPr/>
        </p:nvSpPr>
        <p:spPr>
          <a:xfrm>
            <a:off x="11635105" y="5939790"/>
            <a:ext cx="2971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8</a:t>
            </a:r>
          </a:p>
        </p:txBody>
      </p:sp>
      <p:sp>
        <p:nvSpPr>
          <p:cNvPr id="4" name="文本框 3"/>
          <p:cNvSpPr txBox="1"/>
          <p:nvPr/>
        </p:nvSpPr>
        <p:spPr>
          <a:xfrm>
            <a:off x="38493" y="6415437"/>
            <a:ext cx="11542973" cy="922020"/>
          </a:xfrm>
          <a:prstGeom prst="rect">
            <a:avLst/>
          </a:prstGeom>
          <a:noFill/>
        </p:spPr>
        <p:txBody>
          <a:bodyPr wrap="square" rtlCol="0" anchor="t">
            <a:noAutofit/>
          </a:bodyPr>
          <a:lstStyle/>
          <a:p>
            <a:r>
              <a:rPr lang="en-US" altLang="zh-CN" sz="1000">
                <a:solidFill>
                  <a:srgbClr val="FFFFFF"/>
                </a:solidFill>
              </a:rPr>
              <a:t>Z. Lu et al., "Semantics-Empowered Communications: A Tutorial-Cum-Survey," in IEEE Communications Surveys &amp; Tutorials, vol. 26, no. 1, pp. 41-79, Firstquarter 2024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Times New Roman" panose="02020603050405020304" charset="0"/>
                <a:ea typeface="Times New Roman" panose="02020603050405020304" charset="0"/>
                <a:cs typeface="Times New Roman" panose="02020603050405020304" charset="0"/>
              </a:rPr>
              <a:t>Knowledge Graph-Based Semantic Communication</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184" y="1983597"/>
                <a:ext cx="10515574" cy="4351338"/>
              </a:xfrm>
            </p:spPr>
            <p:txBody>
              <a:bodyPr>
                <a:noAutofit/>
              </a:bodyPr>
              <a:lstStyle/>
              <a:p>
                <a:r>
                  <a:rPr lang="en-US" altLang="zh-CN">
                    <a:solidFill>
                      <a:schemeClr val="tx1"/>
                    </a:solidFill>
                    <a:latin typeface="Times New Roman" panose="02020603050405020304" charset="0"/>
                    <a:ea typeface="Times New Roman" panose="02020603050405020304" charset="0"/>
                    <a:cs typeface="Times New Roman" panose="02020603050405020304" charset="0"/>
                  </a:rPr>
                  <a:t>Knowledge Graph (KG): structured graph of entities and relations.</a:t>
                </a:r>
              </a:p>
              <a:p>
                <a:r>
                  <a:rPr lang="en-US" altLang="zh-CN">
                    <a:latin typeface="Times New Roman" panose="02020603050405020304" charset="0"/>
                    <a:ea typeface="Times New Roman" panose="02020603050405020304" charset="0"/>
                    <a:cs typeface="Times New Roman" panose="02020603050405020304" charset="0"/>
                  </a:rPr>
                  <a:t>A graph-based semantic structure: </a:t>
                </a:r>
                <a14:m>
                  <m:oMath xmlns:m="http://schemas.openxmlformats.org/officeDocument/2006/math">
                    <m:r>
                      <a:rPr lang="en-US" altLang="zh-CN" i="1">
                        <a:latin typeface="Cambria Math" panose="02040503050406030204" charset="0"/>
                        <a:cs typeface="Cambria Math" panose="02040503050406030204" charset="0"/>
                      </a:rPr>
                      <m:t>𝐺</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V: nodes = entities/concepts, E: edges = semantic relations</a:t>
                </a:r>
              </a:p>
              <a:p>
                <a:pPr lvl="1"/>
                <a:r>
                  <a:rPr lang="en-US" altLang="zh-CN" sz="2000">
                    <a:latin typeface="Cambria Math" panose="02040503050406030204" charset="0"/>
                    <a:cs typeface="Cambria Math" panose="02040503050406030204" charset="0"/>
                  </a:rPr>
                  <a:t>Encoder extracts semantic triplets, e.g.:(dog, is-a, animal)</a:t>
                </a:r>
              </a:p>
              <a:p>
                <a:pPr lvl="1"/>
                <a:r>
                  <a:rPr lang="en-US" altLang="zh-CN" sz="2000">
                    <a:latin typeface="Cambria Math" panose="02040503050406030204" charset="0"/>
                    <a:cs typeface="Cambria Math" panose="02040503050406030204" charset="0"/>
                  </a:rPr>
                  <a:t>Receiver reconstructs meaning using shared Knowledge Base.</a:t>
                </a: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838184" y="1983597"/>
                <a:ext cx="10515574" cy="4351338"/>
              </a:xfrm>
              <a:blipFill rotWithShape="1">
                <a:blip r:embed="rId2"/>
                <a:stretch>
                  <a:fillRect l="-6" t="-11" r="6" b="4"/>
                </a:stretch>
              </a:blipFill>
            </p:spPr>
            <p:txBody>
              <a:bodyPr/>
              <a:lstStyle/>
              <a:p>
                <a:r>
                  <a:rPr lang="zh-CN" altLang="en-US">
                    <a:noFill/>
                  </a:rPr>
                  <a:t> </a:t>
                </a:r>
              </a:p>
            </p:txBody>
          </p:sp>
        </mc:Fallback>
      </mc:AlternateContent>
      <p:sp>
        <p:nvSpPr>
          <p:cNvPr id="15" name="TextBox 14"/>
          <p:cNvSpPr txBox="1"/>
          <p:nvPr/>
        </p:nvSpPr>
        <p:spPr>
          <a:xfrm>
            <a:off x="11635105" y="5939790"/>
            <a:ext cx="297180" cy="368300"/>
          </a:xfrm>
          <a:prstGeom prst="rect">
            <a:avLst/>
          </a:prstGeom>
          <a:noFill/>
        </p:spPr>
        <p:txBody>
          <a:bodyPr wrap="none">
            <a:spAutoFit/>
          </a:bodyPr>
          <a:lstStyle/>
          <a:p>
            <a:r>
              <a:rPr>
                <a:solidFill>
                  <a:schemeClr val="tx1"/>
                </a:solidFill>
                <a:latin typeface="Times New Roman" panose="02020603050405020304" charset="0"/>
                <a:ea typeface="Times New Roman" panose="02020603050405020304" charset="0"/>
                <a:cs typeface="Times New Roman" panose="02020603050405020304" charset="0"/>
              </a:rPr>
              <a:t>9</a:t>
            </a:r>
            <a:endParaRPr>
              <a:latin typeface="Times New Roman" panose="02020603050405020304" charset="0"/>
              <a:ea typeface="Times New Roman" panose="02020603050405020304" charset="0"/>
              <a:cs typeface="Times New Roman" panose="02020603050405020304" charset="0"/>
            </a:endParaRPr>
          </a:p>
        </p:txBody>
      </p:sp>
      <p:pic>
        <p:nvPicPr>
          <p:cNvPr id="7" name="图片 6" descr="upload_post_object_v2_3462637525"/>
          <p:cNvPicPr>
            <a:picLocks noChangeAspect="1"/>
          </p:cNvPicPr>
          <p:nvPr/>
        </p:nvPicPr>
        <p:blipFill>
          <a:blip r:embed="rId3"/>
          <a:stretch>
            <a:fillRect/>
          </a:stretch>
        </p:blipFill>
        <p:spPr>
          <a:xfrm>
            <a:off x="8481122" y="3756476"/>
            <a:ext cx="2613925" cy="2613925"/>
          </a:xfrm>
          <a:prstGeom prst="rect">
            <a:avLst/>
          </a:prstGeom>
        </p:spPr>
      </p:pic>
      <p:pic>
        <p:nvPicPr>
          <p:cNvPr id="5" name="图片 4" descr="upload_post_object_v2_3125710151"/>
          <p:cNvPicPr>
            <a:picLocks noChangeAspect="1"/>
          </p:cNvPicPr>
          <p:nvPr/>
        </p:nvPicPr>
        <p:blipFill>
          <a:blip r:embed="rId4"/>
          <a:stretch>
            <a:fillRect/>
          </a:stretch>
        </p:blipFill>
        <p:spPr>
          <a:xfrm>
            <a:off x="1306542" y="3986141"/>
            <a:ext cx="5335406" cy="2384260"/>
          </a:xfrm>
          <a:prstGeom prst="rect">
            <a:avLst/>
          </a:prstGeom>
        </p:spPr>
      </p:pic>
      <p:sp>
        <p:nvSpPr>
          <p:cNvPr id="6" name="文本框 5"/>
          <p:cNvSpPr txBox="1"/>
          <p:nvPr/>
        </p:nvSpPr>
        <p:spPr>
          <a:xfrm>
            <a:off x="38493" y="6415437"/>
            <a:ext cx="11542973" cy="922020"/>
          </a:xfrm>
          <a:prstGeom prst="rect">
            <a:avLst/>
          </a:prstGeom>
          <a:noFill/>
        </p:spPr>
        <p:txBody>
          <a:bodyPr wrap="square" rtlCol="0" anchor="t">
            <a:noAutofit/>
          </a:bodyPr>
          <a:lstStyle/>
          <a:p>
            <a:r>
              <a:rPr lang="en-US" altLang="zh-CN" sz="1000">
                <a:solidFill>
                  <a:srgbClr val="FFFFFF"/>
                </a:solidFill>
              </a:rPr>
              <a:t>Z. Lu et al., "Semantics-Empowered Communications: A Tutorial-Cum-Survey," in IEEE Communications Surveys &amp; Tutorials, vol. 26, no. 1, pp. 41-79, Firstquarter 2024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Times New Roman" panose="02020603050405020304" charset="0"/>
                <a:ea typeface="Times New Roman" panose="02020603050405020304" charset="0"/>
                <a:cs typeface="Times New Roman" panose="02020603050405020304" charset="0"/>
              </a:rPr>
              <a:t>Deep Learning-Based Semantic Communication</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184" y="1983597"/>
                <a:ext cx="10515574" cy="4351338"/>
              </a:xfrm>
            </p:spPr>
            <p:txBody>
              <a:bodyPr>
                <a:noAutofit/>
              </a:bodyPr>
              <a:lstStyle/>
              <a:p>
                <a:r>
                  <a:rPr lang="en-US" altLang="zh-CN">
                    <a:latin typeface="Times New Roman" panose="02020603050405020304" charset="0"/>
                    <a:ea typeface="Times New Roman" panose="02020603050405020304" charset="0"/>
                    <a:cs typeface="Times New Roman" panose="02020603050405020304" charset="0"/>
                  </a:rPr>
                  <a:t>Core Idea: Use neural networks to extract, compress, and reconstruct semantic representations from raw data.</a:t>
                </a:r>
              </a:p>
              <a:p>
                <a:pPr>
                  <a:buFont typeface="Arial" panose="020B0604020202020204" pitchFamily="34" charset="0"/>
                  <a:buChar char="•"/>
                </a:pPr>
                <a:r>
                  <a:rPr lang="en-US" altLang="zh-CN">
                    <a:latin typeface="Times New Roman" panose="02020603050405020304" charset="0"/>
                    <a:ea typeface="Times New Roman" panose="02020603050405020304" charset="0"/>
                    <a:cs typeface="Times New Roman" panose="02020603050405020304" charset="0"/>
                  </a:rPr>
                  <a:t>Autoencoder</a:t>
                </a:r>
                <a:r>
                  <a:rPr lang="zh-CN" altLang="en-US">
                    <a:latin typeface="Times New Roman" panose="02020603050405020304" charset="0"/>
                    <a:ea typeface="Times New Roman" panose="02020603050405020304" charset="0"/>
                    <a:cs typeface="Times New Roman" panose="02020603050405020304" charset="0"/>
                  </a:rPr>
                  <a:t>-</a:t>
                </a:r>
                <a:r>
                  <a:rPr lang="en-US" altLang="zh-CN">
                    <a:latin typeface="Times New Roman" panose="02020603050405020304" charset="0"/>
                    <a:ea typeface="Times New Roman" panose="02020603050405020304" charset="0"/>
                    <a:cs typeface="Times New Roman" panose="02020603050405020304" charset="0"/>
                  </a:rPr>
                  <a:t>style structure:</a:t>
                </a:r>
              </a:p>
              <a:p>
                <a:pPr lvl="1"/>
                <a14:m>
                  <m:oMath xmlns:m="http://schemas.openxmlformats.org/officeDocument/2006/math">
                    <m:r>
                      <a:rPr lang="en-US" altLang="zh-CN" i="1">
                        <a:latin typeface="Cambria Math" panose="02040503050406030204" charset="0"/>
                        <a:cs typeface="Cambria Math" panose="02040503050406030204" charset="0"/>
                      </a:rPr>
                      <m:t>𝑆𝑒𝑚𝐶𝑜𝑚</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𝑓</m:t>
                        </m:r>
                      </m:e>
                      <m:sub>
                        <m:r>
                          <a:rPr lang="en-US" altLang="zh-CN" i="1">
                            <a:latin typeface="Cambria Math" panose="02040503050406030204" charset="0"/>
                            <a:cs typeface="Cambria Math" panose="02040503050406030204" charset="0"/>
                          </a:rPr>
                          <m:t>𝜃</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𝐶h𝑎𝑛𝑛𝑒𝑙</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𝜙</m:t>
                        </m:r>
                      </m:sub>
                    </m:sSub>
                    <m:r>
                      <a:rPr lang="en-US" altLang="zh-CN" i="1">
                        <a:latin typeface="Cambria Math" panose="02040503050406030204" charset="0"/>
                        <a:cs typeface="Cambria Math" panose="02040503050406030204" charset="0"/>
                      </a:rPr>
                      <m:t>(⋅)→</m:t>
                    </m:r>
                    <m:acc>
                      <m:accPr>
                        <m:chr m:val="̂"/>
                        <m:ctrlPr>
                          <a:rPr lang="en-US" altLang="zh-CN" i="1">
                            <a:latin typeface="Cambria Math" panose="02040503050406030204" pitchFamily="18" charset="0"/>
                            <a:cs typeface="Cambria Math" panose="02040503050406030204" charset="0"/>
                          </a:rPr>
                        </m:ctrlPr>
                      </m:accPr>
                      <m:e>
                        <m:r>
                          <a:rPr lang="en-US" altLang="zh-CN" i="1">
                            <a:latin typeface="Cambria Math" panose="02040503050406030204" charset="0"/>
                            <a:cs typeface="Cambria Math" panose="02040503050406030204" charset="0"/>
                          </a:rPr>
                          <m:t>𝑥</m:t>
                        </m:r>
                      </m:e>
                    </m:acc>
                  </m:oMath>
                </a14:m>
                <a:endParaRPr lang="en-US" altLang="zh-CN">
                  <a:latin typeface="Times New Roman" panose="02020603050405020304" charset="0"/>
                  <a:ea typeface="Times New Roman" panose="02020603050405020304" charset="0"/>
                  <a:cs typeface="Times New Roman" panose="02020603050405020304" charset="0"/>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838184" y="1983597"/>
                <a:ext cx="10515574" cy="4351338"/>
              </a:xfrm>
              <a:blipFill rotWithShape="1">
                <a:blip r:embed="rId2"/>
                <a:stretch>
                  <a:fillRect l="-6" t="-11" r="6" b="4"/>
                </a:stretch>
              </a:blipFill>
            </p:spPr>
            <p:txBody>
              <a:bodyPr/>
              <a:lstStyle/>
              <a:p>
                <a:r>
                  <a:rPr lang="zh-CN" altLang="en-US">
                    <a:noFill/>
                  </a:rPr>
                  <a:t> </a:t>
                </a:r>
              </a:p>
            </p:txBody>
          </p:sp>
        </mc:Fallback>
      </mc:AlternateContent>
      <p:sp>
        <p:nvSpPr>
          <p:cNvPr id="10" name="TextBox 9"/>
          <p:cNvSpPr txBox="1"/>
          <p:nvPr/>
        </p:nvSpPr>
        <p:spPr>
          <a:xfrm>
            <a:off x="11635105" y="5939790"/>
            <a:ext cx="4114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a:t>
            </a:r>
            <a:r>
              <a:rPr lang="en-US" altLang="zh-CN">
                <a:latin typeface="Times New Roman" panose="02020603050405020304" charset="0"/>
                <a:ea typeface="Times New Roman" panose="02020603050405020304" charset="0"/>
                <a:cs typeface="Arial" panose="020B0604020202020204" pitchFamily="34" charset="0"/>
              </a:rPr>
              <a:t>0</a:t>
            </a:r>
            <a:endParaRPr>
              <a:latin typeface="Times New Roman" panose="02020603050405020304" charset="0"/>
              <a:ea typeface="Times New Roman" panose="02020603050405020304" charset="0"/>
              <a:cs typeface="Times New Roman" panose="02020603050405020304" charset="0"/>
            </a:endParaRPr>
          </a:p>
        </p:txBody>
      </p:sp>
      <p:pic>
        <p:nvPicPr>
          <p:cNvPr id="5" name="图片 4" descr="upload_post_object_v2_519038476"/>
          <p:cNvPicPr>
            <a:picLocks noChangeAspect="1"/>
          </p:cNvPicPr>
          <p:nvPr/>
        </p:nvPicPr>
        <p:blipFill>
          <a:blip r:embed="rId3"/>
          <a:stretch>
            <a:fillRect/>
          </a:stretch>
        </p:blipFill>
        <p:spPr>
          <a:xfrm>
            <a:off x="358724" y="3647010"/>
            <a:ext cx="7817777" cy="27362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ea typeface="Times New Roman" panose="02020603050405020304" charset="0"/>
                <a:cs typeface="Times New Roman" panose="02020603050405020304" charset="0"/>
              </a:rPr>
              <a:t>Goal-Oriented Semantic Communication</a:t>
            </a:r>
          </a:p>
        </p:txBody>
      </p:sp>
      <p:sp>
        <p:nvSpPr>
          <p:cNvPr id="3" name="内容占位符 2"/>
          <p:cNvSpPr>
            <a:spLocks noGrp="1"/>
          </p:cNvSpPr>
          <p:nvPr>
            <p:ph idx="1"/>
          </p:nvPr>
        </p:nvSpPr>
        <p:spPr/>
        <p:txBody>
          <a:bodyPr>
            <a:noAutofit/>
          </a:bodyPr>
          <a:lstStyle/>
          <a:p>
            <a:r>
              <a:rPr lang="en-US" altLang="zh-CN">
                <a:solidFill>
                  <a:schemeClr val="tx1"/>
                </a:solidFill>
                <a:latin typeface="Times New Roman" panose="02020603050405020304" charset="0"/>
                <a:ea typeface="Times New Roman" panose="02020603050405020304" charset="0"/>
                <a:cs typeface="Times New Roman" panose="02020603050405020304" charset="0"/>
              </a:rPr>
              <a:t>Core Idea</a:t>
            </a:r>
          </a:p>
          <a:p>
            <a:pPr lvl="1"/>
            <a:r>
              <a:rPr lang="en-US" altLang="zh-CN">
                <a:solidFill>
                  <a:schemeClr val="tx1"/>
                </a:solidFill>
                <a:latin typeface="Times New Roman" panose="02020603050405020304" charset="0"/>
                <a:ea typeface="Times New Roman" panose="02020603050405020304" charset="0"/>
                <a:cs typeface="Times New Roman" panose="02020603050405020304" charset="0"/>
              </a:rPr>
              <a:t>Transmit only the semantic content relevant to a specific goal or task.</a:t>
            </a:r>
          </a:p>
          <a:p>
            <a:pPr lvl="1"/>
            <a:r>
              <a:rPr lang="en-US" altLang="zh-CN">
                <a:solidFill>
                  <a:schemeClr val="tx1"/>
                </a:solidFill>
                <a:latin typeface="Times New Roman" panose="02020603050405020304" charset="0"/>
                <a:ea typeface="Times New Roman" panose="02020603050405020304" charset="0"/>
                <a:cs typeface="Times New Roman" panose="02020603050405020304" charset="0"/>
              </a:rPr>
              <a:t>Receiver does not reconstruct full message — only needs to complete task.</a:t>
            </a:r>
            <a:endParaRPr lang="zh-CN" altLang="en-US">
              <a:latin typeface="Times New Roman" panose="02020603050405020304" charset="0"/>
              <a:ea typeface="Times New Roman" panose="02020603050405020304" charset="0"/>
              <a:cs typeface="Times New Roman" panose="02020603050405020304" charset="0"/>
            </a:endParaRPr>
          </a:p>
          <a:p>
            <a:r>
              <a:rPr lang="en-US" altLang="zh-CN">
                <a:latin typeface="Times New Roman" panose="02020603050405020304" charset="0"/>
                <a:ea typeface="Times New Roman" panose="02020603050405020304" charset="0"/>
                <a:cs typeface="Times New Roman" panose="02020603050405020304" charset="0"/>
              </a:rPr>
              <a:t>Challenges:</a:t>
            </a:r>
          </a:p>
          <a:p>
            <a:pPr lvl="1"/>
            <a:r>
              <a:rPr lang="en-US" altLang="zh-CN">
                <a:latin typeface="Times New Roman" panose="02020603050405020304" charset="0"/>
                <a:ea typeface="Times New Roman" panose="02020603050405020304" charset="0"/>
                <a:cs typeface="Times New Roman" panose="02020603050405020304" charset="0"/>
              </a:rPr>
              <a:t>Hard to generalize across tasks.</a:t>
            </a:r>
          </a:p>
          <a:p>
            <a:pPr lvl="1"/>
            <a:r>
              <a:rPr lang="en-US" altLang="zh-CN">
                <a:latin typeface="Times New Roman" panose="02020603050405020304" charset="0"/>
                <a:ea typeface="Times New Roman" panose="02020603050405020304" charset="0"/>
                <a:cs typeface="Times New Roman" panose="02020603050405020304" charset="0"/>
              </a:rPr>
              <a:t>Requires precise goal definition.</a:t>
            </a:r>
          </a:p>
          <a:p>
            <a:pPr lvl="1"/>
            <a:endParaRPr lang="en-US" altLang="zh-CN">
              <a:latin typeface="Times New Roman" panose="02020603050405020304" charset="0"/>
              <a:ea typeface="Times New Roman" panose="02020603050405020304" charset="0"/>
              <a:cs typeface="Times New Roman" panose="02020603050405020304" charset="0"/>
            </a:endParaRPr>
          </a:p>
        </p:txBody>
      </p:sp>
      <p:sp>
        <p:nvSpPr>
          <p:cNvPr id="7" name="TextBox 6"/>
          <p:cNvSpPr txBox="1"/>
          <p:nvPr/>
        </p:nvSpPr>
        <p:spPr>
          <a:xfrm>
            <a:off x="11635105" y="5939790"/>
            <a:ext cx="4114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a:t>
            </a:r>
            <a:r>
              <a:rPr lang="en-US" altLang="zh-CN">
                <a:latin typeface="Times New Roman" panose="02020603050405020304" charset="0"/>
                <a:ea typeface="Times New Roman" panose="02020603050405020304" charset="0"/>
                <a:cs typeface="Arial" panose="020B0604020202020204" pitchFamily="34" charset="0"/>
              </a:rPr>
              <a:t>1</a:t>
            </a:r>
            <a:endParaRPr>
              <a:latin typeface="Times New Roman" panose="02020603050405020304" charset="0"/>
              <a:ea typeface="Times New Roman" panose="02020603050405020304" charset="0"/>
              <a:cs typeface="Times New Roman" panose="02020603050405020304" charset="0"/>
            </a:endParaRPr>
          </a:p>
        </p:txBody>
      </p:sp>
      <p:pic>
        <p:nvPicPr>
          <p:cNvPr id="4" name="图片 3" descr="upload_post_object_v2_97325797"/>
          <p:cNvPicPr>
            <a:picLocks noChangeAspect="1"/>
          </p:cNvPicPr>
          <p:nvPr/>
        </p:nvPicPr>
        <p:blipFill>
          <a:blip r:embed="rId2"/>
          <a:stretch>
            <a:fillRect/>
          </a:stretch>
        </p:blipFill>
        <p:spPr>
          <a:xfrm>
            <a:off x="6010093" y="3195182"/>
            <a:ext cx="6181933" cy="3181635"/>
          </a:xfrm>
          <a:prstGeom prst="rect">
            <a:avLst/>
          </a:prstGeom>
        </p:spPr>
      </p:pic>
      <p:sp>
        <p:nvSpPr>
          <p:cNvPr id="5" name="文本框 4"/>
          <p:cNvSpPr txBox="1"/>
          <p:nvPr userDrawn="1"/>
        </p:nvSpPr>
        <p:spPr>
          <a:xfrm>
            <a:off x="0" y="6469659"/>
            <a:ext cx="9849485" cy="398780"/>
          </a:xfrm>
          <a:prstGeom prst="rect">
            <a:avLst/>
          </a:prstGeom>
        </p:spPr>
        <p:txBody>
          <a:bodyPr wrap="none" rtlCol="0">
            <a:spAutoFit/>
          </a:bodyPr>
          <a:lstStyle/>
          <a:p>
            <a:r>
              <a:rPr lang="en-US" altLang="zh-CN" sz="1000">
                <a:solidFill>
                  <a:srgbClr val="FFFFFF"/>
                </a:solidFill>
              </a:rPr>
              <a:t>T. M. Getu, G. Kaddoum and M. Bennis, "A Survey on Goal</a:t>
            </a:r>
            <a:r>
              <a:rPr lang="zh-CN" altLang="en-US" sz="1000">
                <a:solidFill>
                  <a:srgbClr val="FFFFFF"/>
                </a:solidFill>
              </a:rPr>
              <a:t>-</a:t>
            </a:r>
            <a:r>
              <a:rPr lang="en-US" altLang="zh-CN" sz="1000">
                <a:solidFill>
                  <a:srgbClr val="FFFFFF"/>
                </a:solidFill>
              </a:rPr>
              <a:t>Oriented Semantic Communication: Techniques, Challenges, and Future Directions," in IEEE Access</a:t>
            </a:r>
          </a:p>
          <a:p>
            <a:endParaRPr lang="zh-CN" altLang="en-US" sz="10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l"/>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Introduction</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Technical Approaches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000000"/>
                </a:solidFill>
                <a:latin typeface="Times New Roman" panose="02020603050405020304" charset="0"/>
                <a:ea typeface="Times New Roman" panose="02020603050405020304" charset="0"/>
                <a:cs typeface="Times New Roman" panose="02020603050405020304" charset="0"/>
              </a:rPr>
              <a:t>Security Challenges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Future Directions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Conclusion</a:t>
            </a:r>
          </a:p>
        </p:txBody>
      </p:sp>
      <p:sp>
        <p:nvSpPr>
          <p:cNvPr id="3" name="文本占位符 2"/>
          <p:cNvSpPr>
            <a:spLocks noGrp="1"/>
          </p:cNvSpPr>
          <p:nvPr>
            <p:ph type="body" idx="1"/>
          </p:nvPr>
        </p:nvSpPr>
        <p:spPr/>
        <p:txBody>
          <a:bodyPr/>
          <a:lstStyle/>
          <a:p>
            <a:endParaRPr lang="zh-CN" altLang="en-US">
              <a:latin typeface="Times New Roman" panose="02020603050405020304" charset="0"/>
              <a:ea typeface="Times New Roman" panose="02020603050405020304" charset="0"/>
              <a:cs typeface="Times New Roman" panose="02020603050405020304" charset="0"/>
            </a:endParaRPr>
          </a:p>
        </p:txBody>
      </p:sp>
      <p:sp>
        <p:nvSpPr>
          <p:cNvPr id="6" name="TextBox 5"/>
          <p:cNvSpPr txBox="1"/>
          <p:nvPr/>
        </p:nvSpPr>
        <p:spPr>
          <a:xfrm>
            <a:off x="11635105" y="5939790"/>
            <a:ext cx="411480" cy="368300"/>
          </a:xfrm>
          <a:prstGeom prst="rect">
            <a:avLst/>
          </a:prstGeom>
          <a:noFill/>
        </p:spPr>
        <p:txBody>
          <a:bodyPr wrap="none">
            <a:spAutoFit/>
          </a:bodyPr>
          <a:lstStyle/>
          <a:p>
            <a:r>
              <a:rPr lang="en-US" altLang="zh-CN">
                <a:latin typeface="Times New Roman" panose="02020603050405020304" charset="0"/>
                <a:ea typeface="Times New Roman" panose="02020603050405020304" charset="0"/>
                <a:cs typeface="Times New Roman" panose="02020603050405020304" charset="0"/>
              </a:rPr>
              <a:t>12</a:t>
            </a:r>
            <a:endParaRPr>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a:latin typeface="Times New Roman" panose="02020603050405020304" charset="0"/>
                <a:ea typeface="Times New Roman" panose="02020603050405020304" charset="0"/>
                <a:cs typeface="Times New Roman" panose="02020603050405020304" charset="0"/>
              </a:rPr>
              <a:t>Security Challenges in Semantic Communication</a:t>
            </a:r>
          </a:p>
        </p:txBody>
      </p:sp>
      <p:sp>
        <p:nvSpPr>
          <p:cNvPr id="3" name="内容占位符 2"/>
          <p:cNvSpPr>
            <a:spLocks noGrp="1"/>
          </p:cNvSpPr>
          <p:nvPr>
            <p:ph idx="1"/>
          </p:nvPr>
        </p:nvSpPr>
        <p:spPr>
          <a:xfrm>
            <a:off x="838177" y="1983597"/>
            <a:ext cx="10515600" cy="4409077"/>
          </a:xfrm>
        </p:spPr>
        <p:txBody>
          <a:bodyPr>
            <a:noAutofit/>
          </a:bodyPr>
          <a:lstStyle/>
          <a:p>
            <a:r>
              <a:rPr lang="en-US" altLang="zh-CN">
                <a:latin typeface="Times New Roman" panose="02020603050405020304" charset="0"/>
                <a:ea typeface="Times New Roman" panose="02020603050405020304" charset="0"/>
                <a:cs typeface="Times New Roman" panose="02020603050405020304" charset="0"/>
              </a:rPr>
              <a:t>Semantic Adversarial Attacks</a:t>
            </a:r>
          </a:p>
          <a:p>
            <a:pPr lvl="1"/>
            <a:r>
              <a:rPr lang="en-US" altLang="zh-CN">
                <a:latin typeface="Times New Roman" panose="02020603050405020304" charset="0"/>
                <a:ea typeface="Times New Roman" panose="02020603050405020304" charset="0"/>
                <a:cs typeface="Times New Roman" panose="02020603050405020304" charset="0"/>
              </a:rPr>
              <a:t>Craft inputs that result in incorrect semantic decoding (similar to adversarial examples in vision/NLP).</a:t>
            </a:r>
          </a:p>
          <a:p>
            <a:r>
              <a:rPr lang="en-US" altLang="zh-CN">
                <a:latin typeface="Times New Roman" panose="02020603050405020304" charset="0"/>
                <a:ea typeface="Times New Roman" panose="02020603050405020304" charset="0"/>
                <a:cs typeface="Times New Roman" panose="02020603050405020304" charset="0"/>
              </a:rPr>
              <a:t>Knowledge Base Manipulation</a:t>
            </a:r>
          </a:p>
          <a:p>
            <a:pPr lvl="1"/>
            <a:r>
              <a:rPr lang="en-US" altLang="zh-CN">
                <a:latin typeface="Times New Roman" panose="02020603050405020304" charset="0"/>
                <a:ea typeface="Times New Roman" panose="02020603050405020304" charset="0"/>
                <a:cs typeface="Times New Roman" panose="02020603050405020304" charset="0"/>
              </a:rPr>
              <a:t>Modify or inject false facts into shared semantic knowledge.</a:t>
            </a:r>
          </a:p>
          <a:p>
            <a:r>
              <a:rPr lang="en-US" altLang="zh-CN">
                <a:latin typeface="Times New Roman" panose="02020603050405020304" charset="0"/>
                <a:ea typeface="Times New Roman" panose="02020603050405020304" charset="0"/>
                <a:cs typeface="Times New Roman" panose="02020603050405020304" charset="0"/>
              </a:rPr>
              <a:t>Model Stealing</a:t>
            </a:r>
          </a:p>
          <a:p>
            <a:pPr lvl="1"/>
            <a:r>
              <a:rPr lang="en-US" altLang="zh-CN">
                <a:latin typeface="Times New Roman" panose="02020603050405020304" charset="0"/>
                <a:ea typeface="Times New Roman" panose="02020603050405020304" charset="0"/>
                <a:cs typeface="Times New Roman" panose="02020603050405020304" charset="0"/>
              </a:rPr>
              <a:t>Reverse-engineering of encoder/decoder functionality from intercepted samples</a:t>
            </a:r>
          </a:p>
        </p:txBody>
      </p:sp>
      <p:sp>
        <p:nvSpPr>
          <p:cNvPr id="25" name="TextBox 24"/>
          <p:cNvSpPr txBox="1"/>
          <p:nvPr/>
        </p:nvSpPr>
        <p:spPr>
          <a:xfrm>
            <a:off x="11635105" y="5939790"/>
            <a:ext cx="4114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a:t>
            </a:r>
            <a:r>
              <a:rPr lang="en-US" altLang="zh-CN">
                <a:latin typeface="Times New Roman" panose="02020603050405020304" charset="0"/>
                <a:ea typeface="Times New Roman" panose="02020603050405020304" charset="0"/>
                <a:cs typeface="Arial" panose="020B0604020202020204" pitchFamily="34" charset="0"/>
              </a:rPr>
              <a:t>3</a:t>
            </a:r>
            <a:endParaRPr>
              <a:latin typeface="Times New Roman" panose="02020603050405020304" charset="0"/>
              <a:ea typeface="Times New Roman" panose="02020603050405020304" charset="0"/>
              <a:cs typeface="Times New Roman" panose="02020603050405020304" charset="0"/>
            </a:endParaRPr>
          </a:p>
        </p:txBody>
      </p:sp>
      <p:sp>
        <p:nvSpPr>
          <p:cNvPr id="4" name="文本框 3"/>
          <p:cNvSpPr txBox="1"/>
          <p:nvPr userDrawn="1"/>
        </p:nvSpPr>
        <p:spPr>
          <a:xfrm>
            <a:off x="5281208" y="2027178"/>
            <a:ext cx="5394325" cy="368300"/>
          </a:xfrm>
          <a:prstGeom prst="rect">
            <a:avLst/>
          </a:prstGeom>
        </p:spPr>
        <p:txBody>
          <a:bodyPr wrap="none" rtlCol="0">
            <a:spAutoFit/>
          </a:bodyPr>
          <a:lstStyle/>
          <a:p>
            <a:pPr algn="l"/>
            <a:r>
              <a:rPr lang="en-US" altLang="zh-CN"/>
              <a:t>Slightly altering text/image </a:t>
            </a:r>
            <a:r>
              <a:rPr lang="en-US" altLang="en-US"/>
              <a:t>→</a:t>
            </a:r>
            <a:r>
              <a:rPr lang="en-US" altLang="zh-CN"/>
              <a:t> changes meaning</a:t>
            </a:r>
            <a:endParaRPr lang="en-US" altLang="en-US"/>
          </a:p>
        </p:txBody>
      </p:sp>
      <p:sp>
        <p:nvSpPr>
          <p:cNvPr id="5" name="文本框 4"/>
          <p:cNvSpPr txBox="1"/>
          <p:nvPr userDrawn="1"/>
        </p:nvSpPr>
        <p:spPr>
          <a:xfrm>
            <a:off x="5319701" y="3201203"/>
            <a:ext cx="2404110" cy="368300"/>
          </a:xfrm>
          <a:prstGeom prst="rect">
            <a:avLst/>
          </a:prstGeom>
        </p:spPr>
        <p:txBody>
          <a:bodyPr wrap="none" rtlCol="0">
            <a:spAutoFit/>
          </a:bodyPr>
          <a:lstStyle/>
          <a:p>
            <a:pPr algn="l"/>
            <a:r>
              <a:rPr lang="en-US" altLang="zh-CN"/>
              <a:t>Apple is a vegetable</a:t>
            </a:r>
          </a:p>
        </p:txBody>
      </p:sp>
      <p:sp>
        <p:nvSpPr>
          <p:cNvPr id="6" name="文本框 5"/>
          <p:cNvSpPr txBox="1"/>
          <p:nvPr userDrawn="1"/>
        </p:nvSpPr>
        <p:spPr>
          <a:xfrm>
            <a:off x="245090" y="6473076"/>
            <a:ext cx="9418955" cy="245110"/>
          </a:xfrm>
          <a:prstGeom prst="rect">
            <a:avLst/>
          </a:prstGeom>
        </p:spPr>
        <p:txBody>
          <a:bodyPr wrap="none" rtlCol="0">
            <a:spAutoFit/>
          </a:bodyPr>
          <a:lstStyle/>
          <a:p>
            <a:pPr algn="l"/>
            <a:r>
              <a:rPr lang="en-US" altLang="zh-CN" sz="1000">
                <a:solidFill>
                  <a:srgbClr val="FFFFFF"/>
                </a:solidFill>
              </a:rPr>
              <a:t>M. Shen et al., "Secure Semantic Communications: Challenges, Approaches, and Opportunities," in IEEE Network, vol. 38, no. 4, pp. 197-206, July 2024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Times New Roman" panose="02020603050405020304" charset="0"/>
                <a:ea typeface="Times New Roman" panose="02020603050405020304" charset="0"/>
                <a:cs typeface="Times New Roman" panose="02020603050405020304" charset="0"/>
              </a:rPr>
              <a:t>Defense Strategies and Open Security Problems</a:t>
            </a:r>
          </a:p>
        </p:txBody>
      </p:sp>
      <p:sp>
        <p:nvSpPr>
          <p:cNvPr id="3" name="内容占位符 2"/>
          <p:cNvSpPr>
            <a:spLocks noGrp="1"/>
          </p:cNvSpPr>
          <p:nvPr>
            <p:ph idx="1"/>
          </p:nvPr>
        </p:nvSpPr>
        <p:spPr>
          <a:xfrm>
            <a:off x="838177" y="1983597"/>
            <a:ext cx="10515600" cy="4325793"/>
          </a:xfrm>
        </p:spPr>
        <p:txBody>
          <a:bodyPr>
            <a:noAutofit/>
          </a:bodyPr>
          <a:lstStyle/>
          <a:p>
            <a:r>
              <a:rPr lang="en-US" altLang="zh-CN">
                <a:solidFill>
                  <a:schemeClr val="tx1"/>
                </a:solidFill>
                <a:latin typeface="Times New Roman" panose="02020603050405020304" charset="0"/>
                <a:ea typeface="Times New Roman" panose="02020603050405020304" charset="0"/>
                <a:cs typeface="Times New Roman" panose="02020603050405020304" charset="0"/>
              </a:rPr>
              <a:t>Knowledge Base Attacks</a:t>
            </a:r>
          </a:p>
          <a:p>
            <a:pPr lvl="1"/>
            <a:r>
              <a:rPr lang="en-US" altLang="zh-CN">
                <a:latin typeface="Times New Roman" panose="02020603050405020304" charset="0"/>
                <a:ea typeface="Times New Roman" panose="02020603050405020304" charset="0"/>
                <a:cs typeface="Times New Roman" panose="02020603050405020304" charset="0"/>
              </a:rPr>
              <a:t>Graph consistency checking</a:t>
            </a:r>
            <a:r>
              <a:rPr lang="zh-CN" altLang="en-US">
                <a:latin typeface="Times New Roman" panose="02020603050405020304" charset="0"/>
                <a:ea typeface="Times New Roman" panose="02020603050405020304" charset="0"/>
                <a:cs typeface="Times New Roman" panose="02020603050405020304" charset="0"/>
              </a:rPr>
              <a:t>-</a:t>
            </a:r>
            <a:r>
              <a:rPr lang="en-US" altLang="zh-CN">
                <a:latin typeface="Times New Roman" panose="02020603050405020304" charset="0"/>
                <a:ea typeface="Times New Roman" panose="02020603050405020304" charset="0"/>
                <a:cs typeface="Times New Roman" panose="02020603050405020304" charset="0"/>
              </a:rPr>
              <a:t>Avoiding injection of fake semantic facts into the shared KG</a:t>
            </a:r>
          </a:p>
          <a:p>
            <a:pPr lvl="1"/>
            <a:r>
              <a:rPr lang="en-US" altLang="zh-CN">
                <a:latin typeface="Times New Roman" panose="02020603050405020304" charset="0"/>
                <a:ea typeface="Times New Roman" panose="02020603050405020304" charset="0"/>
                <a:cs typeface="Times New Roman" panose="02020603050405020304" charset="0"/>
              </a:rPr>
              <a:t>Access control</a:t>
            </a:r>
            <a:r>
              <a:rPr lang="zh-CN" altLang="en-US">
                <a:latin typeface="Times New Roman" panose="02020603050405020304" charset="0"/>
                <a:ea typeface="Times New Roman" panose="02020603050405020304" charset="0"/>
                <a:cs typeface="Times New Roman" panose="02020603050405020304" charset="0"/>
              </a:rPr>
              <a:t>-</a:t>
            </a:r>
            <a:r>
              <a:rPr lang="en-US" altLang="zh-CN">
                <a:latin typeface="Times New Roman" panose="02020603050405020304" charset="0"/>
                <a:ea typeface="Times New Roman" panose="02020603050405020304" charset="0"/>
                <a:cs typeface="Times New Roman" panose="02020603050405020304" charset="0"/>
              </a:rPr>
              <a:t>Restrict who can read/write to semantic knowledge sources</a:t>
            </a:r>
          </a:p>
          <a:p>
            <a:r>
              <a:rPr lang="en-US" altLang="zh-CN">
                <a:latin typeface="Times New Roman" panose="02020603050405020304" charset="0"/>
                <a:ea typeface="Times New Roman" panose="02020603050405020304" charset="0"/>
                <a:cs typeface="Times New Roman" panose="02020603050405020304" charset="0"/>
              </a:rPr>
              <a:t>Semantic Adversarial Attacks</a:t>
            </a:r>
          </a:p>
          <a:p>
            <a:pPr lvl="1"/>
            <a:r>
              <a:rPr lang="en-US" altLang="zh-CN">
                <a:latin typeface="Times New Roman" panose="02020603050405020304" charset="0"/>
                <a:ea typeface="Times New Roman" panose="02020603050405020304" charset="0"/>
                <a:cs typeface="Times New Roman" panose="02020603050405020304" charset="0"/>
              </a:rPr>
              <a:t>Adversarial training</a:t>
            </a:r>
            <a:r>
              <a:rPr lang="zh-CN" altLang="en-US">
                <a:latin typeface="Times New Roman" panose="02020603050405020304" charset="0"/>
                <a:ea typeface="Times New Roman" panose="02020603050405020304" charset="0"/>
                <a:cs typeface="Times New Roman" panose="02020603050405020304" charset="0"/>
              </a:rPr>
              <a:t>-</a:t>
            </a:r>
            <a:r>
              <a:rPr lang="en-US" altLang="zh-CN">
                <a:latin typeface="Times New Roman" panose="02020603050405020304" charset="0"/>
                <a:ea typeface="Times New Roman" panose="02020603050405020304" charset="0"/>
                <a:cs typeface="Times New Roman" panose="02020603050405020304" charset="0"/>
              </a:rPr>
              <a:t>Training the encoder with perturbed inputs to resist semantic confusion </a:t>
            </a:r>
          </a:p>
          <a:p>
            <a:pPr lvl="1"/>
            <a:r>
              <a:rPr lang="en-US" altLang="zh-CN">
                <a:latin typeface="Times New Roman" panose="02020603050405020304" charset="0"/>
                <a:ea typeface="Times New Roman" panose="02020603050405020304" charset="0"/>
                <a:cs typeface="Times New Roman" panose="02020603050405020304" charset="0"/>
              </a:rPr>
              <a:t>Semantic denoising</a:t>
            </a:r>
          </a:p>
          <a:p>
            <a:r>
              <a:rPr lang="en-US" altLang="zh-CN">
                <a:latin typeface="Times New Roman" panose="02020603050405020304" charset="0"/>
                <a:ea typeface="Times New Roman" panose="02020603050405020304" charset="0"/>
                <a:cs typeface="Times New Roman" panose="02020603050405020304" charset="0"/>
              </a:rPr>
              <a:t>Model Parameter Inference</a:t>
            </a:r>
          </a:p>
          <a:p>
            <a:pPr lvl="1"/>
            <a:r>
              <a:rPr lang="en-US" altLang="zh-CN">
                <a:latin typeface="Times New Roman" panose="02020603050405020304" charset="0"/>
                <a:ea typeface="Times New Roman" panose="02020603050405020304" charset="0"/>
                <a:cs typeface="Times New Roman" panose="02020603050405020304" charset="0"/>
              </a:rPr>
              <a:t>Gradient/Parameter Encryption(FL)</a:t>
            </a:r>
          </a:p>
        </p:txBody>
      </p:sp>
      <p:sp>
        <p:nvSpPr>
          <p:cNvPr id="23" name="TextBox 22"/>
          <p:cNvSpPr txBox="1"/>
          <p:nvPr/>
        </p:nvSpPr>
        <p:spPr>
          <a:xfrm>
            <a:off x="11635105" y="5939790"/>
            <a:ext cx="4114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14</a:t>
            </a:r>
          </a:p>
        </p:txBody>
      </p:sp>
      <p:sp>
        <p:nvSpPr>
          <p:cNvPr id="6" name="文本框 5"/>
          <p:cNvSpPr txBox="1"/>
          <p:nvPr userDrawn="1"/>
        </p:nvSpPr>
        <p:spPr>
          <a:xfrm>
            <a:off x="245090" y="6473076"/>
            <a:ext cx="9418955" cy="245110"/>
          </a:xfrm>
          <a:prstGeom prst="rect">
            <a:avLst/>
          </a:prstGeom>
        </p:spPr>
        <p:txBody>
          <a:bodyPr wrap="none" rtlCol="0">
            <a:spAutoFit/>
          </a:bodyPr>
          <a:lstStyle/>
          <a:p>
            <a:pPr algn="l"/>
            <a:r>
              <a:rPr lang="en-US" altLang="zh-CN" sz="1000">
                <a:solidFill>
                  <a:srgbClr val="FFFFFF"/>
                </a:solidFill>
              </a:rPr>
              <a:t>M. Shen et al., "Secure Semantic Communications: Challenges, Approaches, and Opportunities," in IEEE Network, vol. 38, no. 4, pp. 197-206, July 2024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l"/>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Introduction</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Technical Approaches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Security Challenges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000000"/>
                </a:solidFill>
                <a:latin typeface="Times New Roman" panose="02020603050405020304" charset="0"/>
                <a:ea typeface="Times New Roman" panose="02020603050405020304" charset="0"/>
                <a:cs typeface="Times New Roman" panose="02020603050405020304" charset="0"/>
              </a:rPr>
              <a:t>Future Directions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Conclusion</a:t>
            </a:r>
          </a:p>
        </p:txBody>
      </p:sp>
      <p:sp>
        <p:nvSpPr>
          <p:cNvPr id="3" name="文本占位符 2"/>
          <p:cNvSpPr>
            <a:spLocks noGrp="1"/>
          </p:cNvSpPr>
          <p:nvPr>
            <p:ph type="body" idx="1"/>
          </p:nvPr>
        </p:nvSpPr>
        <p:spPr/>
        <p:txBody>
          <a:bodyPr/>
          <a:lstStyle/>
          <a:p>
            <a:endParaRPr lang="zh-CN" altLang="en-US">
              <a:latin typeface="Times New Roman" panose="02020603050405020304" charset="0"/>
              <a:ea typeface="Times New Roman" panose="02020603050405020304" charset="0"/>
              <a:cs typeface="Times New Roman" panose="02020603050405020304" charset="0"/>
            </a:endParaRPr>
          </a:p>
        </p:txBody>
      </p:sp>
      <p:sp>
        <p:nvSpPr>
          <p:cNvPr id="6" name="TextBox 5"/>
          <p:cNvSpPr txBox="1"/>
          <p:nvPr/>
        </p:nvSpPr>
        <p:spPr>
          <a:xfrm>
            <a:off x="11635105" y="5939790"/>
            <a:ext cx="4114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a:t>
            </a:r>
            <a:r>
              <a:rPr lang="en-US" altLang="zh-CN">
                <a:latin typeface="Times New Roman" panose="02020603050405020304" charset="0"/>
                <a:ea typeface="Times New Roman" panose="02020603050405020304" charset="0"/>
                <a:cs typeface="Arial" panose="020B0604020202020204" pitchFamily="34" charset="0"/>
              </a:rPr>
              <a:t>5</a:t>
            </a:r>
            <a:endParaRPr>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ea typeface="Times New Roman" panose="02020603050405020304" charset="0"/>
                <a:cs typeface="Times New Roman" panose="02020603050405020304" charset="0"/>
              </a:rPr>
              <a:t>Future Directions</a:t>
            </a:r>
          </a:p>
        </p:txBody>
      </p:sp>
      <p:sp>
        <p:nvSpPr>
          <p:cNvPr id="3" name="内容占位符 2"/>
          <p:cNvSpPr>
            <a:spLocks noGrp="1"/>
          </p:cNvSpPr>
          <p:nvPr>
            <p:ph idx="1"/>
          </p:nvPr>
        </p:nvSpPr>
        <p:spPr/>
        <p:txBody>
          <a:bodyPr>
            <a:noAutofit/>
          </a:bodyPr>
          <a:lstStyle/>
          <a:p>
            <a:r>
              <a:rPr lang="en-US" altLang="zh-CN">
                <a:solidFill>
                  <a:schemeClr val="tx1"/>
                </a:solidFill>
                <a:latin typeface="Times New Roman" panose="02020603050405020304" charset="0"/>
                <a:ea typeface="Times New Roman" panose="02020603050405020304" charset="0"/>
                <a:cs typeface="Times New Roman" panose="02020603050405020304" charset="0"/>
              </a:rPr>
              <a:t>Multimodal Semantic Communication</a:t>
            </a:r>
          </a:p>
          <a:p>
            <a:pPr lvl="1"/>
            <a:r>
              <a:rPr lang="en-US" altLang="zh-CN">
                <a:latin typeface="Times New Roman" panose="02020603050405020304" charset="0"/>
                <a:ea typeface="Times New Roman" panose="02020603050405020304" charset="0"/>
                <a:cs typeface="Times New Roman" panose="02020603050405020304" charset="0"/>
              </a:rPr>
              <a:t>Most current research focuses on a single modality (text/image).</a:t>
            </a:r>
          </a:p>
          <a:p>
            <a:pPr lvl="1"/>
            <a:r>
              <a:rPr lang="en-US" altLang="zh-CN">
                <a:latin typeface="Times New Roman" panose="02020603050405020304" charset="0"/>
                <a:ea typeface="Times New Roman" panose="02020603050405020304" charset="0"/>
                <a:cs typeface="Times New Roman" panose="02020603050405020304" charset="0"/>
              </a:rPr>
              <a:t>Future systems need to support multimodal input (e.g., text, speech, action).</a:t>
            </a:r>
          </a:p>
          <a:p>
            <a:pPr lvl="1"/>
            <a:r>
              <a:rPr lang="zh-CN" altLang="en-US">
                <a:solidFill>
                  <a:schemeClr val="tx1"/>
                </a:solidFill>
                <a:latin typeface="Times New Roman" panose="02020603050405020304" charset="0"/>
                <a:ea typeface="Times New Roman" panose="02020603050405020304" charset="0"/>
                <a:cs typeface="Times New Roman" panose="02020603050405020304" charset="0"/>
              </a:rPr>
              <a:t>How to achieve multimodal semantic alignment</a:t>
            </a:r>
            <a:r>
              <a:rPr lang="en-US" altLang="zh-CN">
                <a:solidFill>
                  <a:schemeClr val="tx1"/>
                </a:solidFill>
                <a:latin typeface="Times New Roman" panose="02020603050405020304" charset="0"/>
                <a:ea typeface="Times New Roman" panose="02020603050405020304" charset="0"/>
                <a:cs typeface="Times New Roman" panose="02020603050405020304" charset="0"/>
              </a:rPr>
              <a:t>.</a:t>
            </a:r>
            <a:endParaRPr lang="zh-CN" altLang="en-US">
              <a:solidFill>
                <a:schemeClr val="tx1"/>
              </a:solidFill>
              <a:latin typeface="Times New Roman" panose="02020603050405020304" charset="0"/>
              <a:ea typeface="Times New Roman" panose="02020603050405020304" charset="0"/>
              <a:cs typeface="Times New Roman" panose="02020603050405020304" charset="0"/>
            </a:endParaRPr>
          </a:p>
          <a:p>
            <a:r>
              <a:rPr lang="en-US" altLang="zh-CN">
                <a:latin typeface="Times New Roman" panose="02020603050405020304" charset="0"/>
                <a:ea typeface="Times New Roman" panose="02020603050405020304" charset="0"/>
                <a:cs typeface="Times New Roman" panose="02020603050405020304" charset="0"/>
              </a:rPr>
              <a:t>Semantic Integrity Verification</a:t>
            </a:r>
          </a:p>
          <a:p>
            <a:pPr lvl="1"/>
            <a:r>
              <a:rPr lang="en-US" altLang="zh-CN">
                <a:latin typeface="Times New Roman" panose="02020603050405020304" charset="0"/>
                <a:ea typeface="Times New Roman" panose="02020603050405020304" charset="0"/>
                <a:cs typeface="Times New Roman" panose="02020603050405020304" charset="0"/>
              </a:rPr>
              <a:t>Semantic correctness or task-aligned meaning needs to be defined.</a:t>
            </a:r>
          </a:p>
          <a:p>
            <a:pPr lvl="1"/>
            <a:r>
              <a:rPr lang="en-US" altLang="zh-CN">
                <a:latin typeface="Times New Roman" panose="02020603050405020304" charset="0"/>
                <a:ea typeface="Times New Roman" panose="02020603050405020304" charset="0"/>
                <a:cs typeface="Times New Roman" panose="02020603050405020304" charset="0"/>
              </a:rPr>
              <a:t>At present, there is a lack of mechanisms to verify whether "semantics are destroyed".</a:t>
            </a:r>
          </a:p>
          <a:p>
            <a:pPr lvl="1"/>
            <a:endParaRPr lang="en-US" altLang="zh-CN">
              <a:latin typeface="Times New Roman" panose="02020603050405020304" charset="0"/>
              <a:ea typeface="Times New Roman" panose="02020603050405020304" charset="0"/>
              <a:cs typeface="Times New Roman" panose="02020603050405020304" charset="0"/>
            </a:endParaRPr>
          </a:p>
        </p:txBody>
      </p:sp>
      <p:sp>
        <p:nvSpPr>
          <p:cNvPr id="59" name="TextBox 58"/>
          <p:cNvSpPr txBox="1"/>
          <p:nvPr/>
        </p:nvSpPr>
        <p:spPr>
          <a:xfrm>
            <a:off x="11635105" y="5939790"/>
            <a:ext cx="4114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l"/>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Introduction</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Technical Approaches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Security Challenges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D9D9D9"/>
                </a:solidFill>
                <a:latin typeface="Times New Roman" panose="02020603050405020304" charset="0"/>
                <a:ea typeface="Times New Roman" panose="02020603050405020304" charset="0"/>
                <a:cs typeface="Times New Roman" panose="02020603050405020304" charset="0"/>
              </a:rPr>
              <a:t>Future Directions</a:t>
            </a:r>
            <a:br>
              <a:rPr lang="en-US" altLang="zh-CN" sz="2800">
                <a:solidFill>
                  <a:srgbClr val="D9D9D9"/>
                </a:solidFill>
                <a:latin typeface="Times New Roman" panose="02020603050405020304" charset="0"/>
                <a:ea typeface="Times New Roman" panose="02020603050405020304" charset="0"/>
                <a:cs typeface="Times New Roman" panose="02020603050405020304" charset="0"/>
              </a:rPr>
            </a:br>
            <a:r>
              <a:rPr lang="en-US" altLang="zh-CN" sz="2800">
                <a:solidFill>
                  <a:srgbClr val="000000"/>
                </a:solidFill>
                <a:latin typeface="Times New Roman" panose="02020603050405020304" charset="0"/>
                <a:ea typeface="Times New Roman" panose="02020603050405020304" charset="0"/>
                <a:cs typeface="Times New Roman" panose="02020603050405020304" charset="0"/>
              </a:rPr>
              <a:t>Conclusion</a:t>
            </a:r>
          </a:p>
        </p:txBody>
      </p:sp>
      <p:sp>
        <p:nvSpPr>
          <p:cNvPr id="3" name="文本占位符 2"/>
          <p:cNvSpPr>
            <a:spLocks noGrp="1"/>
          </p:cNvSpPr>
          <p:nvPr>
            <p:ph type="body" idx="1"/>
          </p:nvPr>
        </p:nvSpPr>
        <p:spPr/>
        <p:txBody>
          <a:bodyPr/>
          <a:lstStyle/>
          <a:p>
            <a:endParaRPr lang="zh-CN" altLang="en-US">
              <a:latin typeface="Times New Roman" panose="02020603050405020304" charset="0"/>
              <a:ea typeface="Times New Roman" panose="02020603050405020304" charset="0"/>
              <a:cs typeface="Times New Roman" panose="02020603050405020304" charset="0"/>
            </a:endParaRPr>
          </a:p>
        </p:txBody>
      </p:sp>
      <p:sp>
        <p:nvSpPr>
          <p:cNvPr id="6" name="TextBox 5"/>
          <p:cNvSpPr txBox="1"/>
          <p:nvPr/>
        </p:nvSpPr>
        <p:spPr>
          <a:xfrm>
            <a:off x="11635105" y="5939790"/>
            <a:ext cx="4114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a:t>
            </a:r>
            <a:r>
              <a:rPr lang="en-US" altLang="zh-CN">
                <a:latin typeface="Times New Roman" panose="02020603050405020304" charset="0"/>
                <a:ea typeface="Times New Roman" panose="02020603050405020304" charset="0"/>
                <a:cs typeface="Arial" panose="020B0604020202020204" pitchFamily="34" charset="0"/>
              </a:rPr>
              <a:t>7</a:t>
            </a:r>
            <a:endParaRPr>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ea typeface="Times New Roman" panose="02020603050405020304" charset="0"/>
                <a:cs typeface="Times New Roman" panose="02020603050405020304" charset="0"/>
              </a:rPr>
              <a:t>Conclusion</a:t>
            </a:r>
          </a:p>
        </p:txBody>
      </p:sp>
      <p:sp>
        <p:nvSpPr>
          <p:cNvPr id="3" name="内容占位符 2"/>
          <p:cNvSpPr>
            <a:spLocks noGrp="1"/>
          </p:cNvSpPr>
          <p:nvPr>
            <p:ph idx="1"/>
          </p:nvPr>
        </p:nvSpPr>
        <p:spPr>
          <a:xfrm>
            <a:off x="838177" y="1983597"/>
            <a:ext cx="10515600" cy="4404978"/>
          </a:xfrm>
        </p:spPr>
        <p:txBody>
          <a:bodyPr>
            <a:noAutofit/>
          </a:bodyPr>
          <a:lstStyle/>
          <a:p>
            <a:r>
              <a:rPr lang="en-US" altLang="zh-CN">
                <a:latin typeface="Times New Roman" panose="02020603050405020304" charset="0"/>
                <a:ea typeface="Times New Roman" panose="02020603050405020304" charset="0"/>
                <a:cs typeface="Times New Roman" panose="02020603050405020304" charset="0"/>
              </a:rPr>
              <a:t>The motivation for Semantic Communication</a:t>
            </a:r>
          </a:p>
          <a:p>
            <a:r>
              <a:rPr lang="en-US" altLang="zh-CN">
                <a:latin typeface="Times New Roman" panose="02020603050405020304" charset="0"/>
                <a:ea typeface="Times New Roman" panose="02020603050405020304" charset="0"/>
                <a:cs typeface="Times New Roman" panose="02020603050405020304" charset="0"/>
              </a:rPr>
              <a:t>Core definitions, system architecture, and technical paths</a:t>
            </a:r>
          </a:p>
          <a:p>
            <a:r>
              <a:rPr lang="en-US" altLang="zh-CN">
                <a:latin typeface="Times New Roman" panose="02020603050405020304" charset="0"/>
                <a:ea typeface="Times New Roman" panose="02020603050405020304" charset="0"/>
                <a:cs typeface="Times New Roman" panose="02020603050405020304" charset="0"/>
              </a:rPr>
              <a:t>Security threats &amp; defenses in semantic-level systems</a:t>
            </a:r>
          </a:p>
          <a:p>
            <a:r>
              <a:rPr lang="en-US" altLang="zh-CN">
                <a:latin typeface="Times New Roman" panose="02020603050405020304" charset="0"/>
                <a:ea typeface="Times New Roman" panose="02020603050405020304" charset="0"/>
                <a:cs typeface="Times New Roman" panose="02020603050405020304" charset="0"/>
              </a:rPr>
              <a:t>Future challenges</a:t>
            </a:r>
          </a:p>
        </p:txBody>
      </p:sp>
      <p:sp>
        <p:nvSpPr>
          <p:cNvPr id="6" name="TextBox 5"/>
          <p:cNvSpPr txBox="1"/>
          <p:nvPr/>
        </p:nvSpPr>
        <p:spPr>
          <a:xfrm>
            <a:off x="11635105" y="5939790"/>
            <a:ext cx="411480" cy="368300"/>
          </a:xfrm>
          <a:prstGeom prst="rect">
            <a:avLst/>
          </a:prstGeom>
          <a:noFill/>
        </p:spPr>
        <p:txBody>
          <a:bodyPr wrap="none">
            <a:spAutoFit/>
          </a:bodyPr>
          <a:lstStyle/>
          <a:p>
            <a:r>
              <a:rPr>
                <a:latin typeface="Times New Roman" panose="02020603050405020304" charset="0"/>
                <a:ea typeface="Times New Roman" panose="02020603050405020304" charset="0"/>
                <a:cs typeface="Times New Roman" panose="02020603050405020304" charset="0"/>
              </a:rPr>
              <a:t>1</a:t>
            </a:r>
            <a:r>
              <a:rPr lang="en-US" altLang="zh-CN">
                <a:latin typeface="Times New Roman" panose="02020603050405020304" charset="0"/>
                <a:ea typeface="Times New Roman" panose="02020603050405020304" charset="0"/>
                <a:cs typeface="Arial" panose="020B0604020202020204" pitchFamily="34" charset="0"/>
              </a:rPr>
              <a:t>8</a:t>
            </a:r>
            <a:endParaRPr>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latin typeface="Times New Roman" panose="02020603050405020304" charset="0"/>
                <a:ea typeface="Times New Roman" panose="02020603050405020304" charset="0"/>
                <a:cs typeface="Times New Roman" panose="02020603050405020304" charset="0"/>
              </a:rPr>
              <a:t>Reference</a:t>
            </a:r>
            <a:endParaRPr lang="en-US" altLang="zh-CN">
              <a:latin typeface="Times New Roman" panose="02020603050405020304" charset="0"/>
              <a:ea typeface="Times New Roman" panose="02020603050405020304" charset="0"/>
              <a:cs typeface="Times New Roman" panose="02020603050405020304" charset="0"/>
            </a:endParaRPr>
          </a:p>
        </p:txBody>
      </p:sp>
      <p:sp>
        <p:nvSpPr>
          <p:cNvPr id="3" name="内容占位符 2"/>
          <p:cNvSpPr>
            <a:spLocks noGrp="1"/>
          </p:cNvSpPr>
          <p:nvPr>
            <p:ph idx="1"/>
          </p:nvPr>
        </p:nvSpPr>
        <p:spPr>
          <a:xfrm>
            <a:off x="838177" y="1983597"/>
            <a:ext cx="10515600" cy="4404978"/>
          </a:xfrm>
        </p:spPr>
        <p:txBody>
          <a:bodyPr>
            <a:noAutofit/>
          </a:bodyPr>
          <a:lstStyle/>
          <a:p>
            <a:r>
              <a:rPr lang="en-US" altLang="zh-CN">
                <a:solidFill>
                  <a:schemeClr val="tx1"/>
                </a:solidFill>
                <a:latin typeface="Times New Roman" panose="02020603050405020304" charset="0"/>
                <a:ea typeface="Times New Roman" panose="02020603050405020304" charset="0"/>
                <a:cs typeface="Times New Roman" panose="02020603050405020304" charset="0"/>
              </a:rPr>
              <a:t>W. Yang et al., "Semantic Communications for Future Internet: Fundamentals, Applications, and Challenges," in IEEE Communications Surveys &amp; Tutorials, vol. 25, no. 1, pp. 213-250, Firstquarter 2023</a:t>
            </a:r>
          </a:p>
          <a:p>
            <a:r>
              <a:rPr lang="en-US" altLang="zh-CN">
                <a:solidFill>
                  <a:schemeClr val="tx1"/>
                </a:solidFill>
                <a:latin typeface="Times New Roman" panose="02020603050405020304" charset="0"/>
                <a:ea typeface="Times New Roman" panose="02020603050405020304" charset="0"/>
                <a:cs typeface="Times New Roman" panose="02020603050405020304" charset="0"/>
              </a:rPr>
              <a:t>D. Wheeler and B. Natarajan, "Engineering Semantic Communication: A Survey," in IEEE Access, vol. 11, pp. 13965</a:t>
            </a:r>
            <a:r>
              <a:rPr lang="zh-CN" altLang="en-US">
                <a:solidFill>
                  <a:schemeClr val="tx1"/>
                </a:solidFill>
                <a:latin typeface="Times New Roman" panose="02020603050405020304" charset="0"/>
                <a:ea typeface="Times New Roman" panose="02020603050405020304" charset="0"/>
                <a:cs typeface="Times New Roman" panose="02020603050405020304" charset="0"/>
              </a:rPr>
              <a:t>-</a:t>
            </a:r>
            <a:r>
              <a:rPr lang="en-US" altLang="zh-CN">
                <a:solidFill>
                  <a:schemeClr val="tx1"/>
                </a:solidFill>
                <a:latin typeface="Times New Roman" panose="02020603050405020304" charset="0"/>
                <a:ea typeface="Times New Roman" panose="02020603050405020304" charset="0"/>
                <a:cs typeface="Times New Roman" panose="02020603050405020304" charset="0"/>
              </a:rPr>
              <a:t>13995</a:t>
            </a:r>
          </a:p>
          <a:p>
            <a:r>
              <a:rPr lang="en-US" altLang="zh-CN">
                <a:solidFill>
                  <a:schemeClr val="tx1"/>
                </a:solidFill>
                <a:latin typeface="Times New Roman" panose="02020603050405020304" charset="0"/>
                <a:ea typeface="Times New Roman" panose="02020603050405020304" charset="0"/>
                <a:cs typeface="Times New Roman" panose="02020603050405020304" charset="0"/>
              </a:rPr>
              <a:t>M. Shen et al., "Secure Semantic Communications: Challenges, Approaches, and Opportunities," in IEEE Network, vol. 38, no. 4, pp. 197</a:t>
            </a:r>
            <a:r>
              <a:rPr lang="zh-CN" altLang="en-US">
                <a:solidFill>
                  <a:schemeClr val="tx1"/>
                </a:solidFill>
                <a:latin typeface="Times New Roman" panose="02020603050405020304" charset="0"/>
                <a:ea typeface="Times New Roman" panose="02020603050405020304" charset="0"/>
                <a:cs typeface="Times New Roman" panose="02020603050405020304" charset="0"/>
              </a:rPr>
              <a:t>-</a:t>
            </a:r>
            <a:r>
              <a:rPr lang="en-US" altLang="zh-CN">
                <a:solidFill>
                  <a:schemeClr val="tx1"/>
                </a:solidFill>
                <a:latin typeface="Times New Roman" panose="02020603050405020304" charset="0"/>
                <a:ea typeface="Times New Roman" panose="02020603050405020304" charset="0"/>
                <a:cs typeface="Times New Roman" panose="02020603050405020304" charset="0"/>
              </a:rPr>
              <a:t>206, July 2024</a:t>
            </a:r>
          </a:p>
          <a:p>
            <a:r>
              <a:rPr lang="en-US" altLang="zh-CN">
                <a:solidFill>
                  <a:schemeClr val="tx1"/>
                </a:solidFill>
                <a:latin typeface="Times New Roman" panose="02020603050405020304" charset="0"/>
                <a:ea typeface="Times New Roman" panose="02020603050405020304" charset="0"/>
                <a:cs typeface="Times New Roman" panose="02020603050405020304" charset="0"/>
              </a:rPr>
              <a:t>T. M. Getu, G. Kaddoum and M. Bennis, "A Survey on Goal</a:t>
            </a:r>
            <a:r>
              <a:rPr lang="zh-CN" altLang="en-US">
                <a:solidFill>
                  <a:schemeClr val="tx1"/>
                </a:solidFill>
                <a:latin typeface="Times New Roman" panose="02020603050405020304" charset="0"/>
                <a:ea typeface="Times New Roman" panose="02020603050405020304" charset="0"/>
                <a:cs typeface="Times New Roman" panose="02020603050405020304" charset="0"/>
              </a:rPr>
              <a:t>-</a:t>
            </a:r>
            <a:r>
              <a:rPr lang="en-US" altLang="zh-CN">
                <a:solidFill>
                  <a:schemeClr val="tx1"/>
                </a:solidFill>
                <a:latin typeface="Times New Roman" panose="02020603050405020304" charset="0"/>
                <a:ea typeface="Times New Roman" panose="02020603050405020304" charset="0"/>
                <a:cs typeface="Times New Roman" panose="02020603050405020304" charset="0"/>
              </a:rPr>
              <a:t>Oriented Semantic Communication: Techniques, Challenges, and Future Directions," in IEEE Access</a:t>
            </a:r>
          </a:p>
          <a:p>
            <a:r>
              <a:rPr lang="en-US" altLang="zh-CN">
                <a:latin typeface="Times New Roman" panose="02020603050405020304" charset="0"/>
                <a:ea typeface="Times New Roman" panose="02020603050405020304" charset="0"/>
                <a:cs typeface="Times New Roman" panose="02020603050405020304" charset="0"/>
              </a:rPr>
              <a:t>Z. Lu et al., "Semantics-Empowered Communications: A Tutorial-Cum-Survey," in IEEE Communications Surveys &amp; Tutorials, vol. 26, no. 1, pp. 41-79, Firstquarter 2024</a:t>
            </a:r>
          </a:p>
        </p:txBody>
      </p:sp>
      <p:sp>
        <p:nvSpPr>
          <p:cNvPr id="6" name="TextBox 5"/>
          <p:cNvSpPr txBox="1"/>
          <p:nvPr/>
        </p:nvSpPr>
        <p:spPr>
          <a:xfrm>
            <a:off x="11635105" y="5939790"/>
            <a:ext cx="411480" cy="368300"/>
          </a:xfrm>
          <a:prstGeom prst="rect">
            <a:avLst/>
          </a:prstGeom>
          <a:noFill/>
        </p:spPr>
        <p:txBody>
          <a:bodyPr wrap="none">
            <a:spAutoFit/>
          </a:bodyPr>
          <a:lstStyle/>
          <a:p>
            <a:r>
              <a:rPr>
                <a:solidFill>
                  <a:schemeClr val="tx1"/>
                </a:solidFill>
                <a:latin typeface="Times New Roman" panose="02020603050405020304" charset="0"/>
                <a:ea typeface="Times New Roman" panose="02020603050405020304" charset="0"/>
                <a:cs typeface="Times New Roman" panose="02020603050405020304" charset="0"/>
              </a:rPr>
              <a:t>2</a:t>
            </a:r>
            <a:r>
              <a:rPr lang="en-US" altLang="zh-CN">
                <a:solidFill>
                  <a:schemeClr val="tx1"/>
                </a:solidFill>
                <a:latin typeface="Times New Roman" panose="02020603050405020304" charset="0"/>
                <a:ea typeface="Times New Roman" panose="02020603050405020304" charset="0"/>
                <a:cs typeface="Arial" panose="020B0604020202020204" pitchFamily="34" charset="0"/>
              </a:rPr>
              <a:t>9</a:t>
            </a:r>
            <a:endParaRPr>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en-US" altLang="zh-CN" sz="4400">
                <a:solidFill>
                  <a:schemeClr val="tx1"/>
                </a:solidFill>
                <a:latin typeface="Times New Roman" panose="02020603050405020304" charset="0"/>
                <a:ea typeface="Times New Roman" panose="02020603050405020304" charset="0"/>
                <a:cs typeface="Times New Roman" panose="02020603050405020304" charset="0"/>
              </a:rPr>
              <a:t>Thank you!</a:t>
            </a:r>
            <a:endParaRPr lang="en-US" altLang="zh-CN">
              <a:latin typeface="Times New Roman" panose="02020603050405020304" charset="0"/>
              <a:ea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endParaRPr lang="zh-CN" altLang="en-US">
              <a:latin typeface="Times New Roman" panose="02020603050405020304" charset="0"/>
              <a:ea typeface="Times New Roman" panose="02020603050405020304" charset="0"/>
              <a:cs typeface="Times New Roman" panose="02020603050405020304" charset="0"/>
            </a:endParaRPr>
          </a:p>
        </p:txBody>
      </p:sp>
      <p:sp>
        <p:nvSpPr>
          <p:cNvPr id="6" name="TextBox 5"/>
          <p:cNvSpPr txBox="1"/>
          <p:nvPr/>
        </p:nvSpPr>
        <p:spPr>
          <a:xfrm>
            <a:off x="11635105" y="5939790"/>
            <a:ext cx="411480" cy="368300"/>
          </a:xfrm>
          <a:prstGeom prst="rect">
            <a:avLst/>
          </a:prstGeom>
          <a:noFill/>
        </p:spPr>
        <p:txBody>
          <a:bodyPr wrap="none">
            <a:spAutoFit/>
          </a:bodyPr>
          <a:lstStyle/>
          <a:p>
            <a:r>
              <a:rPr lang="en-US" altLang="zh-CN">
                <a:latin typeface="Times New Roman" panose="02020603050405020304" charset="0"/>
                <a:ea typeface="Times New Roman" panose="02020603050405020304" charset="0"/>
                <a:cs typeface="Times New Roman" panose="02020603050405020304" charset="0"/>
              </a:rPr>
              <a:t>2</a:t>
            </a:r>
            <a:r>
              <a:rPr lang="en-US" altLang="zh-CN">
                <a:latin typeface="Times New Roman" panose="02020603050405020304" charset="0"/>
                <a:ea typeface="Times New Roman" panose="02020603050405020304" charset="0"/>
                <a:cs typeface="Arial" panose="020B0604020202020204" pitchFamily="34" charset="0"/>
              </a:rPr>
              <a:t>0</a:t>
            </a:r>
            <a:endParaRPr>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1164</Words>
  <Application>Microsoft Macintosh PowerPoint</Application>
  <PresentationFormat>Widescreen</PresentationFormat>
  <Paragraphs>118</Paragraphs>
  <Slides>20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微软雅黑</vt:lpstr>
      <vt:lpstr>Arial</vt:lpstr>
      <vt:lpstr>Calibri</vt:lpstr>
      <vt:lpstr>Cambria Math</vt:lpstr>
      <vt:lpstr>Times New Roman</vt:lpstr>
      <vt:lpstr>Office 主题</vt:lpstr>
      <vt:lpstr>Semantic Communication: Fundamentals, Challenges and Future Directions</vt:lpstr>
      <vt:lpstr>Outline</vt:lpstr>
      <vt:lpstr>Introduction Technical Approaches Security Challenges Future Directions Conclusion</vt:lpstr>
      <vt:lpstr>Motivation</vt:lpstr>
      <vt:lpstr>What is Semantic Communication?</vt:lpstr>
      <vt:lpstr>Introduction Technical Approaches Security Challenges Future Directions Conclusion</vt:lpstr>
      <vt:lpstr>Technical Approaches</vt:lpstr>
      <vt:lpstr>Classical Semantic Information Theory</vt:lpstr>
      <vt:lpstr>Knowledge Graph-Based Semantic Communication</vt:lpstr>
      <vt:lpstr>Deep Learning-Based Semantic Communication</vt:lpstr>
      <vt:lpstr>Goal-Oriented Semantic Communication</vt:lpstr>
      <vt:lpstr>Introduction Technical Approaches Security Challenges Future Directions Conclusion</vt:lpstr>
      <vt:lpstr>Security Challenges in Semantic Communication</vt:lpstr>
      <vt:lpstr>Defense Strategies and Open Security Problems</vt:lpstr>
      <vt:lpstr>Introduction Technical Approaches Security Challenges Future Directions Conclusion</vt:lpstr>
      <vt:lpstr>Future Directions</vt:lpstr>
      <vt:lpstr>Introduction Technical Approaches Security Challenges Future Directions Conclusion</vt:lpstr>
      <vt:lpstr>Conclusion</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Communication: Fundamentals, Challenges and Future Directions</dc:title>
  <dc:creator/>
  <cp:lastModifiedBy>Dong Yang</cp:lastModifiedBy>
  <cp:revision>1</cp:revision>
  <dcterms:created xsi:type="dcterms:W3CDTF">2025-04-18T12:34:49Z</dcterms:created>
  <dcterms:modified xsi:type="dcterms:W3CDTF">2025-04-18T14:05:14Z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B75C98F4C40948689CB49D1002CA5FAC</vt:lpwstr>
  </property>
</Properties>
</file>