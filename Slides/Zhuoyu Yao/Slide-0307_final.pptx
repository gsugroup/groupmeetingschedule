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 id="2147483669" r:id="rId2"/>
    <p:sldMasterId id="2147483682" r:id="rId3"/>
    <p:sldMasterId id="2147483695" r:id="rId4"/>
    <p:sldMasterId id="2147483704" r:id="rId5"/>
    <p:sldMasterId id="2147483717" r:id="rId6"/>
  </p:sldMasterIdLst>
  <p:notesMasterIdLst>
    <p:notesMasterId r:id="rId40"/>
  </p:notesMasterIdLst>
  <p:sldIdLst>
    <p:sldId id="256" r:id="rId7"/>
    <p:sldId id="257" r:id="rId8"/>
    <p:sldId id="264" r:id="rId9"/>
    <p:sldId id="1809" r:id="rId10"/>
    <p:sldId id="1815" r:id="rId11"/>
    <p:sldId id="1799" r:id="rId12"/>
    <p:sldId id="1803" r:id="rId13"/>
    <p:sldId id="1824" r:id="rId14"/>
    <p:sldId id="1823" r:id="rId15"/>
    <p:sldId id="1812" r:id="rId16"/>
    <p:sldId id="1816" r:id="rId17"/>
    <p:sldId id="1826" r:id="rId18"/>
    <p:sldId id="1825" r:id="rId19"/>
    <p:sldId id="1804" r:id="rId20"/>
    <p:sldId id="265" r:id="rId21"/>
    <p:sldId id="1827" r:id="rId22"/>
    <p:sldId id="289" r:id="rId23"/>
    <p:sldId id="281" r:id="rId24"/>
    <p:sldId id="1814" r:id="rId25"/>
    <p:sldId id="1828" r:id="rId26"/>
    <p:sldId id="1805" r:id="rId27"/>
    <p:sldId id="1818" r:id="rId28"/>
    <p:sldId id="1829" r:id="rId29"/>
    <p:sldId id="1830" r:id="rId30"/>
    <p:sldId id="1807" r:id="rId31"/>
    <p:sldId id="1831" r:id="rId32"/>
    <p:sldId id="1820" r:id="rId33"/>
    <p:sldId id="1806" r:id="rId34"/>
    <p:sldId id="1821" r:id="rId35"/>
    <p:sldId id="286" r:id="rId36"/>
    <p:sldId id="1822" r:id="rId37"/>
    <p:sldId id="266" r:id="rId38"/>
    <p:sldId id="1832" r:id="rId39"/>
  </p:sldIdLst>
  <p:sldSz cx="12192000" cy="6858000"/>
  <p:notesSz cx="6858000" cy="9144000"/>
  <p:defaultTextStyle>
    <a:defPPr>
      <a:defRPr lang="en-US"/>
    </a:defPPr>
    <a:lvl1pPr algn="l" rtl="0" eaLnBrk="0" fontAlgn="base" hangingPunct="0">
      <a:spcBef>
        <a:spcPct val="0"/>
      </a:spcBef>
      <a:spcAft>
        <a:spcPct val="0"/>
      </a:spcAft>
      <a:defRPr i="1" kern="1200">
        <a:solidFill>
          <a:schemeClr val="tx1"/>
        </a:solidFill>
        <a:latin typeface="Arial" charset="0"/>
        <a:ea typeface="ＭＳ Ｐゴシック" pitchFamily="-107" charset="-128"/>
        <a:cs typeface="+mn-cs"/>
      </a:defRPr>
    </a:lvl1pPr>
    <a:lvl2pPr marL="457200" algn="l" rtl="0" eaLnBrk="0" fontAlgn="base" hangingPunct="0">
      <a:spcBef>
        <a:spcPct val="0"/>
      </a:spcBef>
      <a:spcAft>
        <a:spcPct val="0"/>
      </a:spcAft>
      <a:defRPr i="1" kern="1200">
        <a:solidFill>
          <a:schemeClr val="tx1"/>
        </a:solidFill>
        <a:latin typeface="Arial" charset="0"/>
        <a:ea typeface="ＭＳ Ｐゴシック" pitchFamily="-107" charset="-128"/>
        <a:cs typeface="+mn-cs"/>
      </a:defRPr>
    </a:lvl2pPr>
    <a:lvl3pPr marL="914400" algn="l" rtl="0" eaLnBrk="0" fontAlgn="base" hangingPunct="0">
      <a:spcBef>
        <a:spcPct val="0"/>
      </a:spcBef>
      <a:spcAft>
        <a:spcPct val="0"/>
      </a:spcAft>
      <a:defRPr i="1" kern="1200">
        <a:solidFill>
          <a:schemeClr val="tx1"/>
        </a:solidFill>
        <a:latin typeface="Arial" charset="0"/>
        <a:ea typeface="ＭＳ Ｐゴシック" pitchFamily="-107" charset="-128"/>
        <a:cs typeface="+mn-cs"/>
      </a:defRPr>
    </a:lvl3pPr>
    <a:lvl4pPr marL="1371600" algn="l" rtl="0" eaLnBrk="0" fontAlgn="base" hangingPunct="0">
      <a:spcBef>
        <a:spcPct val="0"/>
      </a:spcBef>
      <a:spcAft>
        <a:spcPct val="0"/>
      </a:spcAft>
      <a:defRPr i="1" kern="1200">
        <a:solidFill>
          <a:schemeClr val="tx1"/>
        </a:solidFill>
        <a:latin typeface="Arial" charset="0"/>
        <a:ea typeface="ＭＳ Ｐゴシック" pitchFamily="-107" charset="-128"/>
        <a:cs typeface="+mn-cs"/>
      </a:defRPr>
    </a:lvl4pPr>
    <a:lvl5pPr marL="1828800" algn="l" rtl="0" eaLnBrk="0" fontAlgn="base" hangingPunct="0">
      <a:spcBef>
        <a:spcPct val="0"/>
      </a:spcBef>
      <a:spcAft>
        <a:spcPct val="0"/>
      </a:spcAft>
      <a:defRPr i="1" kern="1200">
        <a:solidFill>
          <a:schemeClr val="tx1"/>
        </a:solidFill>
        <a:latin typeface="Arial" charset="0"/>
        <a:ea typeface="ＭＳ Ｐゴシック" pitchFamily="-107" charset="-128"/>
        <a:cs typeface="+mn-cs"/>
      </a:defRPr>
    </a:lvl5pPr>
    <a:lvl6pPr marL="2286000" algn="l" defTabSz="914400" rtl="0" eaLnBrk="1" latinLnBrk="0" hangingPunct="1">
      <a:defRPr i="1" kern="1200">
        <a:solidFill>
          <a:schemeClr val="tx1"/>
        </a:solidFill>
        <a:latin typeface="Arial" charset="0"/>
        <a:ea typeface="ＭＳ Ｐゴシック" pitchFamily="-107" charset="-128"/>
        <a:cs typeface="+mn-cs"/>
      </a:defRPr>
    </a:lvl6pPr>
    <a:lvl7pPr marL="2743200" algn="l" defTabSz="914400" rtl="0" eaLnBrk="1" latinLnBrk="0" hangingPunct="1">
      <a:defRPr i="1" kern="1200">
        <a:solidFill>
          <a:schemeClr val="tx1"/>
        </a:solidFill>
        <a:latin typeface="Arial" charset="0"/>
        <a:ea typeface="ＭＳ Ｐゴシック" pitchFamily="-107" charset="-128"/>
        <a:cs typeface="+mn-cs"/>
      </a:defRPr>
    </a:lvl7pPr>
    <a:lvl8pPr marL="3200400" algn="l" defTabSz="914400" rtl="0" eaLnBrk="1" latinLnBrk="0" hangingPunct="1">
      <a:defRPr i="1" kern="1200">
        <a:solidFill>
          <a:schemeClr val="tx1"/>
        </a:solidFill>
        <a:latin typeface="Arial" charset="0"/>
        <a:ea typeface="ＭＳ Ｐゴシック" pitchFamily="-107" charset="-128"/>
        <a:cs typeface="+mn-cs"/>
      </a:defRPr>
    </a:lvl8pPr>
    <a:lvl9pPr marL="3657600" algn="l" defTabSz="914400" rtl="0" eaLnBrk="1" latinLnBrk="0" hangingPunct="1">
      <a:defRPr i="1" kern="1200">
        <a:solidFill>
          <a:schemeClr val="tx1"/>
        </a:solidFill>
        <a:latin typeface="Arial" charset="0"/>
        <a:ea typeface="ＭＳ Ｐゴシック" pitchFamily="-107" charset="-128"/>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CC99"/>
    <a:srgbClr val="6F5942"/>
    <a:srgbClr val="FFCCCC"/>
    <a:srgbClr val="3333FF"/>
    <a:srgbClr val="0000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58"/>
    <p:restoredTop sz="80632" autoAdjust="0"/>
  </p:normalViewPr>
  <p:slideViewPr>
    <p:cSldViewPr snapToGrid="0">
      <p:cViewPr varScale="1">
        <p:scale>
          <a:sx n="91" d="100"/>
          <a:sy n="91" d="100"/>
        </p:scale>
        <p:origin x="828" y="60"/>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5" Type="http://schemas.openxmlformats.org/officeDocument/2006/relationships/image" Target="../media/image78.wmf"/><Relationship Id="rId4" Type="http://schemas.openxmlformats.org/officeDocument/2006/relationships/image" Target="../media/image7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1.wmf"/><Relationship Id="rId7" Type="http://schemas.openxmlformats.org/officeDocument/2006/relationships/image" Target="../media/image82.wmf"/><Relationship Id="rId2" Type="http://schemas.openxmlformats.org/officeDocument/2006/relationships/image" Target="../media/image80.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A0A1F-A3EE-5646-B894-8ADEFCA2BDDE}" type="datetimeFigureOut">
              <a:rPr lang="en-US" smtClean="0"/>
              <a:t>3/6/2025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2A9D3-0D19-6F43-AADD-953190CECF30}" type="slidenum">
              <a:rPr lang="en-US" smtClean="0"/>
              <a:t>‹#›</a:t>
            </a:fld>
            <a:endParaRPr lang="en-US"/>
          </a:p>
        </p:txBody>
      </p:sp>
    </p:spTree>
    <p:extLst>
      <p:ext uri="{BB962C8B-B14F-4D97-AF65-F5344CB8AC3E}">
        <p14:creationId xmlns:p14="http://schemas.microsoft.com/office/powerpoint/2010/main" val="2576783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Hello </a:t>
            </a:r>
            <a:endParaRPr lang="en-US" dirty="0"/>
          </a:p>
        </p:txBody>
      </p:sp>
      <p:sp>
        <p:nvSpPr>
          <p:cNvPr id="4" name="Slide Number Placeholder 3"/>
          <p:cNvSpPr>
            <a:spLocks noGrp="1"/>
          </p:cNvSpPr>
          <p:nvPr>
            <p:ph type="sldNum" sz="quarter" idx="5"/>
          </p:nvPr>
        </p:nvSpPr>
        <p:spPr/>
        <p:txBody>
          <a:bodyPr/>
          <a:lstStyle/>
          <a:p>
            <a:fld id="{F402A9D3-0D19-6F43-AADD-953190CECF30}" type="slidenum">
              <a:rPr lang="en-US" smtClean="0"/>
              <a:t>0</a:t>
            </a:fld>
            <a:endParaRPr lang="en-US"/>
          </a:p>
        </p:txBody>
      </p:sp>
    </p:spTree>
    <p:extLst>
      <p:ext uri="{BB962C8B-B14F-4D97-AF65-F5344CB8AC3E}">
        <p14:creationId xmlns:p14="http://schemas.microsoft.com/office/powerpoint/2010/main" val="764345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a:t>
            </a:fld>
            <a:endParaRPr lang="en-US"/>
          </a:p>
        </p:txBody>
      </p:sp>
    </p:spTree>
    <p:extLst>
      <p:ext uri="{BB962C8B-B14F-4D97-AF65-F5344CB8AC3E}">
        <p14:creationId xmlns:p14="http://schemas.microsoft.com/office/powerpoint/2010/main" val="3038232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Because of the expensive cost of data aggregation, researchers introduce distributed ML</a:t>
            </a:r>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3</a:t>
            </a:fld>
            <a:endParaRPr lang="en-US"/>
          </a:p>
        </p:txBody>
      </p:sp>
    </p:spTree>
    <p:extLst>
      <p:ext uri="{BB962C8B-B14F-4D97-AF65-F5344CB8AC3E}">
        <p14:creationId xmlns:p14="http://schemas.microsoft.com/office/powerpoint/2010/main" val="3040135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4</a:t>
            </a:fld>
            <a:endParaRPr lang="en-US"/>
          </a:p>
        </p:txBody>
      </p:sp>
    </p:spTree>
    <p:extLst>
      <p:ext uri="{BB962C8B-B14F-4D97-AF65-F5344CB8AC3E}">
        <p14:creationId xmlns:p14="http://schemas.microsoft.com/office/powerpoint/2010/main" val="27986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5</a:t>
            </a:fld>
            <a:endParaRPr lang="en-US"/>
          </a:p>
        </p:txBody>
      </p:sp>
    </p:spTree>
    <p:extLst>
      <p:ext uri="{BB962C8B-B14F-4D97-AF65-F5344CB8AC3E}">
        <p14:creationId xmlns:p14="http://schemas.microsoft.com/office/powerpoint/2010/main" val="1130082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Covariate shift the distribution is different between train set and test 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Prior probability shift the labels is different between train set and test 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Concept shift the mapping function is different between train set and test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F402A9D3-0D19-6F43-AADD-953190CECF30}" type="slidenum">
              <a:rPr lang="en-US" smtClean="0"/>
              <a:t>7</a:t>
            </a:fld>
            <a:endParaRPr lang="en-US"/>
          </a:p>
        </p:txBody>
      </p:sp>
    </p:spTree>
    <p:extLst>
      <p:ext uri="{BB962C8B-B14F-4D97-AF65-F5344CB8AC3E}">
        <p14:creationId xmlns:p14="http://schemas.microsoft.com/office/powerpoint/2010/main" val="1526166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 reporting fraction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F402A9D3-0D19-6F43-AADD-953190CECF30}" type="slidenum">
              <a:rPr lang="en-US" smtClean="0"/>
              <a:t>8</a:t>
            </a:fld>
            <a:endParaRPr lang="en-US"/>
          </a:p>
        </p:txBody>
      </p:sp>
    </p:spTree>
    <p:extLst>
      <p:ext uri="{BB962C8B-B14F-4D97-AF65-F5344CB8AC3E}">
        <p14:creationId xmlns:p14="http://schemas.microsoft.com/office/powerpoint/2010/main" val="3478737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9</a:t>
            </a:fld>
            <a:endParaRPr lang="en-US"/>
          </a:p>
        </p:txBody>
      </p:sp>
    </p:spTree>
    <p:extLst>
      <p:ext uri="{BB962C8B-B14F-4D97-AF65-F5344CB8AC3E}">
        <p14:creationId xmlns:p14="http://schemas.microsoft.com/office/powerpoint/2010/main" val="3793288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10</a:t>
            </a:fld>
            <a:endParaRPr lang="en-US"/>
          </a:p>
        </p:txBody>
      </p:sp>
    </p:spTree>
    <p:extLst>
      <p:ext uri="{BB962C8B-B14F-4D97-AF65-F5344CB8AC3E}">
        <p14:creationId xmlns:p14="http://schemas.microsoft.com/office/powerpoint/2010/main" val="4050270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11</a:t>
            </a:fld>
            <a:endParaRPr lang="en-US"/>
          </a:p>
        </p:txBody>
      </p:sp>
    </p:spTree>
    <p:extLst>
      <p:ext uri="{BB962C8B-B14F-4D97-AF65-F5344CB8AC3E}">
        <p14:creationId xmlns:p14="http://schemas.microsoft.com/office/powerpoint/2010/main" val="316131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researcher summarize the pros and cons of FL and PSO, try to use both of them to solve distributed problems. The original DSL structure is as the right image. Differ from the federated learning, DSL has some better worker group, this group is different in each communication round. Only better worker could upload param. </a:t>
            </a:r>
          </a:p>
        </p:txBody>
      </p:sp>
      <p:sp>
        <p:nvSpPr>
          <p:cNvPr id="4" name="灯片编号占位符 3"/>
          <p:cNvSpPr>
            <a:spLocks noGrp="1"/>
          </p:cNvSpPr>
          <p:nvPr>
            <p:ph type="sldNum" sz="quarter" idx="5"/>
          </p:nvPr>
        </p:nvSpPr>
        <p:spPr/>
        <p:txBody>
          <a:bodyPr/>
          <a:lstStyle/>
          <a:p>
            <a:fld id="{F402A9D3-0D19-6F43-AADD-953190CECF30}" type="slidenum">
              <a:rPr lang="en-US" smtClean="0"/>
              <a:t>12</a:t>
            </a:fld>
            <a:endParaRPr lang="en-US"/>
          </a:p>
        </p:txBody>
      </p:sp>
    </p:spTree>
    <p:extLst>
      <p:ext uri="{BB962C8B-B14F-4D97-AF65-F5344CB8AC3E}">
        <p14:creationId xmlns:p14="http://schemas.microsoft.com/office/powerpoint/2010/main" val="1201993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15</a:t>
            </a:fld>
            <a:endParaRPr lang="en-US"/>
          </a:p>
        </p:txBody>
      </p:sp>
    </p:spTree>
    <p:extLst>
      <p:ext uri="{BB962C8B-B14F-4D97-AF65-F5344CB8AC3E}">
        <p14:creationId xmlns:p14="http://schemas.microsoft.com/office/powerpoint/2010/main" val="3686210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16</a:t>
            </a:fld>
            <a:endParaRPr lang="en-US"/>
          </a:p>
        </p:txBody>
      </p:sp>
    </p:spTree>
    <p:extLst>
      <p:ext uri="{BB962C8B-B14F-4D97-AF65-F5344CB8AC3E}">
        <p14:creationId xmlns:p14="http://schemas.microsoft.com/office/powerpoint/2010/main" val="2525294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kern="0" dirty="0">
                <a:latin typeface="+mj-lt"/>
              </a:rPr>
              <a:t>H channel vector, b transmitter scalar, m receiver beam forming vector</a:t>
            </a:r>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17</a:t>
            </a:fld>
            <a:endParaRPr lang="en-US"/>
          </a:p>
        </p:txBody>
      </p:sp>
    </p:spTree>
    <p:extLst>
      <p:ext uri="{BB962C8B-B14F-4D97-AF65-F5344CB8AC3E}">
        <p14:creationId xmlns:p14="http://schemas.microsoft.com/office/powerpoint/2010/main" val="3662372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18</a:t>
            </a:fld>
            <a:endParaRPr lang="en-US"/>
          </a:p>
        </p:txBody>
      </p:sp>
    </p:spTree>
    <p:extLst>
      <p:ext uri="{BB962C8B-B14F-4D97-AF65-F5344CB8AC3E}">
        <p14:creationId xmlns:p14="http://schemas.microsoft.com/office/powerpoint/2010/main" val="832048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19</a:t>
            </a:fld>
            <a:endParaRPr lang="en-US"/>
          </a:p>
        </p:txBody>
      </p:sp>
    </p:spTree>
    <p:extLst>
      <p:ext uri="{BB962C8B-B14F-4D97-AF65-F5344CB8AC3E}">
        <p14:creationId xmlns:p14="http://schemas.microsoft.com/office/powerpoint/2010/main" val="1905429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21</a:t>
            </a:fld>
            <a:endParaRPr lang="en-US"/>
          </a:p>
        </p:txBody>
      </p:sp>
    </p:spTree>
    <p:extLst>
      <p:ext uri="{BB962C8B-B14F-4D97-AF65-F5344CB8AC3E}">
        <p14:creationId xmlns:p14="http://schemas.microsoft.com/office/powerpoint/2010/main" val="399273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22</a:t>
            </a:fld>
            <a:endParaRPr lang="en-US"/>
          </a:p>
        </p:txBody>
      </p:sp>
    </p:spTree>
    <p:extLst>
      <p:ext uri="{BB962C8B-B14F-4D97-AF65-F5344CB8AC3E}">
        <p14:creationId xmlns:p14="http://schemas.microsoft.com/office/powerpoint/2010/main" val="1554225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23</a:t>
            </a:fld>
            <a:endParaRPr lang="en-US"/>
          </a:p>
        </p:txBody>
      </p:sp>
    </p:spTree>
    <p:extLst>
      <p:ext uri="{BB962C8B-B14F-4D97-AF65-F5344CB8AC3E}">
        <p14:creationId xmlns:p14="http://schemas.microsoft.com/office/powerpoint/2010/main" val="526000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24</a:t>
            </a:fld>
            <a:endParaRPr lang="en-US"/>
          </a:p>
        </p:txBody>
      </p:sp>
    </p:spTree>
    <p:extLst>
      <p:ext uri="{BB962C8B-B14F-4D97-AF65-F5344CB8AC3E}">
        <p14:creationId xmlns:p14="http://schemas.microsoft.com/office/powerpoint/2010/main" val="20972545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25</a:t>
            </a:fld>
            <a:endParaRPr lang="en-US"/>
          </a:p>
        </p:txBody>
      </p:sp>
    </p:spTree>
    <p:extLst>
      <p:ext uri="{BB962C8B-B14F-4D97-AF65-F5344CB8AC3E}">
        <p14:creationId xmlns:p14="http://schemas.microsoft.com/office/powerpoint/2010/main" val="3030768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26</a:t>
            </a:fld>
            <a:endParaRPr lang="en-US"/>
          </a:p>
        </p:txBody>
      </p:sp>
    </p:spTree>
    <p:extLst>
      <p:ext uri="{BB962C8B-B14F-4D97-AF65-F5344CB8AC3E}">
        <p14:creationId xmlns:p14="http://schemas.microsoft.com/office/powerpoint/2010/main" val="3898070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28</a:t>
            </a:fld>
            <a:endParaRPr lang="en-US"/>
          </a:p>
        </p:txBody>
      </p:sp>
    </p:spTree>
    <p:extLst>
      <p:ext uri="{BB962C8B-B14F-4D97-AF65-F5344CB8AC3E}">
        <p14:creationId xmlns:p14="http://schemas.microsoft.com/office/powerpoint/2010/main" val="658523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29</a:t>
            </a:fld>
            <a:endParaRPr lang="en-US"/>
          </a:p>
        </p:txBody>
      </p:sp>
    </p:spTree>
    <p:extLst>
      <p:ext uri="{BB962C8B-B14F-4D97-AF65-F5344CB8AC3E}">
        <p14:creationId xmlns:p14="http://schemas.microsoft.com/office/powerpoint/2010/main" val="26031649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F402A9D3-0D19-6F43-AADD-953190CECF30}" type="slidenum">
              <a:rPr lang="en-US" smtClean="0"/>
              <a:t>30</a:t>
            </a:fld>
            <a:endParaRPr lang="en-US"/>
          </a:p>
        </p:txBody>
      </p:sp>
    </p:spTree>
    <p:extLst>
      <p:ext uri="{BB962C8B-B14F-4D97-AF65-F5344CB8AC3E}">
        <p14:creationId xmlns:p14="http://schemas.microsoft.com/office/powerpoint/2010/main" val="1130082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Covariate shift the distribution is different between train set and test 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Prior probability shift the labels is different between train set and test 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Concept shift the mapping function is different between train set and test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F402A9D3-0D19-6F43-AADD-953190CECF30}" type="slidenum">
              <a:rPr lang="en-US" smtClean="0"/>
              <a:t>32</a:t>
            </a:fld>
            <a:endParaRPr lang="en-US"/>
          </a:p>
        </p:txBody>
      </p:sp>
    </p:spTree>
    <p:extLst>
      <p:ext uri="{BB962C8B-B14F-4D97-AF65-F5344CB8AC3E}">
        <p14:creationId xmlns:p14="http://schemas.microsoft.com/office/powerpoint/2010/main" val="3102405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403" name="Rectangle 19"/>
          <p:cNvSpPr>
            <a:spLocks noGrp="1" noChangeArrowheads="1"/>
          </p:cNvSpPr>
          <p:nvPr>
            <p:ph type="ctrTitle"/>
          </p:nvPr>
        </p:nvSpPr>
        <p:spPr>
          <a:xfrm>
            <a:off x="3860800" y="1447800"/>
            <a:ext cx="8026400" cy="2209800"/>
          </a:xfrm>
        </p:spPr>
        <p:txBody>
          <a:bodyPr/>
          <a:lstStyle>
            <a:lvl1pPr algn="r">
              <a:defRPr sz="4200">
                <a:solidFill>
                  <a:srgbClr val="FFFFFF"/>
                </a:solidFill>
              </a:defRPr>
            </a:lvl1pPr>
          </a:lstStyle>
          <a:p>
            <a:r>
              <a:rPr lang="zh-CN" altLang="en-US"/>
              <a:t>单击此处编辑母版标题样式</a:t>
            </a:r>
            <a:endParaRPr lang="en-US"/>
          </a:p>
        </p:txBody>
      </p:sp>
      <p:sp>
        <p:nvSpPr>
          <p:cNvPr id="16404" name="Rectangle 20"/>
          <p:cNvSpPr>
            <a:spLocks noGrp="1" noChangeArrowheads="1"/>
          </p:cNvSpPr>
          <p:nvPr>
            <p:ph type="subTitle" idx="1"/>
          </p:nvPr>
        </p:nvSpPr>
        <p:spPr>
          <a:xfrm>
            <a:off x="3759200" y="4114800"/>
            <a:ext cx="8026400" cy="1752600"/>
          </a:xfrm>
        </p:spPr>
        <p:txBody>
          <a:bodyPr/>
          <a:lstStyle>
            <a:lvl1pPr marL="0" indent="0" algn="ctr">
              <a:buFont typeface="Wingdings" pitchFamily="2" charset="2"/>
              <a:buNone/>
              <a:defRPr sz="2600"/>
            </a:lvl1pPr>
          </a:lstStyle>
          <a:p>
            <a:r>
              <a:rPr lang="zh-CN" altLang="en-US"/>
              <a:t>单击此处编辑母版副标题样式</a:t>
            </a:r>
            <a:endParaRPr lang="en-US"/>
          </a:p>
        </p:txBody>
      </p:sp>
    </p:spTree>
    <p:extLst>
      <p:ext uri="{BB962C8B-B14F-4D97-AF65-F5344CB8AC3E}">
        <p14:creationId xmlns:p14="http://schemas.microsoft.com/office/powerpoint/2010/main" val="44390511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Rectangle 45"/>
          <p:cNvSpPr>
            <a:spLocks noChangeArrowheads="1"/>
          </p:cNvSpPr>
          <p:nvPr/>
        </p:nvSpPr>
        <p:spPr bwMode="hidden">
          <a:xfrm>
            <a:off x="0" y="0"/>
            <a:ext cx="4673600" cy="685800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i="0">
              <a:latin typeface="Times New Roman" pitchFamily="18" charset="0"/>
              <a:ea typeface="+mn-ea"/>
              <a:cs typeface="+mn-cs"/>
            </a:endParaRPr>
          </a:p>
        </p:txBody>
      </p:sp>
      <p:sp>
        <p:nvSpPr>
          <p:cNvPr id="2" name="Title 1"/>
          <p:cNvSpPr>
            <a:spLocks noGrp="1"/>
          </p:cNvSpPr>
          <p:nvPr>
            <p:ph type="title"/>
          </p:nvPr>
        </p:nvSpPr>
        <p:spPr>
          <a:xfrm>
            <a:off x="406400" y="228600"/>
            <a:ext cx="11379200" cy="762000"/>
          </a:xfrm>
        </p:spPr>
        <p:txBody>
          <a:bodyPr/>
          <a:lstStyle>
            <a:lvl1pPr>
              <a:defRPr>
                <a:latin typeface="+mj-lt"/>
                <a:cs typeface="Arial"/>
              </a:defRPr>
            </a:lvl1pPr>
          </a:lstStyle>
          <a:p>
            <a:r>
              <a:rPr lang="zh-CN" altLang="en-US"/>
              <a:t>单击此处编辑母版标题样式</a:t>
            </a:r>
            <a:endParaRPr lang="en-US"/>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sz="2000">
                <a:latin typeface="+mn-lt"/>
                <a:cs typeface="Arial"/>
              </a:defRPr>
            </a:lvl3pPr>
            <a:lvl4pPr>
              <a:defRPr sz="2000">
                <a:latin typeface="+mn-lt"/>
                <a:cs typeface="Arial"/>
              </a:defRPr>
            </a:lvl4pPr>
            <a:lvl5pPr>
              <a:defRPr sz="2000">
                <a:latin typeface="+mn-lt"/>
                <a:cs typeface="Aria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16"/>
          <p:cNvSpPr>
            <a:spLocks noGrp="1" noChangeArrowheads="1"/>
          </p:cNvSpPr>
          <p:nvPr>
            <p:ph type="dt" sz="half" idx="12"/>
          </p:nvPr>
        </p:nvSpPr>
        <p:spPr>
          <a:ln/>
        </p:spPr>
        <p:txBody>
          <a:bodyPr/>
          <a:lstStyle>
            <a:lvl1pPr>
              <a:defRPr/>
            </a:lvl1pPr>
          </a:lstStyle>
          <a:p>
            <a:fld id="{B88349B0-1CCA-694E-A180-DA835B016E06}" type="datetime1">
              <a:rPr lang="en-US" altLang="zh-CN" smtClean="0"/>
              <a:t>3/6/2025</a:t>
            </a:fld>
            <a:endParaRPr lang="zh-CN" altLang="en-US"/>
          </a:p>
        </p:txBody>
      </p:sp>
      <p:grpSp>
        <p:nvGrpSpPr>
          <p:cNvPr id="11" name="Group 41"/>
          <p:cNvGrpSpPr>
            <a:grpSpLocks/>
          </p:cNvGrpSpPr>
          <p:nvPr/>
        </p:nvGrpSpPr>
        <p:grpSpPr bwMode="auto">
          <a:xfrm>
            <a:off x="0" y="6477000"/>
            <a:ext cx="12192000" cy="381000"/>
            <a:chOff x="0" y="2880"/>
            <a:chExt cx="5760" cy="344"/>
          </a:xfrm>
        </p:grpSpPr>
        <p:sp>
          <p:nvSpPr>
            <p:cNvPr id="12" name="Rectangle 32"/>
            <p:cNvSpPr>
              <a:spLocks noChangeArrowheads="1"/>
            </p:cNvSpPr>
            <p:nvPr/>
          </p:nvSpPr>
          <p:spPr bwMode="auto">
            <a:xfrm rot="10800000">
              <a:off x="5580" y="2889"/>
              <a:ext cx="180" cy="335"/>
            </a:xfrm>
            <a:prstGeom prst="rect">
              <a:avLst/>
            </a:prstGeom>
            <a:gradFill rotWithShape="0">
              <a:gsLst>
                <a:gs pos="0">
                  <a:schemeClr val="folHlink"/>
                </a:gs>
                <a:gs pos="100000">
                  <a:schemeClr val="bg1"/>
                </a:gs>
              </a:gsLst>
              <a:lin ang="0" scaled="1"/>
            </a:gradFill>
            <a:ln w="9525">
              <a:noFill/>
              <a:miter lim="800000"/>
              <a:headEnd/>
              <a:tailEnd/>
            </a:ln>
            <a:effectLst/>
          </p:spPr>
          <p:txBody>
            <a:bodyPr rot="10800000" wrap="none" anchor="ctr"/>
            <a:lstStyle/>
            <a:p>
              <a:pPr algn="ctr" eaLnBrk="1" hangingPunct="1">
                <a:defRPr/>
              </a:pPr>
              <a:endParaRPr lang="en-US" sz="2400" i="0">
                <a:latin typeface="Times New Roman" pitchFamily="18" charset="0"/>
                <a:ea typeface="+mn-ea"/>
                <a:cs typeface="+mn-cs"/>
              </a:endParaRPr>
            </a:p>
          </p:txBody>
        </p:sp>
        <p:sp>
          <p:nvSpPr>
            <p:cNvPr id="13" name="Rectangle 33"/>
            <p:cNvSpPr>
              <a:spLocks noChangeArrowheads="1"/>
            </p:cNvSpPr>
            <p:nvPr/>
          </p:nvSpPr>
          <p:spPr bwMode="auto">
            <a:xfrm rot="10800000">
              <a:off x="0" y="3072"/>
              <a:ext cx="5500" cy="143"/>
            </a:xfrm>
            <a:prstGeom prst="rect">
              <a:avLst/>
            </a:prstGeom>
            <a:gradFill rotWithShape="0">
              <a:gsLst>
                <a:gs pos="0">
                  <a:schemeClr val="bg2"/>
                </a:gs>
                <a:gs pos="100000">
                  <a:schemeClr val="bg1"/>
                </a:gs>
              </a:gsLst>
              <a:lin ang="0" scaled="1"/>
            </a:gradFill>
            <a:ln w="9525">
              <a:noFill/>
              <a:miter lim="800000"/>
              <a:headEnd/>
              <a:tailEnd/>
            </a:ln>
          </p:spPr>
          <p:txBody>
            <a:bodyPr rot="10800000"/>
            <a:lstStyle/>
            <a:p>
              <a:pPr eaLnBrk="1" hangingPunct="1">
                <a:defRPr/>
              </a:pPr>
              <a:endParaRPr lang="en-US" sz="2400" i="0">
                <a:latin typeface="Times New Roman" pitchFamily="18" charset="0"/>
                <a:ea typeface="+mn-ea"/>
                <a:cs typeface="+mn-cs"/>
              </a:endParaRPr>
            </a:p>
          </p:txBody>
        </p:sp>
        <p:sp>
          <p:nvSpPr>
            <p:cNvPr id="14" name="Rectangle 34"/>
            <p:cNvSpPr>
              <a:spLocks noChangeArrowheads="1"/>
            </p:cNvSpPr>
            <p:nvPr/>
          </p:nvSpPr>
          <p:spPr bwMode="auto">
            <a:xfrm rot="10800000">
              <a:off x="5414" y="3049"/>
              <a:ext cx="87" cy="89"/>
            </a:xfrm>
            <a:prstGeom prst="rect">
              <a:avLst/>
            </a:prstGeom>
            <a:solidFill>
              <a:schemeClr val="folHlink"/>
            </a:solidFill>
            <a:ln w="9525">
              <a:noFill/>
              <a:miter lim="800000"/>
              <a:headEnd/>
              <a:tailEnd/>
            </a:ln>
          </p:spPr>
          <p:txBody>
            <a:bodyPr rot="10800000"/>
            <a:lstStyle/>
            <a:p>
              <a:pPr eaLnBrk="1" hangingPunct="1">
                <a:defRPr/>
              </a:pPr>
              <a:endParaRPr lang="en-US" sz="1800" i="0">
                <a:solidFill>
                  <a:schemeClr val="hlink"/>
                </a:solidFill>
                <a:latin typeface="Arial" charset="0"/>
                <a:ea typeface="+mn-ea"/>
                <a:cs typeface="+mn-cs"/>
              </a:endParaRPr>
            </a:p>
          </p:txBody>
        </p:sp>
        <p:sp>
          <p:nvSpPr>
            <p:cNvPr id="15" name="Rectangle 35"/>
            <p:cNvSpPr>
              <a:spLocks noChangeArrowheads="1"/>
            </p:cNvSpPr>
            <p:nvPr/>
          </p:nvSpPr>
          <p:spPr bwMode="auto">
            <a:xfrm rot="10800000">
              <a:off x="5327" y="3137"/>
              <a:ext cx="88" cy="86"/>
            </a:xfrm>
            <a:prstGeom prst="rect">
              <a:avLst/>
            </a:prstGeom>
            <a:solidFill>
              <a:schemeClr val="folHlink"/>
            </a:solidFill>
            <a:ln w="9525">
              <a:noFill/>
              <a:miter lim="800000"/>
              <a:headEnd/>
              <a:tailEnd/>
            </a:ln>
          </p:spPr>
          <p:txBody>
            <a:bodyPr rot="10800000"/>
            <a:lstStyle/>
            <a:p>
              <a:pPr eaLnBrk="1" hangingPunct="1">
                <a:defRPr/>
              </a:pPr>
              <a:endParaRPr lang="en-US" sz="1800" i="0">
                <a:solidFill>
                  <a:schemeClr val="hlink"/>
                </a:solidFill>
                <a:latin typeface="Arial" charset="0"/>
                <a:ea typeface="+mn-ea"/>
                <a:cs typeface="+mn-cs"/>
              </a:endParaRPr>
            </a:p>
          </p:txBody>
        </p:sp>
        <p:sp>
          <p:nvSpPr>
            <p:cNvPr id="16" name="Rectangle 36"/>
            <p:cNvSpPr>
              <a:spLocks noChangeArrowheads="1"/>
            </p:cNvSpPr>
            <p:nvPr/>
          </p:nvSpPr>
          <p:spPr bwMode="auto">
            <a:xfrm rot="10800000">
              <a:off x="5327" y="3049"/>
              <a:ext cx="88" cy="89"/>
            </a:xfrm>
            <a:prstGeom prst="rect">
              <a:avLst/>
            </a:prstGeom>
            <a:solidFill>
              <a:schemeClr val="accent2"/>
            </a:solidFill>
            <a:ln w="9525">
              <a:noFill/>
              <a:miter lim="800000"/>
              <a:headEnd/>
              <a:tailEnd/>
            </a:ln>
          </p:spPr>
          <p:txBody>
            <a:bodyPr rot="10800000"/>
            <a:lstStyle/>
            <a:p>
              <a:pPr eaLnBrk="1" hangingPunct="1">
                <a:defRPr/>
              </a:pPr>
              <a:endParaRPr lang="en-US" sz="1800" i="0">
                <a:solidFill>
                  <a:schemeClr val="accent2"/>
                </a:solidFill>
                <a:latin typeface="Arial" charset="0"/>
                <a:ea typeface="+mn-ea"/>
                <a:cs typeface="+mn-cs"/>
              </a:endParaRPr>
            </a:p>
          </p:txBody>
        </p:sp>
        <p:sp>
          <p:nvSpPr>
            <p:cNvPr id="17" name="Rectangle 37"/>
            <p:cNvSpPr>
              <a:spLocks noChangeArrowheads="1"/>
            </p:cNvSpPr>
            <p:nvPr/>
          </p:nvSpPr>
          <p:spPr bwMode="auto">
            <a:xfrm rot="10800000">
              <a:off x="5501" y="2963"/>
              <a:ext cx="86" cy="87"/>
            </a:xfrm>
            <a:prstGeom prst="rect">
              <a:avLst/>
            </a:prstGeom>
            <a:solidFill>
              <a:schemeClr val="folHlink"/>
            </a:solidFill>
            <a:ln w="9525">
              <a:noFill/>
              <a:miter lim="800000"/>
              <a:headEnd/>
              <a:tailEnd/>
            </a:ln>
          </p:spPr>
          <p:txBody>
            <a:bodyPr rot="10800000"/>
            <a:lstStyle/>
            <a:p>
              <a:pPr eaLnBrk="1" hangingPunct="1">
                <a:defRPr/>
              </a:pPr>
              <a:endParaRPr lang="en-US" sz="1800" i="0">
                <a:solidFill>
                  <a:schemeClr val="hlink"/>
                </a:solidFill>
                <a:latin typeface="Arial" charset="0"/>
                <a:ea typeface="+mn-ea"/>
                <a:cs typeface="+mn-cs"/>
              </a:endParaRPr>
            </a:p>
          </p:txBody>
        </p:sp>
        <p:sp>
          <p:nvSpPr>
            <p:cNvPr id="18" name="Rectangle 38"/>
            <p:cNvSpPr>
              <a:spLocks noChangeArrowheads="1"/>
            </p:cNvSpPr>
            <p:nvPr/>
          </p:nvSpPr>
          <p:spPr bwMode="auto">
            <a:xfrm rot="10800000">
              <a:off x="5587" y="3051"/>
              <a:ext cx="89" cy="86"/>
            </a:xfrm>
            <a:prstGeom prst="rect">
              <a:avLst/>
            </a:prstGeom>
            <a:solidFill>
              <a:schemeClr val="bg2"/>
            </a:solidFill>
            <a:ln w="9525">
              <a:noFill/>
              <a:miter lim="800000"/>
              <a:headEnd/>
              <a:tailEnd/>
            </a:ln>
          </p:spPr>
          <p:txBody>
            <a:bodyPr rot="10800000"/>
            <a:lstStyle/>
            <a:p>
              <a:pPr eaLnBrk="1" hangingPunct="1">
                <a:defRPr/>
              </a:pPr>
              <a:endParaRPr lang="en-US" sz="2400" i="0">
                <a:latin typeface="Times New Roman" pitchFamily="18" charset="0"/>
                <a:ea typeface="+mn-ea"/>
                <a:cs typeface="+mn-cs"/>
              </a:endParaRPr>
            </a:p>
          </p:txBody>
        </p:sp>
        <p:sp>
          <p:nvSpPr>
            <p:cNvPr id="19" name="Rectangle 39"/>
            <p:cNvSpPr>
              <a:spLocks noChangeArrowheads="1"/>
            </p:cNvSpPr>
            <p:nvPr/>
          </p:nvSpPr>
          <p:spPr bwMode="auto">
            <a:xfrm rot="10800000">
              <a:off x="5414" y="2965"/>
              <a:ext cx="87" cy="87"/>
            </a:xfrm>
            <a:prstGeom prst="rect">
              <a:avLst/>
            </a:prstGeom>
            <a:solidFill>
              <a:schemeClr val="accent2"/>
            </a:solidFill>
            <a:ln w="9525">
              <a:noFill/>
              <a:miter lim="800000"/>
              <a:headEnd/>
              <a:tailEnd/>
            </a:ln>
          </p:spPr>
          <p:txBody>
            <a:bodyPr rot="10800000"/>
            <a:lstStyle/>
            <a:p>
              <a:pPr eaLnBrk="1" hangingPunct="1">
                <a:defRPr/>
              </a:pPr>
              <a:endParaRPr lang="en-US" sz="1800" i="0">
                <a:solidFill>
                  <a:schemeClr val="accent2"/>
                </a:solidFill>
                <a:latin typeface="Arial" charset="0"/>
                <a:ea typeface="+mn-ea"/>
                <a:cs typeface="+mn-cs"/>
              </a:endParaRPr>
            </a:p>
          </p:txBody>
        </p:sp>
        <p:sp>
          <p:nvSpPr>
            <p:cNvPr id="20" name="Rectangle 40"/>
            <p:cNvSpPr>
              <a:spLocks noChangeArrowheads="1"/>
            </p:cNvSpPr>
            <p:nvPr/>
          </p:nvSpPr>
          <p:spPr bwMode="auto">
            <a:xfrm rot="10800000">
              <a:off x="5501" y="2880"/>
              <a:ext cx="86" cy="86"/>
            </a:xfrm>
            <a:prstGeom prst="rect">
              <a:avLst/>
            </a:prstGeom>
            <a:solidFill>
              <a:schemeClr val="accent2"/>
            </a:solidFill>
            <a:ln w="9525">
              <a:noFill/>
              <a:miter lim="800000"/>
              <a:headEnd/>
              <a:tailEnd/>
            </a:ln>
          </p:spPr>
          <p:txBody>
            <a:bodyPr rot="10800000"/>
            <a:lstStyle/>
            <a:p>
              <a:pPr eaLnBrk="1" hangingPunct="1">
                <a:defRPr/>
              </a:pPr>
              <a:endParaRPr lang="en-US" sz="1800" i="0">
                <a:solidFill>
                  <a:schemeClr val="accent2"/>
                </a:solidFill>
                <a:latin typeface="Arial" charset="0"/>
                <a:ea typeface="+mn-ea"/>
                <a:cs typeface="+mn-cs"/>
              </a:endParaRPr>
            </a:p>
          </p:txBody>
        </p:sp>
      </p:grpSp>
      <p:sp>
        <p:nvSpPr>
          <p:cNvPr id="5" name="Rectangle 3"/>
          <p:cNvSpPr>
            <a:spLocks noGrp="1" noChangeArrowheads="1"/>
          </p:cNvSpPr>
          <p:nvPr>
            <p:ph type="sldNum" sz="quarter" idx="11"/>
          </p:nvPr>
        </p:nvSpPr>
        <p:spPr>
          <a:xfrm>
            <a:off x="8534400" y="6400800"/>
            <a:ext cx="2844800" cy="457200"/>
          </a:xfrm>
          <a:ln/>
        </p:spPr>
        <p:txBody>
          <a:bodyPr/>
          <a:lstStyle>
            <a:lvl1pPr>
              <a:defRPr sz="1200">
                <a:solidFill>
                  <a:schemeClr val="accent2">
                    <a:lumMod val="50000"/>
                  </a:schemeClr>
                </a:solidFill>
                <a:latin typeface="Arial"/>
                <a:cs typeface="Arial"/>
              </a:defRPr>
            </a:lvl1pPr>
          </a:lstStyle>
          <a:p>
            <a:fld id="{B2B05758-BB4F-4559-81AD-225F352C8527}" type="slidenum">
              <a:rPr lang="zh-CN" altLang="en-US" smtClean="0"/>
              <a:t>‹#›</a:t>
            </a:fld>
            <a:endParaRPr lang="zh-CN" altLang="en-US"/>
          </a:p>
        </p:txBody>
      </p:sp>
    </p:spTree>
    <p:extLst>
      <p:ext uri="{BB962C8B-B14F-4D97-AF65-F5344CB8AC3E}">
        <p14:creationId xmlns:p14="http://schemas.microsoft.com/office/powerpoint/2010/main" val="372287620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00896B29-5ACF-4449-AC21-3F57A5EE8579}" type="datetime1">
              <a:rPr lang="en-US" altLang="zh-CN" smtClean="0"/>
              <a:t>3/6/2025</a:t>
            </a:fld>
            <a:endParaRPr lang="zh-CN" altLang="en-US"/>
          </a:p>
        </p:txBody>
      </p:sp>
    </p:spTree>
    <p:extLst>
      <p:ext uri="{BB962C8B-B14F-4D97-AF65-F5344CB8AC3E}">
        <p14:creationId xmlns:p14="http://schemas.microsoft.com/office/powerpoint/2010/main" val="1979060467"/>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endParaRPr lang="zh-CN" altLang="en-US"/>
          </a:p>
        </p:txBody>
      </p:sp>
      <p:sp>
        <p:nvSpPr>
          <p:cNvPr id="3"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4" name="Rectangle 16"/>
          <p:cNvSpPr>
            <a:spLocks noGrp="1" noChangeArrowheads="1"/>
          </p:cNvSpPr>
          <p:nvPr>
            <p:ph type="dt" sz="half" idx="12"/>
          </p:nvPr>
        </p:nvSpPr>
        <p:spPr>
          <a:ln/>
        </p:spPr>
        <p:txBody>
          <a:bodyPr/>
          <a:lstStyle>
            <a:lvl1pPr>
              <a:defRPr/>
            </a:lvl1pPr>
          </a:lstStyle>
          <a:p>
            <a:fld id="{281E2F5B-40C3-2C49-AB00-5F6BD2636155}" type="datetime1">
              <a:rPr lang="en-US" altLang="zh-CN" smtClean="0"/>
              <a:t>3/6/2025</a:t>
            </a:fld>
            <a:endParaRPr lang="zh-CN" altLang="en-US"/>
          </a:p>
        </p:txBody>
      </p:sp>
    </p:spTree>
    <p:extLst>
      <p:ext uri="{BB962C8B-B14F-4D97-AF65-F5344CB8AC3E}">
        <p14:creationId xmlns:p14="http://schemas.microsoft.com/office/powerpoint/2010/main" val="147612938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04800"/>
            <a:ext cx="2743200" cy="55626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304800"/>
            <a:ext cx="8026400" cy="55626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EDFE34E1-005D-664E-B3A9-F29C991ACAD7}" type="datetime1">
              <a:rPr lang="en-US" altLang="zh-CN" smtClean="0"/>
              <a:t>3/6/2025</a:t>
            </a:fld>
            <a:endParaRPr lang="zh-CN" altLang="en-US"/>
          </a:p>
        </p:txBody>
      </p:sp>
    </p:spTree>
    <p:extLst>
      <p:ext uri="{BB962C8B-B14F-4D97-AF65-F5344CB8AC3E}">
        <p14:creationId xmlns:p14="http://schemas.microsoft.com/office/powerpoint/2010/main" val="342270774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7620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D9FE6FCD-07B5-8749-AE08-47CC6EE30201}" type="datetime1">
              <a:rPr lang="en-US" altLang="zh-CN" smtClean="0"/>
              <a:t>3/6/2025</a:t>
            </a:fld>
            <a:endParaRPr lang="zh-CN" altLang="en-US"/>
          </a:p>
        </p:txBody>
      </p:sp>
    </p:spTree>
    <p:extLst>
      <p:ext uri="{BB962C8B-B14F-4D97-AF65-F5344CB8AC3E}">
        <p14:creationId xmlns:p14="http://schemas.microsoft.com/office/powerpoint/2010/main" val="347338191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7620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Content Placeholder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Rectangle 2"/>
          <p:cNvSpPr>
            <a:spLocks noGrp="1" noChangeArrowheads="1"/>
          </p:cNvSpPr>
          <p:nvPr>
            <p:ph type="ftr" sz="quarter" idx="10"/>
          </p:nvPr>
        </p:nvSpPr>
        <p:spPr>
          <a:ln/>
        </p:spPr>
        <p:txBody>
          <a:bodyPr/>
          <a:lstStyle>
            <a:lvl1pPr>
              <a:defRPr/>
            </a:lvl1pPr>
          </a:lstStyle>
          <a:p>
            <a:endParaRPr lang="zh-CN" altLang="en-US"/>
          </a:p>
        </p:txBody>
      </p:sp>
      <p:sp>
        <p:nvSpPr>
          <p:cNvPr id="7"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8" name="Rectangle 16"/>
          <p:cNvSpPr>
            <a:spLocks noGrp="1" noChangeArrowheads="1"/>
          </p:cNvSpPr>
          <p:nvPr>
            <p:ph type="dt" sz="half" idx="12"/>
          </p:nvPr>
        </p:nvSpPr>
        <p:spPr>
          <a:ln/>
        </p:spPr>
        <p:txBody>
          <a:bodyPr/>
          <a:lstStyle>
            <a:lvl1pPr>
              <a:defRPr/>
            </a:lvl1pPr>
          </a:lstStyle>
          <a:p>
            <a:fld id="{C7B56345-FBAF-C849-9D29-DA20DA6D560D}" type="datetime1">
              <a:rPr lang="en-US" altLang="zh-CN" smtClean="0"/>
              <a:t>3/6/2025</a:t>
            </a:fld>
            <a:endParaRPr lang="zh-CN" altLang="en-US"/>
          </a:p>
        </p:txBody>
      </p:sp>
    </p:spTree>
    <p:extLst>
      <p:ext uri="{BB962C8B-B14F-4D97-AF65-F5344CB8AC3E}">
        <p14:creationId xmlns:p14="http://schemas.microsoft.com/office/powerpoint/2010/main" val="174551985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Rectangle 11"/>
          <p:cNvSpPr>
            <a:spLocks noGrp="1" noChangeArrowheads="1"/>
          </p:cNvSpPr>
          <p:nvPr>
            <p:ph type="sldNum" sz="quarter" idx="10"/>
          </p:nvPr>
        </p:nvSpPr>
        <p:spPr/>
        <p:txBody>
          <a:bodyPr/>
          <a:lstStyle>
            <a:lvl1pPr>
              <a:defRPr/>
            </a:lvl1pPr>
          </a:lstStyle>
          <a:p>
            <a:fld id="{B2B05758-BB4F-4559-81AD-225F352C8527}" type="slidenum">
              <a:rPr lang="zh-CN" altLang="en-US" smtClean="0"/>
              <a:t>‹#›</a:t>
            </a:fld>
            <a:endParaRPr lang="zh-CN" altLang="en-US"/>
          </a:p>
        </p:txBody>
      </p:sp>
    </p:spTree>
    <p:extLst>
      <p:ext uri="{BB962C8B-B14F-4D97-AF65-F5344CB8AC3E}">
        <p14:creationId xmlns:p14="http://schemas.microsoft.com/office/powerpoint/2010/main" val="25443405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889DF4F7-AC70-374E-A059-E0C403985EEF}"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85301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2F0F80F3-29D0-B045-9879-3C07D32B33BF}"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4186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1CADA26-041F-9B46-8FC8-BCAEF7F3823E}"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59240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2E921AC8-C80C-BA46-9663-A97F9929A3C8}"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272586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66E344BA-7E3A-FC4B-B506-306341055C8A}" type="datetime1">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782738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C258C979-4E28-0544-B11B-E2BAF4C7735A}"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4239744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3C43A9-4C5D-114F-B94E-E6DB2AA10ED3}" type="datetime1">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978183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A3090B8-8072-2145-A7DA-F1BA1BFA8B64}"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23575498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DEE527E-AFA8-B64E-89BE-6856A3F367A5}"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919285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B786275C-32E1-BA42-BB1F-B561C83191A9}"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4507898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6251632C-B738-6D44-9AB2-B0755019CB18}"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6997491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F8774AD8-4CE4-1A43-950B-5389016C87A7}"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154699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72178370-C20F-E448-AA13-0BA032AD3566}"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1588365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8D2B59F7-D675-2B4B-9D88-CF74270EB087}"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794358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0947325-9CD2-EB4C-BBD6-AE61D4D2527A}"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6473529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E0F8B04F-440C-8D4C-90DB-4AC7843A8746}"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225545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B2D16374-EE59-E745-A5E7-DFB446E293EB}" type="datetime1">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4121138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E8DD7729-81FE-1548-AFB6-6082E836DE31}"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39160574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CED727-0A96-3644-A7C7-57D8F0716FC7}" type="datetime1">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611574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2A943E6-8614-F04B-9DE9-5B8303E42AD1}"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1703772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0C65F94-83B0-C74B-AF19-3157AFD0F2C7}"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31913691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7BEC9013-C202-514F-BEE0-5F8B72362BD5}"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5896703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21FAE89B-2501-844B-9EDB-27BD7265FCE6}"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600849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6708A01-011B-0442-9A27-6233239C58BC}"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32432006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403" name="Rectangle 19"/>
          <p:cNvSpPr>
            <a:spLocks noGrp="1" noChangeArrowheads="1"/>
          </p:cNvSpPr>
          <p:nvPr>
            <p:ph type="ctrTitle"/>
          </p:nvPr>
        </p:nvSpPr>
        <p:spPr>
          <a:xfrm>
            <a:off x="3860800" y="1447800"/>
            <a:ext cx="8026400" cy="2209800"/>
          </a:xfrm>
        </p:spPr>
        <p:txBody>
          <a:bodyPr/>
          <a:lstStyle>
            <a:lvl1pPr algn="r">
              <a:defRPr sz="4200">
                <a:solidFill>
                  <a:srgbClr val="FFFFFF"/>
                </a:solidFill>
              </a:defRPr>
            </a:lvl1pPr>
          </a:lstStyle>
          <a:p>
            <a:r>
              <a:rPr lang="zh-CN" altLang="en-US"/>
              <a:t>单击此处编辑母版标题样式</a:t>
            </a:r>
            <a:endParaRPr lang="en-US"/>
          </a:p>
        </p:txBody>
      </p:sp>
      <p:sp>
        <p:nvSpPr>
          <p:cNvPr id="16404" name="Rectangle 20"/>
          <p:cNvSpPr>
            <a:spLocks noGrp="1" noChangeArrowheads="1"/>
          </p:cNvSpPr>
          <p:nvPr>
            <p:ph type="subTitle" idx="1"/>
          </p:nvPr>
        </p:nvSpPr>
        <p:spPr>
          <a:xfrm>
            <a:off x="3759200" y="4114800"/>
            <a:ext cx="8026400" cy="1752600"/>
          </a:xfrm>
        </p:spPr>
        <p:txBody>
          <a:bodyPr/>
          <a:lstStyle>
            <a:lvl1pPr marL="0" indent="0" algn="ctr">
              <a:buFont typeface="Wingdings" pitchFamily="2" charset="2"/>
              <a:buNone/>
              <a:defRPr sz="2600"/>
            </a:lvl1pPr>
          </a:lstStyle>
          <a:p>
            <a:r>
              <a:rPr lang="zh-CN" altLang="en-US"/>
              <a:t>单击此处编辑母版副标题样式</a:t>
            </a:r>
            <a:endParaRPr lang="en-US"/>
          </a:p>
        </p:txBody>
      </p:sp>
    </p:spTree>
    <p:extLst>
      <p:ext uri="{BB962C8B-B14F-4D97-AF65-F5344CB8AC3E}">
        <p14:creationId xmlns:p14="http://schemas.microsoft.com/office/powerpoint/2010/main" val="3169869314"/>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Rectangle 45"/>
          <p:cNvSpPr>
            <a:spLocks noChangeArrowheads="1"/>
          </p:cNvSpPr>
          <p:nvPr/>
        </p:nvSpPr>
        <p:spPr bwMode="hidden">
          <a:xfrm>
            <a:off x="0" y="0"/>
            <a:ext cx="4673600" cy="685800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i="0">
              <a:latin typeface="Times New Roman" pitchFamily="18" charset="0"/>
              <a:ea typeface="+mn-ea"/>
              <a:cs typeface="+mn-cs"/>
            </a:endParaRPr>
          </a:p>
        </p:txBody>
      </p:sp>
      <p:sp>
        <p:nvSpPr>
          <p:cNvPr id="2" name="Title 1"/>
          <p:cNvSpPr>
            <a:spLocks noGrp="1"/>
          </p:cNvSpPr>
          <p:nvPr>
            <p:ph type="title"/>
          </p:nvPr>
        </p:nvSpPr>
        <p:spPr>
          <a:xfrm>
            <a:off x="406400" y="228600"/>
            <a:ext cx="11379200" cy="762000"/>
          </a:xfrm>
        </p:spPr>
        <p:txBody>
          <a:bodyPr/>
          <a:lstStyle>
            <a:lvl1pPr>
              <a:defRPr>
                <a:latin typeface="+mj-lt"/>
                <a:cs typeface="Arial"/>
              </a:defRPr>
            </a:lvl1pPr>
          </a:lstStyle>
          <a:p>
            <a:r>
              <a:rPr lang="zh-CN" altLang="en-US"/>
              <a:t>单击此处编辑母版标题样式</a:t>
            </a:r>
            <a:endParaRPr lang="en-US"/>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sz="2000">
                <a:latin typeface="+mn-lt"/>
                <a:cs typeface="Arial"/>
              </a:defRPr>
            </a:lvl3pPr>
            <a:lvl4pPr>
              <a:defRPr sz="2000">
                <a:latin typeface="+mn-lt"/>
                <a:cs typeface="Arial"/>
              </a:defRPr>
            </a:lvl4pPr>
            <a:lvl5pPr>
              <a:defRPr sz="2000">
                <a:latin typeface="+mn-lt"/>
                <a:cs typeface="Aria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16"/>
          <p:cNvSpPr>
            <a:spLocks noGrp="1" noChangeArrowheads="1"/>
          </p:cNvSpPr>
          <p:nvPr>
            <p:ph type="dt" sz="half" idx="12"/>
          </p:nvPr>
        </p:nvSpPr>
        <p:spPr>
          <a:ln/>
        </p:spPr>
        <p:txBody>
          <a:bodyPr/>
          <a:lstStyle>
            <a:lvl1pPr>
              <a:defRPr/>
            </a:lvl1pPr>
          </a:lstStyle>
          <a:p>
            <a:fld id="{2A6A7B63-2C51-334A-85CB-2D730CE65D55}" type="datetime1">
              <a:rPr lang="en-US" altLang="zh-CN" smtClean="0"/>
              <a:t>3/6/2025</a:t>
            </a:fld>
            <a:endParaRPr lang="zh-CN" altLang="en-US"/>
          </a:p>
        </p:txBody>
      </p:sp>
      <p:grpSp>
        <p:nvGrpSpPr>
          <p:cNvPr id="11" name="Group 41"/>
          <p:cNvGrpSpPr>
            <a:grpSpLocks/>
          </p:cNvGrpSpPr>
          <p:nvPr/>
        </p:nvGrpSpPr>
        <p:grpSpPr bwMode="auto">
          <a:xfrm>
            <a:off x="0" y="6477000"/>
            <a:ext cx="12192000" cy="381000"/>
            <a:chOff x="0" y="2880"/>
            <a:chExt cx="5760" cy="344"/>
          </a:xfrm>
        </p:grpSpPr>
        <p:sp>
          <p:nvSpPr>
            <p:cNvPr id="12" name="Rectangle 32"/>
            <p:cNvSpPr>
              <a:spLocks noChangeArrowheads="1"/>
            </p:cNvSpPr>
            <p:nvPr/>
          </p:nvSpPr>
          <p:spPr bwMode="auto">
            <a:xfrm rot="10800000">
              <a:off x="5580" y="2889"/>
              <a:ext cx="180" cy="335"/>
            </a:xfrm>
            <a:prstGeom prst="rect">
              <a:avLst/>
            </a:prstGeom>
            <a:gradFill rotWithShape="0">
              <a:gsLst>
                <a:gs pos="0">
                  <a:schemeClr val="folHlink"/>
                </a:gs>
                <a:gs pos="100000">
                  <a:schemeClr val="bg1"/>
                </a:gs>
              </a:gsLst>
              <a:lin ang="0" scaled="1"/>
            </a:gradFill>
            <a:ln w="9525">
              <a:noFill/>
              <a:miter lim="800000"/>
              <a:headEnd/>
              <a:tailEnd/>
            </a:ln>
            <a:effectLst/>
          </p:spPr>
          <p:txBody>
            <a:bodyPr rot="10800000" wrap="none" anchor="ctr"/>
            <a:lstStyle/>
            <a:p>
              <a:pPr algn="ctr" eaLnBrk="1" hangingPunct="1">
                <a:defRPr/>
              </a:pPr>
              <a:endParaRPr lang="en-US" sz="2400" i="0">
                <a:latin typeface="Times New Roman" pitchFamily="18" charset="0"/>
                <a:ea typeface="+mn-ea"/>
                <a:cs typeface="+mn-cs"/>
              </a:endParaRPr>
            </a:p>
          </p:txBody>
        </p:sp>
        <p:sp>
          <p:nvSpPr>
            <p:cNvPr id="13" name="Rectangle 33"/>
            <p:cNvSpPr>
              <a:spLocks noChangeArrowheads="1"/>
            </p:cNvSpPr>
            <p:nvPr/>
          </p:nvSpPr>
          <p:spPr bwMode="auto">
            <a:xfrm rot="10800000">
              <a:off x="0" y="3072"/>
              <a:ext cx="5500" cy="143"/>
            </a:xfrm>
            <a:prstGeom prst="rect">
              <a:avLst/>
            </a:prstGeom>
            <a:gradFill rotWithShape="0">
              <a:gsLst>
                <a:gs pos="0">
                  <a:schemeClr val="bg2"/>
                </a:gs>
                <a:gs pos="100000">
                  <a:schemeClr val="bg1"/>
                </a:gs>
              </a:gsLst>
              <a:lin ang="0" scaled="1"/>
            </a:gradFill>
            <a:ln w="9525">
              <a:noFill/>
              <a:miter lim="800000"/>
              <a:headEnd/>
              <a:tailEnd/>
            </a:ln>
          </p:spPr>
          <p:txBody>
            <a:bodyPr rot="10800000"/>
            <a:lstStyle/>
            <a:p>
              <a:pPr eaLnBrk="1" hangingPunct="1">
                <a:defRPr/>
              </a:pPr>
              <a:endParaRPr lang="en-US" sz="2400" i="0">
                <a:latin typeface="Times New Roman" pitchFamily="18" charset="0"/>
                <a:ea typeface="+mn-ea"/>
                <a:cs typeface="+mn-cs"/>
              </a:endParaRPr>
            </a:p>
          </p:txBody>
        </p:sp>
        <p:sp>
          <p:nvSpPr>
            <p:cNvPr id="14" name="Rectangle 34"/>
            <p:cNvSpPr>
              <a:spLocks noChangeArrowheads="1"/>
            </p:cNvSpPr>
            <p:nvPr/>
          </p:nvSpPr>
          <p:spPr bwMode="auto">
            <a:xfrm rot="10800000">
              <a:off x="5414" y="3049"/>
              <a:ext cx="87" cy="89"/>
            </a:xfrm>
            <a:prstGeom prst="rect">
              <a:avLst/>
            </a:prstGeom>
            <a:solidFill>
              <a:schemeClr val="folHlink"/>
            </a:solidFill>
            <a:ln w="9525">
              <a:noFill/>
              <a:miter lim="800000"/>
              <a:headEnd/>
              <a:tailEnd/>
            </a:ln>
          </p:spPr>
          <p:txBody>
            <a:bodyPr rot="10800000"/>
            <a:lstStyle/>
            <a:p>
              <a:pPr eaLnBrk="1" hangingPunct="1">
                <a:defRPr/>
              </a:pPr>
              <a:endParaRPr lang="en-US" i="0">
                <a:solidFill>
                  <a:schemeClr val="hlink"/>
                </a:solidFill>
                <a:latin typeface="Arial" charset="0"/>
                <a:ea typeface="+mn-ea"/>
                <a:cs typeface="+mn-cs"/>
              </a:endParaRPr>
            </a:p>
          </p:txBody>
        </p:sp>
        <p:sp>
          <p:nvSpPr>
            <p:cNvPr id="15" name="Rectangle 35"/>
            <p:cNvSpPr>
              <a:spLocks noChangeArrowheads="1"/>
            </p:cNvSpPr>
            <p:nvPr/>
          </p:nvSpPr>
          <p:spPr bwMode="auto">
            <a:xfrm rot="10800000">
              <a:off x="5327" y="3137"/>
              <a:ext cx="88" cy="86"/>
            </a:xfrm>
            <a:prstGeom prst="rect">
              <a:avLst/>
            </a:prstGeom>
            <a:solidFill>
              <a:schemeClr val="folHlink"/>
            </a:solidFill>
            <a:ln w="9525">
              <a:noFill/>
              <a:miter lim="800000"/>
              <a:headEnd/>
              <a:tailEnd/>
            </a:ln>
          </p:spPr>
          <p:txBody>
            <a:bodyPr rot="10800000"/>
            <a:lstStyle/>
            <a:p>
              <a:pPr eaLnBrk="1" hangingPunct="1">
                <a:defRPr/>
              </a:pPr>
              <a:endParaRPr lang="en-US" i="0">
                <a:solidFill>
                  <a:schemeClr val="hlink"/>
                </a:solidFill>
                <a:latin typeface="Arial" charset="0"/>
                <a:ea typeface="+mn-ea"/>
                <a:cs typeface="+mn-cs"/>
              </a:endParaRPr>
            </a:p>
          </p:txBody>
        </p:sp>
        <p:sp>
          <p:nvSpPr>
            <p:cNvPr id="16" name="Rectangle 36"/>
            <p:cNvSpPr>
              <a:spLocks noChangeArrowheads="1"/>
            </p:cNvSpPr>
            <p:nvPr/>
          </p:nvSpPr>
          <p:spPr bwMode="auto">
            <a:xfrm rot="10800000">
              <a:off x="5327" y="3049"/>
              <a:ext cx="88" cy="89"/>
            </a:xfrm>
            <a:prstGeom prst="rect">
              <a:avLst/>
            </a:prstGeom>
            <a:solidFill>
              <a:schemeClr val="accent2"/>
            </a:solidFill>
            <a:ln w="9525">
              <a:noFill/>
              <a:miter lim="800000"/>
              <a:headEnd/>
              <a:tailEnd/>
            </a:ln>
          </p:spPr>
          <p:txBody>
            <a:bodyPr rot="10800000"/>
            <a:lstStyle/>
            <a:p>
              <a:pPr eaLnBrk="1" hangingPunct="1">
                <a:defRPr/>
              </a:pPr>
              <a:endParaRPr lang="en-US" i="0">
                <a:solidFill>
                  <a:schemeClr val="accent2"/>
                </a:solidFill>
                <a:latin typeface="Arial" charset="0"/>
                <a:ea typeface="+mn-ea"/>
                <a:cs typeface="+mn-cs"/>
              </a:endParaRPr>
            </a:p>
          </p:txBody>
        </p:sp>
        <p:sp>
          <p:nvSpPr>
            <p:cNvPr id="17" name="Rectangle 37"/>
            <p:cNvSpPr>
              <a:spLocks noChangeArrowheads="1"/>
            </p:cNvSpPr>
            <p:nvPr/>
          </p:nvSpPr>
          <p:spPr bwMode="auto">
            <a:xfrm rot="10800000">
              <a:off x="5501" y="2963"/>
              <a:ext cx="86" cy="87"/>
            </a:xfrm>
            <a:prstGeom prst="rect">
              <a:avLst/>
            </a:prstGeom>
            <a:solidFill>
              <a:schemeClr val="folHlink"/>
            </a:solidFill>
            <a:ln w="9525">
              <a:noFill/>
              <a:miter lim="800000"/>
              <a:headEnd/>
              <a:tailEnd/>
            </a:ln>
          </p:spPr>
          <p:txBody>
            <a:bodyPr rot="10800000"/>
            <a:lstStyle/>
            <a:p>
              <a:pPr eaLnBrk="1" hangingPunct="1">
                <a:defRPr/>
              </a:pPr>
              <a:endParaRPr lang="en-US" i="0">
                <a:solidFill>
                  <a:schemeClr val="hlink"/>
                </a:solidFill>
                <a:latin typeface="Arial" charset="0"/>
                <a:ea typeface="+mn-ea"/>
                <a:cs typeface="+mn-cs"/>
              </a:endParaRPr>
            </a:p>
          </p:txBody>
        </p:sp>
        <p:sp>
          <p:nvSpPr>
            <p:cNvPr id="18" name="Rectangle 38"/>
            <p:cNvSpPr>
              <a:spLocks noChangeArrowheads="1"/>
            </p:cNvSpPr>
            <p:nvPr/>
          </p:nvSpPr>
          <p:spPr bwMode="auto">
            <a:xfrm rot="10800000">
              <a:off x="5587" y="3051"/>
              <a:ext cx="89" cy="86"/>
            </a:xfrm>
            <a:prstGeom prst="rect">
              <a:avLst/>
            </a:prstGeom>
            <a:solidFill>
              <a:schemeClr val="bg2"/>
            </a:solidFill>
            <a:ln w="9525">
              <a:noFill/>
              <a:miter lim="800000"/>
              <a:headEnd/>
              <a:tailEnd/>
            </a:ln>
          </p:spPr>
          <p:txBody>
            <a:bodyPr rot="10800000"/>
            <a:lstStyle/>
            <a:p>
              <a:pPr eaLnBrk="1" hangingPunct="1">
                <a:defRPr/>
              </a:pPr>
              <a:endParaRPr lang="en-US" sz="2400" i="0">
                <a:latin typeface="Times New Roman" pitchFamily="18" charset="0"/>
                <a:ea typeface="+mn-ea"/>
                <a:cs typeface="+mn-cs"/>
              </a:endParaRPr>
            </a:p>
          </p:txBody>
        </p:sp>
        <p:sp>
          <p:nvSpPr>
            <p:cNvPr id="19" name="Rectangle 39"/>
            <p:cNvSpPr>
              <a:spLocks noChangeArrowheads="1"/>
            </p:cNvSpPr>
            <p:nvPr/>
          </p:nvSpPr>
          <p:spPr bwMode="auto">
            <a:xfrm rot="10800000">
              <a:off x="5414" y="2965"/>
              <a:ext cx="87" cy="87"/>
            </a:xfrm>
            <a:prstGeom prst="rect">
              <a:avLst/>
            </a:prstGeom>
            <a:solidFill>
              <a:schemeClr val="accent2"/>
            </a:solidFill>
            <a:ln w="9525">
              <a:noFill/>
              <a:miter lim="800000"/>
              <a:headEnd/>
              <a:tailEnd/>
            </a:ln>
          </p:spPr>
          <p:txBody>
            <a:bodyPr rot="10800000"/>
            <a:lstStyle/>
            <a:p>
              <a:pPr eaLnBrk="1" hangingPunct="1">
                <a:defRPr/>
              </a:pPr>
              <a:endParaRPr lang="en-US" i="0">
                <a:solidFill>
                  <a:schemeClr val="accent2"/>
                </a:solidFill>
                <a:latin typeface="Arial" charset="0"/>
                <a:ea typeface="+mn-ea"/>
                <a:cs typeface="+mn-cs"/>
              </a:endParaRPr>
            </a:p>
          </p:txBody>
        </p:sp>
        <p:sp>
          <p:nvSpPr>
            <p:cNvPr id="20" name="Rectangle 40"/>
            <p:cNvSpPr>
              <a:spLocks noChangeArrowheads="1"/>
            </p:cNvSpPr>
            <p:nvPr/>
          </p:nvSpPr>
          <p:spPr bwMode="auto">
            <a:xfrm rot="10800000">
              <a:off x="5501" y="2880"/>
              <a:ext cx="86" cy="86"/>
            </a:xfrm>
            <a:prstGeom prst="rect">
              <a:avLst/>
            </a:prstGeom>
            <a:solidFill>
              <a:schemeClr val="accent2"/>
            </a:solidFill>
            <a:ln w="9525">
              <a:noFill/>
              <a:miter lim="800000"/>
              <a:headEnd/>
              <a:tailEnd/>
            </a:ln>
          </p:spPr>
          <p:txBody>
            <a:bodyPr rot="10800000"/>
            <a:lstStyle/>
            <a:p>
              <a:pPr eaLnBrk="1" hangingPunct="1">
                <a:defRPr/>
              </a:pPr>
              <a:endParaRPr lang="en-US" i="0">
                <a:solidFill>
                  <a:schemeClr val="accent2"/>
                </a:solidFill>
                <a:latin typeface="Arial" charset="0"/>
                <a:ea typeface="+mn-ea"/>
                <a:cs typeface="+mn-cs"/>
              </a:endParaRPr>
            </a:p>
          </p:txBody>
        </p:sp>
      </p:grpSp>
      <p:sp>
        <p:nvSpPr>
          <p:cNvPr id="5" name="Rectangle 3"/>
          <p:cNvSpPr>
            <a:spLocks noGrp="1" noChangeArrowheads="1"/>
          </p:cNvSpPr>
          <p:nvPr>
            <p:ph type="sldNum" sz="quarter" idx="11"/>
          </p:nvPr>
        </p:nvSpPr>
        <p:spPr>
          <a:xfrm>
            <a:off x="8534400" y="6400800"/>
            <a:ext cx="2844800" cy="457200"/>
          </a:xfrm>
          <a:ln/>
        </p:spPr>
        <p:txBody>
          <a:bodyPr/>
          <a:lstStyle>
            <a:lvl1pPr>
              <a:defRPr sz="1200">
                <a:solidFill>
                  <a:schemeClr val="accent2">
                    <a:lumMod val="50000"/>
                  </a:schemeClr>
                </a:solidFill>
                <a:latin typeface="Arial"/>
                <a:cs typeface="Arial"/>
              </a:defRPr>
            </a:lvl1pPr>
          </a:lstStyle>
          <a:p>
            <a:fld id="{B2B05758-BB4F-4559-81AD-225F352C8527}" type="slidenum">
              <a:rPr lang="zh-CN" altLang="en-US" smtClean="0"/>
              <a:t>‹#›</a:t>
            </a:fld>
            <a:endParaRPr lang="zh-CN" altLang="en-US"/>
          </a:p>
        </p:txBody>
      </p:sp>
    </p:spTree>
    <p:extLst>
      <p:ext uri="{BB962C8B-B14F-4D97-AF65-F5344CB8AC3E}">
        <p14:creationId xmlns:p14="http://schemas.microsoft.com/office/powerpoint/2010/main" val="31342920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835A3702-7AF3-1944-A78D-07CDB5DBC52E}" type="datetime1">
              <a:rPr lang="en-US" altLang="zh-CN" smtClean="0"/>
              <a:t>3/6/2025</a:t>
            </a:fld>
            <a:endParaRPr lang="zh-CN" altLang="en-US"/>
          </a:p>
        </p:txBody>
      </p:sp>
    </p:spTree>
    <p:extLst>
      <p:ext uri="{BB962C8B-B14F-4D97-AF65-F5344CB8AC3E}">
        <p14:creationId xmlns:p14="http://schemas.microsoft.com/office/powerpoint/2010/main" val="2360721515"/>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endParaRPr lang="zh-CN" altLang="en-US"/>
          </a:p>
        </p:txBody>
      </p:sp>
      <p:sp>
        <p:nvSpPr>
          <p:cNvPr id="3"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4" name="Rectangle 16"/>
          <p:cNvSpPr>
            <a:spLocks noGrp="1" noChangeArrowheads="1"/>
          </p:cNvSpPr>
          <p:nvPr>
            <p:ph type="dt" sz="half" idx="12"/>
          </p:nvPr>
        </p:nvSpPr>
        <p:spPr>
          <a:ln/>
        </p:spPr>
        <p:txBody>
          <a:bodyPr/>
          <a:lstStyle>
            <a:lvl1pPr>
              <a:defRPr/>
            </a:lvl1pPr>
          </a:lstStyle>
          <a:p>
            <a:fld id="{28B64BB5-2CA7-6240-A357-014CC2DD19D5}" type="datetime1">
              <a:rPr lang="en-US" altLang="zh-CN" smtClean="0"/>
              <a:t>3/6/2025</a:t>
            </a:fld>
            <a:endParaRPr lang="zh-CN" altLang="en-US"/>
          </a:p>
        </p:txBody>
      </p:sp>
    </p:spTree>
    <p:extLst>
      <p:ext uri="{BB962C8B-B14F-4D97-AF65-F5344CB8AC3E}">
        <p14:creationId xmlns:p14="http://schemas.microsoft.com/office/powerpoint/2010/main" val="856745903"/>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04800"/>
            <a:ext cx="2743200" cy="55626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304800"/>
            <a:ext cx="8026400" cy="55626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B12771EE-4167-154C-B525-764E4604F60C}" type="datetime1">
              <a:rPr lang="en-US" altLang="zh-CN" smtClean="0"/>
              <a:t>3/6/2025</a:t>
            </a:fld>
            <a:endParaRPr lang="zh-CN" altLang="en-US"/>
          </a:p>
        </p:txBody>
      </p:sp>
    </p:spTree>
    <p:extLst>
      <p:ext uri="{BB962C8B-B14F-4D97-AF65-F5344CB8AC3E}">
        <p14:creationId xmlns:p14="http://schemas.microsoft.com/office/powerpoint/2010/main" val="2229165632"/>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7620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9BC132ED-3468-DD49-8E24-2CD1E46FD58C}" type="datetime1">
              <a:rPr lang="en-US" altLang="zh-CN" smtClean="0"/>
              <a:t>3/6/2025</a:t>
            </a:fld>
            <a:endParaRPr lang="zh-CN" altLang="en-US"/>
          </a:p>
        </p:txBody>
      </p:sp>
    </p:spTree>
    <p:extLst>
      <p:ext uri="{BB962C8B-B14F-4D97-AF65-F5344CB8AC3E}">
        <p14:creationId xmlns:p14="http://schemas.microsoft.com/office/powerpoint/2010/main" val="378147259"/>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7620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Content Placeholder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Rectangle 2"/>
          <p:cNvSpPr>
            <a:spLocks noGrp="1" noChangeArrowheads="1"/>
          </p:cNvSpPr>
          <p:nvPr>
            <p:ph type="ftr" sz="quarter" idx="10"/>
          </p:nvPr>
        </p:nvSpPr>
        <p:spPr>
          <a:ln/>
        </p:spPr>
        <p:txBody>
          <a:bodyPr/>
          <a:lstStyle>
            <a:lvl1pPr>
              <a:defRPr/>
            </a:lvl1pPr>
          </a:lstStyle>
          <a:p>
            <a:endParaRPr lang="zh-CN" altLang="en-US"/>
          </a:p>
        </p:txBody>
      </p:sp>
      <p:sp>
        <p:nvSpPr>
          <p:cNvPr id="7" name="Rectangle 3"/>
          <p:cNvSpPr>
            <a:spLocks noGrp="1" noChangeArrowheads="1"/>
          </p:cNvSpPr>
          <p:nvPr>
            <p:ph type="sldNum" sz="quarter" idx="11"/>
          </p:nvPr>
        </p:nvSpPr>
        <p:spPr>
          <a:ln/>
        </p:spPr>
        <p:txBody>
          <a:bodyPr/>
          <a:lstStyle>
            <a:lvl1pPr>
              <a:defRPr/>
            </a:lvl1pPr>
          </a:lstStyle>
          <a:p>
            <a:fld id="{B2B05758-BB4F-4559-81AD-225F352C8527}" type="slidenum">
              <a:rPr lang="zh-CN" altLang="en-US" smtClean="0"/>
              <a:t>‹#›</a:t>
            </a:fld>
            <a:endParaRPr lang="zh-CN" altLang="en-US"/>
          </a:p>
        </p:txBody>
      </p:sp>
      <p:sp>
        <p:nvSpPr>
          <p:cNvPr id="8" name="Rectangle 16"/>
          <p:cNvSpPr>
            <a:spLocks noGrp="1" noChangeArrowheads="1"/>
          </p:cNvSpPr>
          <p:nvPr>
            <p:ph type="dt" sz="half" idx="12"/>
          </p:nvPr>
        </p:nvSpPr>
        <p:spPr>
          <a:ln/>
        </p:spPr>
        <p:txBody>
          <a:bodyPr/>
          <a:lstStyle>
            <a:lvl1pPr>
              <a:defRPr/>
            </a:lvl1pPr>
          </a:lstStyle>
          <a:p>
            <a:fld id="{4737135B-3014-5444-AE5B-9A100BD60DA1}" type="datetime1">
              <a:rPr lang="en-US" altLang="zh-CN" smtClean="0"/>
              <a:t>3/6/2025</a:t>
            </a:fld>
            <a:endParaRPr lang="zh-CN" altLang="en-US"/>
          </a:p>
        </p:txBody>
      </p:sp>
    </p:spTree>
    <p:extLst>
      <p:ext uri="{BB962C8B-B14F-4D97-AF65-F5344CB8AC3E}">
        <p14:creationId xmlns:p14="http://schemas.microsoft.com/office/powerpoint/2010/main" val="1486154893"/>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Rectangle 11"/>
          <p:cNvSpPr>
            <a:spLocks noGrp="1" noChangeArrowheads="1"/>
          </p:cNvSpPr>
          <p:nvPr>
            <p:ph type="sldNum" sz="quarter" idx="10"/>
          </p:nvPr>
        </p:nvSpPr>
        <p:spPr/>
        <p:txBody>
          <a:bodyPr/>
          <a:lstStyle>
            <a:lvl1pPr>
              <a:defRPr/>
            </a:lvl1pPr>
          </a:lstStyle>
          <a:p>
            <a:fld id="{B2B05758-BB4F-4559-81AD-225F352C8527}" type="slidenum">
              <a:rPr lang="zh-CN" altLang="en-US" smtClean="0"/>
              <a:t>‹#›</a:t>
            </a:fld>
            <a:endParaRPr lang="zh-CN" altLang="en-US"/>
          </a:p>
        </p:txBody>
      </p:sp>
    </p:spTree>
    <p:extLst>
      <p:ext uri="{BB962C8B-B14F-4D97-AF65-F5344CB8AC3E}">
        <p14:creationId xmlns:p14="http://schemas.microsoft.com/office/powerpoint/2010/main" val="93055506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E3EDDB66-D798-294C-A6FD-E08EE1F25087}"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41462944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B4800AA4-0651-E64B-B0D5-232CA31640BB}"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7079780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F80FEAF-5B8C-8545-862D-D30D6DB390B7}"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368610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65CC3BAE-4EFB-1B4C-A72B-B00911FCFADE}"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22168694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676A0C15-39B1-A440-BCAE-E0A0542D30EC}" type="datetime1">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6624660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01EC3831-E9CF-8441-8AF5-9350425494FD}"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8166591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09490-AC05-2545-A942-FCE4E7EC210A}" type="datetime1">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8239457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782B77-9AB8-7A4A-BEA4-1DC5DED230C6}"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94811749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50FA104-70EE-1541-82D6-09793DAA1E3F}"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5370214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51FCF8DB-4218-5940-807B-070C6889C30E}"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37166334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7D37E514-16F7-2348-A5EC-BCB0F685F9DB}"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14603893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E7AA8A6B-8848-614C-93CB-5058A23D9967}"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4BD1B1-730D-F943-A414-742CB33A94FD}" type="slidenum">
              <a:rPr lang="en-US" smtClean="0"/>
              <a:pPr/>
              <a:t>‹#›</a:t>
            </a:fld>
            <a:endParaRPr lang="en-US"/>
          </a:p>
        </p:txBody>
      </p:sp>
    </p:spTree>
    <p:extLst>
      <p:ext uri="{BB962C8B-B14F-4D97-AF65-F5344CB8AC3E}">
        <p14:creationId xmlns:p14="http://schemas.microsoft.com/office/powerpoint/2010/main" val="4284801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57B448E2-A2F9-9045-8399-5B11564B0043}"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9421570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EA3FEA05-A614-9742-A5EE-38383B4E2B1F}"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0459549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ADFB50-F2B2-7A4E-99F3-88DE7F01CA7A}"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4734912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E1ECA111-0945-2A4B-B20A-1206A6C5FD62}"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4343738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1B5D8249-C96C-C64B-B967-1C705E800EB5}" type="datetime1">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5385307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DD5EAF6A-CEDA-8442-9BFE-1D5059082CBD}"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36432056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4415D-4480-5D4E-A7D8-5D8C2118657C}" type="datetime1">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1054587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6DCAC96-E15F-284F-86D9-EA54DF7124F4}"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4070471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CE00AE-E5F6-1849-B8C1-460D68B308DE}" type="datetime1">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17876845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51AB545E-60CE-0144-89FC-5912C8FB8A25}"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44238542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B5754DF-2125-0342-B62B-B5810C987C4D}" type="datetime1">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254543264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2F25732-7EA4-5D44-9804-1654F52ACA87}" type="datetime1">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BCB7E-911E-C847-9261-46C1E20B5ED3}" type="slidenum">
              <a:rPr lang="en-US" smtClean="0"/>
              <a:pPr/>
              <a:t>‹#›</a:t>
            </a:fld>
            <a:endParaRPr lang="en-US"/>
          </a:p>
        </p:txBody>
      </p:sp>
    </p:spTree>
    <p:extLst>
      <p:ext uri="{BB962C8B-B14F-4D97-AF65-F5344CB8AC3E}">
        <p14:creationId xmlns:p14="http://schemas.microsoft.com/office/powerpoint/2010/main" val="349218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5.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theme" Target="../theme/theme6.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405" name="Rectangle 45"/>
          <p:cNvSpPr>
            <a:spLocks noChangeArrowheads="1"/>
          </p:cNvSpPr>
          <p:nvPr/>
        </p:nvSpPr>
        <p:spPr bwMode="hidden">
          <a:xfrm>
            <a:off x="0" y="0"/>
            <a:ext cx="4673600" cy="685800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i="0">
              <a:latin typeface="Times New Roman" pitchFamily="18" charset="0"/>
              <a:ea typeface="+mn-ea"/>
            </a:endParaRPr>
          </a:p>
        </p:txBody>
      </p:sp>
      <p:sp>
        <p:nvSpPr>
          <p:cNvPr id="15362" name="Rectangle 2"/>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i="0">
                <a:latin typeface="Arial" charset="0"/>
                <a:ea typeface="+mn-ea"/>
                <a:cs typeface="+mn-cs"/>
              </a:defRPr>
            </a:lvl1pPr>
          </a:lstStyle>
          <a:p>
            <a:endParaRPr lang="zh-CN" altLang="en-US"/>
          </a:p>
        </p:txBody>
      </p:sp>
      <p:sp>
        <p:nvSpPr>
          <p:cNvPr id="1029" name="Rectangle 14"/>
          <p:cNvSpPr>
            <a:spLocks noGrp="1" noChangeArrowheads="1"/>
          </p:cNvSpPr>
          <p:nvPr>
            <p:ph type="title"/>
          </p:nvPr>
        </p:nvSpPr>
        <p:spPr bwMode="auto">
          <a:xfrm>
            <a:off x="406400" y="228600"/>
            <a:ext cx="11379200" cy="762000"/>
          </a:xfrm>
          <a:prstGeom prst="rect">
            <a:avLst/>
          </a:prstGeom>
          <a:solidFill>
            <a:srgbClr val="5354F9"/>
          </a:solid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p>
        </p:txBody>
      </p:sp>
      <p:sp>
        <p:nvSpPr>
          <p:cNvPr id="1030" name="Rectangle 15"/>
          <p:cNvSpPr>
            <a:spLocks noGrp="1" noChangeArrowheads="1"/>
          </p:cNvSpPr>
          <p:nvPr>
            <p:ph type="body" idx="1"/>
          </p:nvPr>
        </p:nvSpPr>
        <p:spPr bwMode="auto">
          <a:xfrm>
            <a:off x="609600" y="1981200"/>
            <a:ext cx="109728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5376" name="Rectangle 16"/>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i="0">
                <a:latin typeface="Arial" charset="0"/>
                <a:ea typeface="+mn-ea"/>
                <a:cs typeface="+mn-cs"/>
              </a:defRPr>
            </a:lvl1pPr>
          </a:lstStyle>
          <a:p>
            <a:fld id="{FF2E6138-50C1-C64E-B776-0A2B93FA52A4}" type="datetime1">
              <a:rPr lang="en-US" altLang="zh-CN" smtClean="0"/>
              <a:t>3/6/2025</a:t>
            </a:fld>
            <a:endParaRPr lang="zh-CN" altLang="en-US"/>
          </a:p>
        </p:txBody>
      </p:sp>
      <p:grpSp>
        <p:nvGrpSpPr>
          <p:cNvPr id="1032" name="Group 41"/>
          <p:cNvGrpSpPr>
            <a:grpSpLocks/>
          </p:cNvGrpSpPr>
          <p:nvPr/>
        </p:nvGrpSpPr>
        <p:grpSpPr bwMode="auto">
          <a:xfrm>
            <a:off x="0" y="6477000"/>
            <a:ext cx="12192000" cy="381000"/>
            <a:chOff x="0" y="2880"/>
            <a:chExt cx="5760" cy="344"/>
          </a:xfrm>
        </p:grpSpPr>
        <p:sp>
          <p:nvSpPr>
            <p:cNvPr id="15392" name="Rectangle 32"/>
            <p:cNvSpPr>
              <a:spLocks noChangeArrowheads="1"/>
            </p:cNvSpPr>
            <p:nvPr/>
          </p:nvSpPr>
          <p:spPr bwMode="auto">
            <a:xfrm rot="10800000">
              <a:off x="5580" y="2889"/>
              <a:ext cx="180" cy="335"/>
            </a:xfrm>
            <a:prstGeom prst="rect">
              <a:avLst/>
            </a:prstGeom>
            <a:gradFill rotWithShape="0">
              <a:gsLst>
                <a:gs pos="0">
                  <a:schemeClr val="folHlink"/>
                </a:gs>
                <a:gs pos="100000">
                  <a:schemeClr val="bg1"/>
                </a:gs>
              </a:gsLst>
              <a:lin ang="0" scaled="1"/>
            </a:gradFill>
            <a:ln w="9525">
              <a:noFill/>
              <a:miter lim="800000"/>
              <a:headEnd/>
              <a:tailEnd/>
            </a:ln>
            <a:effectLst/>
          </p:spPr>
          <p:txBody>
            <a:bodyPr rot="10800000" wrap="none" anchor="ctr"/>
            <a:lstStyle/>
            <a:p>
              <a:pPr algn="ctr" eaLnBrk="1" hangingPunct="1">
                <a:defRPr/>
              </a:pPr>
              <a:endParaRPr lang="en-US" sz="2400" i="0">
                <a:latin typeface="Times New Roman" pitchFamily="18" charset="0"/>
                <a:ea typeface="+mn-ea"/>
              </a:endParaRPr>
            </a:p>
          </p:txBody>
        </p:sp>
        <p:sp>
          <p:nvSpPr>
            <p:cNvPr id="15393" name="Rectangle 33"/>
            <p:cNvSpPr>
              <a:spLocks noChangeArrowheads="1"/>
            </p:cNvSpPr>
            <p:nvPr/>
          </p:nvSpPr>
          <p:spPr bwMode="auto">
            <a:xfrm rot="10800000">
              <a:off x="0" y="3072"/>
              <a:ext cx="5500" cy="143"/>
            </a:xfrm>
            <a:prstGeom prst="rect">
              <a:avLst/>
            </a:prstGeom>
            <a:gradFill rotWithShape="0">
              <a:gsLst>
                <a:gs pos="0">
                  <a:schemeClr val="bg2"/>
                </a:gs>
                <a:gs pos="100000">
                  <a:schemeClr val="bg1"/>
                </a:gs>
              </a:gsLst>
              <a:lin ang="0" scaled="1"/>
            </a:gradFill>
            <a:ln w="9525">
              <a:noFill/>
              <a:miter lim="800000"/>
              <a:headEnd/>
              <a:tailEnd/>
            </a:ln>
          </p:spPr>
          <p:txBody>
            <a:bodyPr rot="10800000"/>
            <a:lstStyle/>
            <a:p>
              <a:pPr eaLnBrk="1" hangingPunct="1">
                <a:defRPr/>
              </a:pPr>
              <a:endParaRPr lang="en-US" sz="2400" i="0">
                <a:latin typeface="Times New Roman" pitchFamily="18" charset="0"/>
                <a:ea typeface="+mn-ea"/>
              </a:endParaRPr>
            </a:p>
          </p:txBody>
        </p:sp>
        <p:sp>
          <p:nvSpPr>
            <p:cNvPr id="15394" name="Rectangle 34"/>
            <p:cNvSpPr>
              <a:spLocks noChangeArrowheads="1"/>
            </p:cNvSpPr>
            <p:nvPr/>
          </p:nvSpPr>
          <p:spPr bwMode="auto">
            <a:xfrm rot="10800000">
              <a:off x="5414" y="3049"/>
              <a:ext cx="87" cy="89"/>
            </a:xfrm>
            <a:prstGeom prst="rect">
              <a:avLst/>
            </a:prstGeom>
            <a:solidFill>
              <a:schemeClr val="folHlink"/>
            </a:solidFill>
            <a:ln w="9525">
              <a:noFill/>
              <a:miter lim="800000"/>
              <a:headEnd/>
              <a:tailEnd/>
            </a:ln>
          </p:spPr>
          <p:txBody>
            <a:bodyPr rot="10800000"/>
            <a:lstStyle/>
            <a:p>
              <a:pPr eaLnBrk="1" hangingPunct="1">
                <a:defRPr/>
              </a:pPr>
              <a:endParaRPr lang="en-US" sz="1800" i="0">
                <a:solidFill>
                  <a:schemeClr val="hlink"/>
                </a:solidFill>
                <a:ea typeface="+mn-ea"/>
              </a:endParaRPr>
            </a:p>
          </p:txBody>
        </p:sp>
        <p:sp>
          <p:nvSpPr>
            <p:cNvPr id="15395" name="Rectangle 35"/>
            <p:cNvSpPr>
              <a:spLocks noChangeArrowheads="1"/>
            </p:cNvSpPr>
            <p:nvPr/>
          </p:nvSpPr>
          <p:spPr bwMode="auto">
            <a:xfrm rot="10800000">
              <a:off x="5327" y="3137"/>
              <a:ext cx="88" cy="86"/>
            </a:xfrm>
            <a:prstGeom prst="rect">
              <a:avLst/>
            </a:prstGeom>
            <a:solidFill>
              <a:schemeClr val="folHlink"/>
            </a:solidFill>
            <a:ln w="9525">
              <a:noFill/>
              <a:miter lim="800000"/>
              <a:headEnd/>
              <a:tailEnd/>
            </a:ln>
          </p:spPr>
          <p:txBody>
            <a:bodyPr rot="10800000"/>
            <a:lstStyle/>
            <a:p>
              <a:pPr eaLnBrk="1" hangingPunct="1">
                <a:defRPr/>
              </a:pPr>
              <a:endParaRPr lang="en-US" sz="1800" i="0">
                <a:solidFill>
                  <a:schemeClr val="hlink"/>
                </a:solidFill>
                <a:ea typeface="+mn-ea"/>
              </a:endParaRPr>
            </a:p>
          </p:txBody>
        </p:sp>
        <p:sp>
          <p:nvSpPr>
            <p:cNvPr id="15396" name="Rectangle 36"/>
            <p:cNvSpPr>
              <a:spLocks noChangeArrowheads="1"/>
            </p:cNvSpPr>
            <p:nvPr/>
          </p:nvSpPr>
          <p:spPr bwMode="auto">
            <a:xfrm rot="10800000">
              <a:off x="5327" y="3049"/>
              <a:ext cx="88" cy="89"/>
            </a:xfrm>
            <a:prstGeom prst="rect">
              <a:avLst/>
            </a:prstGeom>
            <a:solidFill>
              <a:schemeClr val="accent2"/>
            </a:solidFill>
            <a:ln w="9525">
              <a:noFill/>
              <a:miter lim="800000"/>
              <a:headEnd/>
              <a:tailEnd/>
            </a:ln>
          </p:spPr>
          <p:txBody>
            <a:bodyPr rot="10800000"/>
            <a:lstStyle/>
            <a:p>
              <a:pPr eaLnBrk="1" hangingPunct="1">
                <a:defRPr/>
              </a:pPr>
              <a:endParaRPr lang="en-US" sz="1800" i="0">
                <a:solidFill>
                  <a:schemeClr val="accent2"/>
                </a:solidFill>
                <a:ea typeface="+mn-ea"/>
              </a:endParaRPr>
            </a:p>
          </p:txBody>
        </p:sp>
        <p:sp>
          <p:nvSpPr>
            <p:cNvPr id="15397" name="Rectangle 37"/>
            <p:cNvSpPr>
              <a:spLocks noChangeArrowheads="1"/>
            </p:cNvSpPr>
            <p:nvPr/>
          </p:nvSpPr>
          <p:spPr bwMode="auto">
            <a:xfrm rot="10800000">
              <a:off x="5501" y="2963"/>
              <a:ext cx="86" cy="87"/>
            </a:xfrm>
            <a:prstGeom prst="rect">
              <a:avLst/>
            </a:prstGeom>
            <a:solidFill>
              <a:schemeClr val="folHlink"/>
            </a:solidFill>
            <a:ln w="9525">
              <a:noFill/>
              <a:miter lim="800000"/>
              <a:headEnd/>
              <a:tailEnd/>
            </a:ln>
          </p:spPr>
          <p:txBody>
            <a:bodyPr rot="10800000"/>
            <a:lstStyle/>
            <a:p>
              <a:pPr eaLnBrk="1" hangingPunct="1">
                <a:defRPr/>
              </a:pPr>
              <a:endParaRPr lang="en-US" sz="1800" i="0">
                <a:solidFill>
                  <a:schemeClr val="hlink"/>
                </a:solidFill>
                <a:ea typeface="+mn-ea"/>
              </a:endParaRPr>
            </a:p>
          </p:txBody>
        </p:sp>
        <p:sp>
          <p:nvSpPr>
            <p:cNvPr id="15398" name="Rectangle 38"/>
            <p:cNvSpPr>
              <a:spLocks noChangeArrowheads="1"/>
            </p:cNvSpPr>
            <p:nvPr/>
          </p:nvSpPr>
          <p:spPr bwMode="auto">
            <a:xfrm rot="10800000">
              <a:off x="5587" y="3051"/>
              <a:ext cx="89" cy="86"/>
            </a:xfrm>
            <a:prstGeom prst="rect">
              <a:avLst/>
            </a:prstGeom>
            <a:solidFill>
              <a:schemeClr val="bg2"/>
            </a:solidFill>
            <a:ln w="9525">
              <a:noFill/>
              <a:miter lim="800000"/>
              <a:headEnd/>
              <a:tailEnd/>
            </a:ln>
          </p:spPr>
          <p:txBody>
            <a:bodyPr rot="10800000"/>
            <a:lstStyle/>
            <a:p>
              <a:pPr eaLnBrk="1" hangingPunct="1">
                <a:defRPr/>
              </a:pPr>
              <a:endParaRPr lang="en-US" sz="2400" i="0">
                <a:latin typeface="Times New Roman" pitchFamily="18" charset="0"/>
                <a:ea typeface="+mn-ea"/>
              </a:endParaRPr>
            </a:p>
          </p:txBody>
        </p:sp>
        <p:sp>
          <p:nvSpPr>
            <p:cNvPr id="15399" name="Rectangle 39"/>
            <p:cNvSpPr>
              <a:spLocks noChangeArrowheads="1"/>
            </p:cNvSpPr>
            <p:nvPr/>
          </p:nvSpPr>
          <p:spPr bwMode="auto">
            <a:xfrm rot="10800000">
              <a:off x="5414" y="2965"/>
              <a:ext cx="87" cy="87"/>
            </a:xfrm>
            <a:prstGeom prst="rect">
              <a:avLst/>
            </a:prstGeom>
            <a:solidFill>
              <a:schemeClr val="accent2"/>
            </a:solidFill>
            <a:ln w="9525">
              <a:noFill/>
              <a:miter lim="800000"/>
              <a:headEnd/>
              <a:tailEnd/>
            </a:ln>
          </p:spPr>
          <p:txBody>
            <a:bodyPr rot="10800000"/>
            <a:lstStyle/>
            <a:p>
              <a:pPr eaLnBrk="1" hangingPunct="1">
                <a:defRPr/>
              </a:pPr>
              <a:endParaRPr lang="en-US" sz="1800" i="0">
                <a:solidFill>
                  <a:schemeClr val="accent2"/>
                </a:solidFill>
                <a:ea typeface="+mn-ea"/>
              </a:endParaRPr>
            </a:p>
          </p:txBody>
        </p:sp>
        <p:sp>
          <p:nvSpPr>
            <p:cNvPr id="15400" name="Rectangle 40"/>
            <p:cNvSpPr>
              <a:spLocks noChangeArrowheads="1"/>
            </p:cNvSpPr>
            <p:nvPr/>
          </p:nvSpPr>
          <p:spPr bwMode="auto">
            <a:xfrm rot="10800000">
              <a:off x="5501" y="2880"/>
              <a:ext cx="86" cy="86"/>
            </a:xfrm>
            <a:prstGeom prst="rect">
              <a:avLst/>
            </a:prstGeom>
            <a:solidFill>
              <a:schemeClr val="accent2"/>
            </a:solidFill>
            <a:ln w="9525">
              <a:noFill/>
              <a:miter lim="800000"/>
              <a:headEnd/>
              <a:tailEnd/>
            </a:ln>
          </p:spPr>
          <p:txBody>
            <a:bodyPr rot="10800000"/>
            <a:lstStyle/>
            <a:p>
              <a:pPr eaLnBrk="1" hangingPunct="1">
                <a:defRPr/>
              </a:pPr>
              <a:endParaRPr lang="en-US" sz="1800" i="0">
                <a:solidFill>
                  <a:schemeClr val="accent2"/>
                </a:solidFill>
                <a:ea typeface="+mn-ea"/>
              </a:endParaRPr>
            </a:p>
          </p:txBody>
        </p:sp>
      </p:grpSp>
      <p:sp>
        <p:nvSpPr>
          <p:cNvPr id="15363" name="Rectangle 3"/>
          <p:cNvSpPr>
            <a:spLocks noGrp="1" noChangeArrowheads="1"/>
          </p:cNvSpPr>
          <p:nvPr>
            <p:ph type="sldNum" sz="quarter" idx="4"/>
          </p:nvPr>
        </p:nvSpPr>
        <p:spPr bwMode="auto">
          <a:xfrm>
            <a:off x="8432800" y="640080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i="0">
                <a:latin typeface="Arial"/>
                <a:cs typeface="Arial"/>
              </a:defRPr>
            </a:lvl1pPr>
          </a:lstStyle>
          <a:p>
            <a:fld id="{B2B05758-BB4F-4559-81AD-225F352C8527}" type="slidenum">
              <a:rPr lang="zh-CN" altLang="en-US" smtClean="0"/>
              <a:t>‹#›</a:t>
            </a:fld>
            <a:endParaRPr lang="zh-CN" altLang="en-US"/>
          </a:p>
        </p:txBody>
      </p:sp>
    </p:spTree>
    <p:extLst>
      <p:ext uri="{BB962C8B-B14F-4D97-AF65-F5344CB8AC3E}">
        <p14:creationId xmlns:p14="http://schemas.microsoft.com/office/powerpoint/2010/main" val="20753609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ransition spd="med"/>
  <p:hf hdr="0" ftr="0" dt="0"/>
  <p:txStyles>
    <p:titleStyle>
      <a:lvl1pPr algn="ctr" rtl="0" eaLnBrk="1" fontAlgn="base" hangingPunct="1">
        <a:spcBef>
          <a:spcPct val="0"/>
        </a:spcBef>
        <a:spcAft>
          <a:spcPct val="0"/>
        </a:spcAft>
        <a:defRPr sz="3600">
          <a:solidFill>
            <a:schemeClr val="bg1"/>
          </a:solidFill>
          <a:latin typeface="+mj-lt"/>
          <a:ea typeface="ＭＳ Ｐゴシック" pitchFamily="-112" charset="-128"/>
          <a:cs typeface="Helvetica"/>
        </a:defRPr>
      </a:lvl1pPr>
      <a:lvl2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2pPr>
      <a:lvl3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3pPr>
      <a:lvl4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4pPr>
      <a:lvl5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5pPr>
      <a:lvl6pPr marL="457200" algn="ctr" rtl="0" eaLnBrk="1" fontAlgn="base" hangingPunct="1">
        <a:spcBef>
          <a:spcPct val="0"/>
        </a:spcBef>
        <a:spcAft>
          <a:spcPct val="0"/>
        </a:spcAft>
        <a:defRPr sz="3600">
          <a:solidFill>
            <a:schemeClr val="bg2"/>
          </a:solidFill>
          <a:latin typeface="Times New Roman" pitchFamily="18" charset="0"/>
        </a:defRPr>
      </a:lvl6pPr>
      <a:lvl7pPr marL="914400" algn="ctr" rtl="0" eaLnBrk="1" fontAlgn="base" hangingPunct="1">
        <a:spcBef>
          <a:spcPct val="0"/>
        </a:spcBef>
        <a:spcAft>
          <a:spcPct val="0"/>
        </a:spcAft>
        <a:defRPr sz="3600">
          <a:solidFill>
            <a:schemeClr val="bg2"/>
          </a:solidFill>
          <a:latin typeface="Times New Roman" pitchFamily="18" charset="0"/>
        </a:defRPr>
      </a:lvl7pPr>
      <a:lvl8pPr marL="1371600" algn="ctr" rtl="0" eaLnBrk="1" fontAlgn="base" hangingPunct="1">
        <a:spcBef>
          <a:spcPct val="0"/>
        </a:spcBef>
        <a:spcAft>
          <a:spcPct val="0"/>
        </a:spcAft>
        <a:defRPr sz="3600">
          <a:solidFill>
            <a:schemeClr val="bg2"/>
          </a:solidFill>
          <a:latin typeface="Times New Roman" pitchFamily="18" charset="0"/>
        </a:defRPr>
      </a:lvl8pPr>
      <a:lvl9pPr marL="1828800" algn="ctr" rtl="0" eaLnBrk="1" fontAlgn="base" hangingPunct="1">
        <a:spcBef>
          <a:spcPct val="0"/>
        </a:spcBef>
        <a:spcAft>
          <a:spcPct val="0"/>
        </a:spcAft>
        <a:defRPr sz="3600">
          <a:solidFill>
            <a:schemeClr val="bg2"/>
          </a:solidFill>
          <a:latin typeface="Times New Roman" pitchFamily="18" charset="0"/>
        </a:defRPr>
      </a:lvl9pPr>
    </p:titleStyle>
    <p:body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2CF8F-DFCA-9249-9B0C-7BF62F6AB910}" type="datetime1">
              <a:rPr lang="en-US" smtClean="0"/>
              <a:t>3/6/2025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4BD1B1-730D-F943-A414-742CB33A94FD}" type="slidenum">
              <a:rPr lang="en-US" smtClean="0"/>
              <a:pPr/>
              <a:t>‹#›</a:t>
            </a:fld>
            <a:endParaRPr lang="en-US"/>
          </a:p>
        </p:txBody>
      </p:sp>
    </p:spTree>
    <p:extLst>
      <p:ext uri="{BB962C8B-B14F-4D97-AF65-F5344CB8AC3E}">
        <p14:creationId xmlns:p14="http://schemas.microsoft.com/office/powerpoint/2010/main" val="199193035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BDEEA-6251-7944-987D-E15CD79683DE}" type="datetime1">
              <a:rPr lang="en-US" smtClean="0"/>
              <a:t>3/6/2025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BCB7E-911E-C847-9261-46C1E20B5ED3}" type="slidenum">
              <a:rPr lang="en-US" smtClean="0"/>
              <a:pPr/>
              <a:t>‹#›</a:t>
            </a:fld>
            <a:endParaRPr lang="en-US"/>
          </a:p>
        </p:txBody>
      </p:sp>
    </p:spTree>
    <p:extLst>
      <p:ext uri="{BB962C8B-B14F-4D97-AF65-F5344CB8AC3E}">
        <p14:creationId xmlns:p14="http://schemas.microsoft.com/office/powerpoint/2010/main" val="327147745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405" name="Rectangle 45"/>
          <p:cNvSpPr>
            <a:spLocks noChangeArrowheads="1"/>
          </p:cNvSpPr>
          <p:nvPr/>
        </p:nvSpPr>
        <p:spPr bwMode="hidden">
          <a:xfrm>
            <a:off x="0" y="0"/>
            <a:ext cx="4673600" cy="685800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i="0">
              <a:latin typeface="Times New Roman" pitchFamily="18" charset="0"/>
              <a:ea typeface="+mn-ea"/>
            </a:endParaRPr>
          </a:p>
        </p:txBody>
      </p:sp>
      <p:sp>
        <p:nvSpPr>
          <p:cNvPr id="15362" name="Rectangle 2"/>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i="0">
                <a:latin typeface="Arial" charset="0"/>
                <a:ea typeface="+mn-ea"/>
                <a:cs typeface="+mn-cs"/>
              </a:defRPr>
            </a:lvl1pPr>
          </a:lstStyle>
          <a:p>
            <a:endParaRPr lang="zh-CN" altLang="en-US"/>
          </a:p>
        </p:txBody>
      </p:sp>
      <p:sp>
        <p:nvSpPr>
          <p:cNvPr id="1029" name="Rectangle 14"/>
          <p:cNvSpPr>
            <a:spLocks noGrp="1" noChangeArrowheads="1"/>
          </p:cNvSpPr>
          <p:nvPr>
            <p:ph type="title"/>
          </p:nvPr>
        </p:nvSpPr>
        <p:spPr bwMode="auto">
          <a:xfrm>
            <a:off x="406400" y="228600"/>
            <a:ext cx="11379200" cy="762000"/>
          </a:xfrm>
          <a:prstGeom prst="rect">
            <a:avLst/>
          </a:prstGeom>
          <a:solidFill>
            <a:srgbClr val="5354F9"/>
          </a:solid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p>
        </p:txBody>
      </p:sp>
      <p:sp>
        <p:nvSpPr>
          <p:cNvPr id="1030" name="Rectangle 15"/>
          <p:cNvSpPr>
            <a:spLocks noGrp="1" noChangeArrowheads="1"/>
          </p:cNvSpPr>
          <p:nvPr>
            <p:ph type="body" idx="1"/>
          </p:nvPr>
        </p:nvSpPr>
        <p:spPr bwMode="auto">
          <a:xfrm>
            <a:off x="609600" y="1981200"/>
            <a:ext cx="109728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5376" name="Rectangle 16"/>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i="0">
                <a:latin typeface="Arial" charset="0"/>
                <a:ea typeface="+mn-ea"/>
                <a:cs typeface="+mn-cs"/>
              </a:defRPr>
            </a:lvl1pPr>
          </a:lstStyle>
          <a:p>
            <a:fld id="{366E3027-ECD4-0841-B6C6-941CF82F0CF6}" type="datetime1">
              <a:rPr lang="en-US" altLang="zh-CN" smtClean="0"/>
              <a:t>3/6/2025</a:t>
            </a:fld>
            <a:endParaRPr lang="zh-CN" altLang="en-US"/>
          </a:p>
        </p:txBody>
      </p:sp>
      <p:grpSp>
        <p:nvGrpSpPr>
          <p:cNvPr id="1032" name="Group 41"/>
          <p:cNvGrpSpPr>
            <a:grpSpLocks/>
          </p:cNvGrpSpPr>
          <p:nvPr/>
        </p:nvGrpSpPr>
        <p:grpSpPr bwMode="auto">
          <a:xfrm>
            <a:off x="0" y="6477000"/>
            <a:ext cx="12192000" cy="381000"/>
            <a:chOff x="0" y="2880"/>
            <a:chExt cx="5760" cy="344"/>
          </a:xfrm>
        </p:grpSpPr>
        <p:sp>
          <p:nvSpPr>
            <p:cNvPr id="15392" name="Rectangle 32"/>
            <p:cNvSpPr>
              <a:spLocks noChangeArrowheads="1"/>
            </p:cNvSpPr>
            <p:nvPr/>
          </p:nvSpPr>
          <p:spPr bwMode="auto">
            <a:xfrm rot="10800000">
              <a:off x="5580" y="2889"/>
              <a:ext cx="180" cy="335"/>
            </a:xfrm>
            <a:prstGeom prst="rect">
              <a:avLst/>
            </a:prstGeom>
            <a:gradFill rotWithShape="0">
              <a:gsLst>
                <a:gs pos="0">
                  <a:schemeClr val="folHlink"/>
                </a:gs>
                <a:gs pos="100000">
                  <a:schemeClr val="bg1"/>
                </a:gs>
              </a:gsLst>
              <a:lin ang="0" scaled="1"/>
            </a:gradFill>
            <a:ln w="9525">
              <a:noFill/>
              <a:miter lim="800000"/>
              <a:headEnd/>
              <a:tailEnd/>
            </a:ln>
            <a:effectLst/>
          </p:spPr>
          <p:txBody>
            <a:bodyPr rot="10800000" wrap="none" anchor="ctr"/>
            <a:lstStyle/>
            <a:p>
              <a:pPr algn="ctr" eaLnBrk="1" hangingPunct="1">
                <a:defRPr/>
              </a:pPr>
              <a:endParaRPr lang="en-US" sz="2400" i="0">
                <a:latin typeface="Times New Roman" pitchFamily="18" charset="0"/>
                <a:ea typeface="+mn-ea"/>
              </a:endParaRPr>
            </a:p>
          </p:txBody>
        </p:sp>
        <p:sp>
          <p:nvSpPr>
            <p:cNvPr id="15393" name="Rectangle 33"/>
            <p:cNvSpPr>
              <a:spLocks noChangeArrowheads="1"/>
            </p:cNvSpPr>
            <p:nvPr/>
          </p:nvSpPr>
          <p:spPr bwMode="auto">
            <a:xfrm rot="10800000">
              <a:off x="0" y="3072"/>
              <a:ext cx="5500" cy="143"/>
            </a:xfrm>
            <a:prstGeom prst="rect">
              <a:avLst/>
            </a:prstGeom>
            <a:gradFill rotWithShape="0">
              <a:gsLst>
                <a:gs pos="0">
                  <a:schemeClr val="bg2"/>
                </a:gs>
                <a:gs pos="100000">
                  <a:schemeClr val="bg1"/>
                </a:gs>
              </a:gsLst>
              <a:lin ang="0" scaled="1"/>
            </a:gradFill>
            <a:ln w="9525">
              <a:noFill/>
              <a:miter lim="800000"/>
              <a:headEnd/>
              <a:tailEnd/>
            </a:ln>
          </p:spPr>
          <p:txBody>
            <a:bodyPr rot="10800000"/>
            <a:lstStyle/>
            <a:p>
              <a:pPr eaLnBrk="1" hangingPunct="1">
                <a:defRPr/>
              </a:pPr>
              <a:endParaRPr lang="en-US" sz="2400" i="0">
                <a:latin typeface="Times New Roman" pitchFamily="18" charset="0"/>
                <a:ea typeface="+mn-ea"/>
              </a:endParaRPr>
            </a:p>
          </p:txBody>
        </p:sp>
        <p:sp>
          <p:nvSpPr>
            <p:cNvPr id="15394" name="Rectangle 34"/>
            <p:cNvSpPr>
              <a:spLocks noChangeArrowheads="1"/>
            </p:cNvSpPr>
            <p:nvPr/>
          </p:nvSpPr>
          <p:spPr bwMode="auto">
            <a:xfrm rot="10800000">
              <a:off x="5414" y="3049"/>
              <a:ext cx="87" cy="89"/>
            </a:xfrm>
            <a:prstGeom prst="rect">
              <a:avLst/>
            </a:prstGeom>
            <a:solidFill>
              <a:schemeClr val="folHlink"/>
            </a:solidFill>
            <a:ln w="9525">
              <a:noFill/>
              <a:miter lim="800000"/>
              <a:headEnd/>
              <a:tailEnd/>
            </a:ln>
          </p:spPr>
          <p:txBody>
            <a:bodyPr rot="10800000"/>
            <a:lstStyle/>
            <a:p>
              <a:pPr eaLnBrk="1" hangingPunct="1">
                <a:defRPr/>
              </a:pPr>
              <a:endParaRPr lang="en-US" i="0">
                <a:solidFill>
                  <a:schemeClr val="hlink"/>
                </a:solidFill>
                <a:ea typeface="+mn-ea"/>
              </a:endParaRPr>
            </a:p>
          </p:txBody>
        </p:sp>
        <p:sp>
          <p:nvSpPr>
            <p:cNvPr id="15395" name="Rectangle 35"/>
            <p:cNvSpPr>
              <a:spLocks noChangeArrowheads="1"/>
            </p:cNvSpPr>
            <p:nvPr/>
          </p:nvSpPr>
          <p:spPr bwMode="auto">
            <a:xfrm rot="10800000">
              <a:off x="5327" y="3137"/>
              <a:ext cx="88" cy="86"/>
            </a:xfrm>
            <a:prstGeom prst="rect">
              <a:avLst/>
            </a:prstGeom>
            <a:solidFill>
              <a:schemeClr val="folHlink"/>
            </a:solidFill>
            <a:ln w="9525">
              <a:noFill/>
              <a:miter lim="800000"/>
              <a:headEnd/>
              <a:tailEnd/>
            </a:ln>
          </p:spPr>
          <p:txBody>
            <a:bodyPr rot="10800000"/>
            <a:lstStyle/>
            <a:p>
              <a:pPr eaLnBrk="1" hangingPunct="1">
                <a:defRPr/>
              </a:pPr>
              <a:endParaRPr lang="en-US" i="0">
                <a:solidFill>
                  <a:schemeClr val="hlink"/>
                </a:solidFill>
                <a:ea typeface="+mn-ea"/>
              </a:endParaRPr>
            </a:p>
          </p:txBody>
        </p:sp>
        <p:sp>
          <p:nvSpPr>
            <p:cNvPr id="15396" name="Rectangle 36"/>
            <p:cNvSpPr>
              <a:spLocks noChangeArrowheads="1"/>
            </p:cNvSpPr>
            <p:nvPr/>
          </p:nvSpPr>
          <p:spPr bwMode="auto">
            <a:xfrm rot="10800000">
              <a:off x="5327" y="3049"/>
              <a:ext cx="88" cy="89"/>
            </a:xfrm>
            <a:prstGeom prst="rect">
              <a:avLst/>
            </a:prstGeom>
            <a:solidFill>
              <a:schemeClr val="accent2"/>
            </a:solidFill>
            <a:ln w="9525">
              <a:noFill/>
              <a:miter lim="800000"/>
              <a:headEnd/>
              <a:tailEnd/>
            </a:ln>
          </p:spPr>
          <p:txBody>
            <a:bodyPr rot="10800000"/>
            <a:lstStyle/>
            <a:p>
              <a:pPr eaLnBrk="1" hangingPunct="1">
                <a:defRPr/>
              </a:pPr>
              <a:endParaRPr lang="en-US" i="0">
                <a:solidFill>
                  <a:schemeClr val="accent2"/>
                </a:solidFill>
                <a:ea typeface="+mn-ea"/>
              </a:endParaRPr>
            </a:p>
          </p:txBody>
        </p:sp>
        <p:sp>
          <p:nvSpPr>
            <p:cNvPr id="15397" name="Rectangle 37"/>
            <p:cNvSpPr>
              <a:spLocks noChangeArrowheads="1"/>
            </p:cNvSpPr>
            <p:nvPr/>
          </p:nvSpPr>
          <p:spPr bwMode="auto">
            <a:xfrm rot="10800000">
              <a:off x="5501" y="2963"/>
              <a:ext cx="86" cy="87"/>
            </a:xfrm>
            <a:prstGeom prst="rect">
              <a:avLst/>
            </a:prstGeom>
            <a:solidFill>
              <a:schemeClr val="folHlink"/>
            </a:solidFill>
            <a:ln w="9525">
              <a:noFill/>
              <a:miter lim="800000"/>
              <a:headEnd/>
              <a:tailEnd/>
            </a:ln>
          </p:spPr>
          <p:txBody>
            <a:bodyPr rot="10800000"/>
            <a:lstStyle/>
            <a:p>
              <a:pPr eaLnBrk="1" hangingPunct="1">
                <a:defRPr/>
              </a:pPr>
              <a:endParaRPr lang="en-US" i="0">
                <a:solidFill>
                  <a:schemeClr val="hlink"/>
                </a:solidFill>
                <a:ea typeface="+mn-ea"/>
              </a:endParaRPr>
            </a:p>
          </p:txBody>
        </p:sp>
        <p:sp>
          <p:nvSpPr>
            <p:cNvPr id="15398" name="Rectangle 38"/>
            <p:cNvSpPr>
              <a:spLocks noChangeArrowheads="1"/>
            </p:cNvSpPr>
            <p:nvPr/>
          </p:nvSpPr>
          <p:spPr bwMode="auto">
            <a:xfrm rot="10800000">
              <a:off x="5587" y="3051"/>
              <a:ext cx="89" cy="86"/>
            </a:xfrm>
            <a:prstGeom prst="rect">
              <a:avLst/>
            </a:prstGeom>
            <a:solidFill>
              <a:schemeClr val="bg2"/>
            </a:solidFill>
            <a:ln w="9525">
              <a:noFill/>
              <a:miter lim="800000"/>
              <a:headEnd/>
              <a:tailEnd/>
            </a:ln>
          </p:spPr>
          <p:txBody>
            <a:bodyPr rot="10800000"/>
            <a:lstStyle/>
            <a:p>
              <a:pPr eaLnBrk="1" hangingPunct="1">
                <a:defRPr/>
              </a:pPr>
              <a:endParaRPr lang="en-US" sz="2400" i="0">
                <a:latin typeface="Times New Roman" pitchFamily="18" charset="0"/>
                <a:ea typeface="+mn-ea"/>
              </a:endParaRPr>
            </a:p>
          </p:txBody>
        </p:sp>
        <p:sp>
          <p:nvSpPr>
            <p:cNvPr id="15399" name="Rectangle 39"/>
            <p:cNvSpPr>
              <a:spLocks noChangeArrowheads="1"/>
            </p:cNvSpPr>
            <p:nvPr/>
          </p:nvSpPr>
          <p:spPr bwMode="auto">
            <a:xfrm rot="10800000">
              <a:off x="5414" y="2965"/>
              <a:ext cx="87" cy="87"/>
            </a:xfrm>
            <a:prstGeom prst="rect">
              <a:avLst/>
            </a:prstGeom>
            <a:solidFill>
              <a:schemeClr val="accent2"/>
            </a:solidFill>
            <a:ln w="9525">
              <a:noFill/>
              <a:miter lim="800000"/>
              <a:headEnd/>
              <a:tailEnd/>
            </a:ln>
          </p:spPr>
          <p:txBody>
            <a:bodyPr rot="10800000"/>
            <a:lstStyle/>
            <a:p>
              <a:pPr eaLnBrk="1" hangingPunct="1">
                <a:defRPr/>
              </a:pPr>
              <a:endParaRPr lang="en-US" i="0">
                <a:solidFill>
                  <a:schemeClr val="accent2"/>
                </a:solidFill>
                <a:ea typeface="+mn-ea"/>
              </a:endParaRPr>
            </a:p>
          </p:txBody>
        </p:sp>
        <p:sp>
          <p:nvSpPr>
            <p:cNvPr id="15400" name="Rectangle 40"/>
            <p:cNvSpPr>
              <a:spLocks noChangeArrowheads="1"/>
            </p:cNvSpPr>
            <p:nvPr/>
          </p:nvSpPr>
          <p:spPr bwMode="auto">
            <a:xfrm rot="10800000">
              <a:off x="5501" y="2880"/>
              <a:ext cx="86" cy="86"/>
            </a:xfrm>
            <a:prstGeom prst="rect">
              <a:avLst/>
            </a:prstGeom>
            <a:solidFill>
              <a:schemeClr val="accent2"/>
            </a:solidFill>
            <a:ln w="9525">
              <a:noFill/>
              <a:miter lim="800000"/>
              <a:headEnd/>
              <a:tailEnd/>
            </a:ln>
          </p:spPr>
          <p:txBody>
            <a:bodyPr rot="10800000"/>
            <a:lstStyle/>
            <a:p>
              <a:pPr eaLnBrk="1" hangingPunct="1">
                <a:defRPr/>
              </a:pPr>
              <a:endParaRPr lang="en-US" i="0">
                <a:solidFill>
                  <a:schemeClr val="accent2"/>
                </a:solidFill>
                <a:ea typeface="+mn-ea"/>
              </a:endParaRPr>
            </a:p>
          </p:txBody>
        </p:sp>
      </p:grpSp>
      <p:sp>
        <p:nvSpPr>
          <p:cNvPr id="15363" name="Rectangle 3"/>
          <p:cNvSpPr>
            <a:spLocks noGrp="1" noChangeArrowheads="1"/>
          </p:cNvSpPr>
          <p:nvPr>
            <p:ph type="sldNum" sz="quarter" idx="4"/>
          </p:nvPr>
        </p:nvSpPr>
        <p:spPr bwMode="auto">
          <a:xfrm>
            <a:off x="8432800" y="640080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i="0">
                <a:latin typeface="Arial"/>
                <a:cs typeface="Arial"/>
              </a:defRPr>
            </a:lvl1pPr>
          </a:lstStyle>
          <a:p>
            <a:fld id="{B2B05758-BB4F-4559-81AD-225F352C8527}" type="slidenum">
              <a:rPr lang="zh-CN" altLang="en-US" smtClean="0"/>
              <a:t>‹#›</a:t>
            </a:fld>
            <a:endParaRPr lang="zh-CN" altLang="en-US"/>
          </a:p>
        </p:txBody>
      </p:sp>
    </p:spTree>
    <p:extLst>
      <p:ext uri="{BB962C8B-B14F-4D97-AF65-F5344CB8AC3E}">
        <p14:creationId xmlns:p14="http://schemas.microsoft.com/office/powerpoint/2010/main" val="180973630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Lst>
  <p:transition spd="med"/>
  <p:hf hdr="0" ftr="0" dt="0"/>
  <p:txStyles>
    <p:titleStyle>
      <a:lvl1pPr algn="ctr" rtl="0" eaLnBrk="1" fontAlgn="base" hangingPunct="1">
        <a:spcBef>
          <a:spcPct val="0"/>
        </a:spcBef>
        <a:spcAft>
          <a:spcPct val="0"/>
        </a:spcAft>
        <a:defRPr sz="3600">
          <a:solidFill>
            <a:schemeClr val="bg1"/>
          </a:solidFill>
          <a:latin typeface="+mj-lt"/>
          <a:ea typeface="ＭＳ Ｐゴシック" pitchFamily="-112" charset="-128"/>
          <a:cs typeface="Helvetica"/>
        </a:defRPr>
      </a:lvl1pPr>
      <a:lvl2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2pPr>
      <a:lvl3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3pPr>
      <a:lvl4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4pPr>
      <a:lvl5pPr algn="ctr" rtl="0" eaLnBrk="1" fontAlgn="base" hangingPunct="1">
        <a:spcBef>
          <a:spcPct val="0"/>
        </a:spcBef>
        <a:spcAft>
          <a:spcPct val="0"/>
        </a:spcAft>
        <a:defRPr sz="3600">
          <a:solidFill>
            <a:schemeClr val="bg2"/>
          </a:solidFill>
          <a:latin typeface="Times New Roman" pitchFamily="18" charset="0"/>
          <a:ea typeface="ＭＳ Ｐゴシック" pitchFamily="-112" charset="-128"/>
          <a:cs typeface="ＭＳ Ｐゴシック" pitchFamily="-112" charset="-128"/>
        </a:defRPr>
      </a:lvl5pPr>
      <a:lvl6pPr marL="457200" algn="ctr" rtl="0" eaLnBrk="1" fontAlgn="base" hangingPunct="1">
        <a:spcBef>
          <a:spcPct val="0"/>
        </a:spcBef>
        <a:spcAft>
          <a:spcPct val="0"/>
        </a:spcAft>
        <a:defRPr sz="3600">
          <a:solidFill>
            <a:schemeClr val="bg2"/>
          </a:solidFill>
          <a:latin typeface="Times New Roman" pitchFamily="18" charset="0"/>
        </a:defRPr>
      </a:lvl6pPr>
      <a:lvl7pPr marL="914400" algn="ctr" rtl="0" eaLnBrk="1" fontAlgn="base" hangingPunct="1">
        <a:spcBef>
          <a:spcPct val="0"/>
        </a:spcBef>
        <a:spcAft>
          <a:spcPct val="0"/>
        </a:spcAft>
        <a:defRPr sz="3600">
          <a:solidFill>
            <a:schemeClr val="bg2"/>
          </a:solidFill>
          <a:latin typeface="Times New Roman" pitchFamily="18" charset="0"/>
        </a:defRPr>
      </a:lvl7pPr>
      <a:lvl8pPr marL="1371600" algn="ctr" rtl="0" eaLnBrk="1" fontAlgn="base" hangingPunct="1">
        <a:spcBef>
          <a:spcPct val="0"/>
        </a:spcBef>
        <a:spcAft>
          <a:spcPct val="0"/>
        </a:spcAft>
        <a:defRPr sz="3600">
          <a:solidFill>
            <a:schemeClr val="bg2"/>
          </a:solidFill>
          <a:latin typeface="Times New Roman" pitchFamily="18" charset="0"/>
        </a:defRPr>
      </a:lvl8pPr>
      <a:lvl9pPr marL="1828800" algn="ctr" rtl="0" eaLnBrk="1" fontAlgn="base" hangingPunct="1">
        <a:spcBef>
          <a:spcPct val="0"/>
        </a:spcBef>
        <a:spcAft>
          <a:spcPct val="0"/>
        </a:spcAft>
        <a:defRPr sz="3600">
          <a:solidFill>
            <a:schemeClr val="bg2"/>
          </a:solidFill>
          <a:latin typeface="Times New Roman" pitchFamily="18" charset="0"/>
        </a:defRPr>
      </a:lvl9pPr>
    </p:titleStyle>
    <p:body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7A828B-3BE4-134D-A0FD-70C1FFA52D6C}" type="datetime1">
              <a:rPr lang="en-US" smtClean="0"/>
              <a:t>3/6/2025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4BD1B1-730D-F943-A414-742CB33A94FD}" type="slidenum">
              <a:rPr lang="en-US" smtClean="0"/>
              <a:pPr/>
              <a:t>‹#›</a:t>
            </a:fld>
            <a:endParaRPr lang="en-US"/>
          </a:p>
        </p:txBody>
      </p:sp>
    </p:spTree>
    <p:extLst>
      <p:ext uri="{BB962C8B-B14F-4D97-AF65-F5344CB8AC3E}">
        <p14:creationId xmlns:p14="http://schemas.microsoft.com/office/powerpoint/2010/main" val="183091653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C1897-9835-3945-B8AE-F35860980353}" type="datetime1">
              <a:rPr lang="en-US" smtClean="0"/>
              <a:t>3/6/2025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BCB7E-911E-C847-9261-46C1E20B5ED3}" type="slidenum">
              <a:rPr lang="en-US" smtClean="0"/>
              <a:pPr/>
              <a:t>‹#›</a:t>
            </a:fld>
            <a:endParaRPr lang="en-US"/>
          </a:p>
        </p:txBody>
      </p:sp>
    </p:spTree>
    <p:extLst>
      <p:ext uri="{BB962C8B-B14F-4D97-AF65-F5344CB8AC3E}">
        <p14:creationId xmlns:p14="http://schemas.microsoft.com/office/powerpoint/2010/main" val="76900653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4.xml"/><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4.xml"/><Relationship Id="rId6" Type="http://schemas.openxmlformats.org/officeDocument/2006/relationships/image" Target="../media/image12.png"/><Relationship Id="rId5" Type="http://schemas.openxmlformats.org/officeDocument/2006/relationships/image" Target="../media/image85.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7.wmf"/><Relationship Id="rId3" Type="http://schemas.openxmlformats.org/officeDocument/2006/relationships/notesSlide" Target="../notesSlides/notesSlide6.xml"/><Relationship Id="rId7" Type="http://schemas.openxmlformats.org/officeDocument/2006/relationships/image" Target="../media/image14.wmf"/><Relationship Id="rId12" Type="http://schemas.openxmlformats.org/officeDocument/2006/relationships/oleObject" Target="../embeddings/oleObject5.bin"/><Relationship Id="rId17" Type="http://schemas.openxmlformats.org/officeDocument/2006/relationships/image" Target="../media/image19.wmf"/><Relationship Id="rId2" Type="http://schemas.openxmlformats.org/officeDocument/2006/relationships/slideLayout" Target="../slideLayouts/slideLayout34.xml"/><Relationship Id="rId16" Type="http://schemas.openxmlformats.org/officeDocument/2006/relationships/oleObject" Target="../embeddings/oleObject7.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5.wmf"/><Relationship Id="rId1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7.xml"/><Relationship Id="rId7" Type="http://schemas.openxmlformats.org/officeDocument/2006/relationships/image" Target="../media/image22.png"/><Relationship Id="rId2" Type="http://schemas.openxmlformats.org/officeDocument/2006/relationships/slideLayout" Target="../slideLayouts/slideLayout34.xml"/><Relationship Id="rId1" Type="http://schemas.openxmlformats.org/officeDocument/2006/relationships/vmlDrawing" Target="../drawings/vmlDrawing2.v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8.xml"/><Relationship Id="rId7" Type="http://schemas.openxmlformats.org/officeDocument/2006/relationships/image" Target="../media/image25.wmf"/><Relationship Id="rId12" Type="http://schemas.openxmlformats.org/officeDocument/2006/relationships/image" Target="../media/image27.wmf"/><Relationship Id="rId2" Type="http://schemas.openxmlformats.org/officeDocument/2006/relationships/slideLayout" Target="../slideLayouts/slideLayout34.xml"/><Relationship Id="rId1" Type="http://schemas.openxmlformats.org/officeDocument/2006/relationships/vmlDrawing" Target="../drawings/vmlDrawing3.vml"/><Relationship Id="rId6" Type="http://schemas.openxmlformats.org/officeDocument/2006/relationships/oleObject" Target="../embeddings/oleObject10.bin"/><Relationship Id="rId11" Type="http://schemas.openxmlformats.org/officeDocument/2006/relationships/oleObject" Target="../embeddings/oleObject12.bin"/><Relationship Id="rId5" Type="http://schemas.openxmlformats.org/officeDocument/2006/relationships/image" Target="../media/image24.wmf"/><Relationship Id="rId10" Type="http://schemas.openxmlformats.org/officeDocument/2006/relationships/image" Target="../media/image26.wmf"/><Relationship Id="rId4" Type="http://schemas.openxmlformats.org/officeDocument/2006/relationships/oleObject" Target="../embeddings/oleObject9.bin"/><Relationship Id="rId9"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4.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notesSlide" Target="../notesSlides/notesSlide10.xml"/><Relationship Id="rId7" Type="http://schemas.openxmlformats.org/officeDocument/2006/relationships/oleObject" Target="../embeddings/oleObject13.bin"/><Relationship Id="rId2" Type="http://schemas.openxmlformats.org/officeDocument/2006/relationships/slideLayout" Target="../slideLayouts/slideLayout34.xml"/><Relationship Id="rId1" Type="http://schemas.openxmlformats.org/officeDocument/2006/relationships/vmlDrawing" Target="../drawings/vmlDrawing4.vml"/><Relationship Id="rId6" Type="http://schemas.openxmlformats.org/officeDocument/2006/relationships/image" Target="../media/image35.png"/><Relationship Id="rId11" Type="http://schemas.openxmlformats.org/officeDocument/2006/relationships/image" Target="../media/image36.png"/><Relationship Id="rId5" Type="http://schemas.openxmlformats.org/officeDocument/2006/relationships/image" Target="../media/image34.png"/><Relationship Id="rId10" Type="http://schemas.openxmlformats.org/officeDocument/2006/relationships/image" Target="../media/image32.wmf"/><Relationship Id="rId4" Type="http://schemas.openxmlformats.org/officeDocument/2006/relationships/image" Target="../media/image33.png"/><Relationship Id="rId9"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1.xml"/><Relationship Id="rId1" Type="http://schemas.openxmlformats.org/officeDocument/2006/relationships/slideLayout" Target="../slideLayouts/slideLayout34.xml"/><Relationship Id="rId4" Type="http://schemas.openxmlformats.org/officeDocument/2006/relationships/image" Target="../media/image3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34.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44.wmf"/><Relationship Id="rId3" Type="http://schemas.openxmlformats.org/officeDocument/2006/relationships/notesSlide" Target="../notesSlides/notesSlide13.xml"/><Relationship Id="rId7" Type="http://schemas.openxmlformats.org/officeDocument/2006/relationships/image" Target="../media/image41.wmf"/><Relationship Id="rId12" Type="http://schemas.openxmlformats.org/officeDocument/2006/relationships/oleObject" Target="../embeddings/oleObject18.bin"/><Relationship Id="rId2" Type="http://schemas.openxmlformats.org/officeDocument/2006/relationships/slideLayout" Target="../slideLayouts/slideLayout34.xml"/><Relationship Id="rId1" Type="http://schemas.openxmlformats.org/officeDocument/2006/relationships/vmlDrawing" Target="../drawings/vmlDrawing5.vml"/><Relationship Id="rId6" Type="http://schemas.openxmlformats.org/officeDocument/2006/relationships/oleObject" Target="../embeddings/oleObject15.bin"/><Relationship Id="rId11" Type="http://schemas.openxmlformats.org/officeDocument/2006/relationships/image" Target="../media/image43.wmf"/><Relationship Id="rId5" Type="http://schemas.openxmlformats.org/officeDocument/2006/relationships/image" Target="../media/image44.png"/><Relationship Id="rId10" Type="http://schemas.openxmlformats.org/officeDocument/2006/relationships/oleObject" Target="../embeddings/oleObject17.bin"/><Relationship Id="rId4" Type="http://schemas.openxmlformats.org/officeDocument/2006/relationships/image" Target="../media/image45.jpeg"/><Relationship Id="rId9" Type="http://schemas.openxmlformats.org/officeDocument/2006/relationships/image" Target="../media/image42.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14.xml"/><Relationship Id="rId7" Type="http://schemas.openxmlformats.org/officeDocument/2006/relationships/image" Target="../media/image47.wmf"/><Relationship Id="rId2" Type="http://schemas.openxmlformats.org/officeDocument/2006/relationships/slideLayout" Target="../slideLayouts/slideLayout34.xml"/><Relationship Id="rId1" Type="http://schemas.openxmlformats.org/officeDocument/2006/relationships/vmlDrawing" Target="../drawings/vmlDrawing6.vml"/><Relationship Id="rId6" Type="http://schemas.openxmlformats.org/officeDocument/2006/relationships/oleObject" Target="../embeddings/oleObject20.bin"/><Relationship Id="rId11" Type="http://schemas.openxmlformats.org/officeDocument/2006/relationships/image" Target="../media/image49.wmf"/><Relationship Id="rId5" Type="http://schemas.openxmlformats.org/officeDocument/2006/relationships/image" Target="../media/image46.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48.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1.wmf"/><Relationship Id="rId2" Type="http://schemas.openxmlformats.org/officeDocument/2006/relationships/slideLayout" Target="../slideLayouts/slideLayout34.xml"/><Relationship Id="rId1" Type="http://schemas.openxmlformats.org/officeDocument/2006/relationships/vmlDrawing" Target="../drawings/vmlDrawing7.vml"/><Relationship Id="rId6" Type="http://schemas.openxmlformats.org/officeDocument/2006/relationships/oleObject" Target="../embeddings/oleObject24.bin"/><Relationship Id="rId5" Type="http://schemas.openxmlformats.org/officeDocument/2006/relationships/image" Target="../media/image50.wmf"/><Relationship Id="rId4" Type="http://schemas.openxmlformats.org/officeDocument/2006/relationships/oleObject" Target="../embeddings/oleObject23.bin"/></Relationships>
</file>

<file path=ppt/slides/_rels/slide20.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notesSlide" Target="../notesSlides/notesSlide16.xml"/><Relationship Id="rId7" Type="http://schemas.openxmlformats.org/officeDocument/2006/relationships/oleObject" Target="../embeddings/oleObject25.bin"/><Relationship Id="rId2" Type="http://schemas.openxmlformats.org/officeDocument/2006/relationships/slideLayout" Target="../slideLayouts/slideLayout34.xml"/><Relationship Id="rId1" Type="http://schemas.openxmlformats.org/officeDocument/2006/relationships/vmlDrawing" Target="../drawings/vmlDrawing8.vml"/><Relationship Id="rId6" Type="http://schemas.openxmlformats.org/officeDocument/2006/relationships/image" Target="../media/image51.wmf"/><Relationship Id="rId5" Type="http://schemas.openxmlformats.org/officeDocument/2006/relationships/oleObject" Target="../embeddings/oleObject24.bin"/><Relationship Id="rId10" Type="http://schemas.openxmlformats.org/officeDocument/2006/relationships/image" Target="../media/image53.wmf"/><Relationship Id="rId4" Type="http://schemas.openxmlformats.org/officeDocument/2006/relationships/image" Target="../media/image54.png"/><Relationship Id="rId9" Type="http://schemas.openxmlformats.org/officeDocument/2006/relationships/oleObject" Target="../embeddings/oleObject26.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17.xml"/><Relationship Id="rId7" Type="http://schemas.openxmlformats.org/officeDocument/2006/relationships/image" Target="../media/image56.wmf"/><Relationship Id="rId2" Type="http://schemas.openxmlformats.org/officeDocument/2006/relationships/slideLayout" Target="../slideLayouts/slideLayout34.xml"/><Relationship Id="rId1" Type="http://schemas.openxmlformats.org/officeDocument/2006/relationships/vmlDrawing" Target="../drawings/vmlDrawing9.vml"/><Relationship Id="rId6" Type="http://schemas.openxmlformats.org/officeDocument/2006/relationships/oleObject" Target="../embeddings/oleObject28.bin"/><Relationship Id="rId5" Type="http://schemas.openxmlformats.org/officeDocument/2006/relationships/image" Target="../media/image55.wmf"/><Relationship Id="rId4" Type="http://schemas.openxmlformats.org/officeDocument/2006/relationships/oleObject" Target="../embeddings/oleObject27.bin"/><Relationship Id="rId9" Type="http://schemas.openxmlformats.org/officeDocument/2006/relationships/image" Target="../media/image57.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58.wmf"/><Relationship Id="rId2" Type="http://schemas.openxmlformats.org/officeDocument/2006/relationships/slideLayout" Target="../slideLayouts/slideLayout34.xml"/><Relationship Id="rId1" Type="http://schemas.openxmlformats.org/officeDocument/2006/relationships/vmlDrawing" Target="../drawings/vmlDrawing10.vml"/><Relationship Id="rId6" Type="http://schemas.openxmlformats.org/officeDocument/2006/relationships/oleObject" Target="../embeddings/oleObject30.bin"/><Relationship Id="rId5" Type="http://schemas.openxmlformats.org/officeDocument/2006/relationships/image" Target="../media/image60.jpeg"/><Relationship Id="rId4" Type="http://schemas.openxmlformats.org/officeDocument/2006/relationships/image" Target="../media/image59.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58.wmf"/><Relationship Id="rId2" Type="http://schemas.openxmlformats.org/officeDocument/2006/relationships/slideLayout" Target="../slideLayouts/slideLayout34.xml"/><Relationship Id="rId1" Type="http://schemas.openxmlformats.org/officeDocument/2006/relationships/vmlDrawing" Target="../drawings/vmlDrawing11.vml"/><Relationship Id="rId6" Type="http://schemas.openxmlformats.org/officeDocument/2006/relationships/oleObject" Target="../embeddings/oleObject31.bin"/><Relationship Id="rId5" Type="http://schemas.openxmlformats.org/officeDocument/2006/relationships/image" Target="../media/image62.jpg"/><Relationship Id="rId4" Type="http://schemas.openxmlformats.org/officeDocument/2006/relationships/image" Target="../media/image61.jpe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20.xml"/><Relationship Id="rId7" Type="http://schemas.openxmlformats.org/officeDocument/2006/relationships/image" Target="../media/image63.wmf"/><Relationship Id="rId12" Type="http://schemas.openxmlformats.org/officeDocument/2006/relationships/image" Target="../media/image67.jpeg"/><Relationship Id="rId2" Type="http://schemas.openxmlformats.org/officeDocument/2006/relationships/slideLayout" Target="../slideLayouts/slideLayout34.xml"/><Relationship Id="rId1" Type="http://schemas.openxmlformats.org/officeDocument/2006/relationships/vmlDrawing" Target="../drawings/vmlDrawing12.vml"/><Relationship Id="rId6" Type="http://schemas.openxmlformats.org/officeDocument/2006/relationships/oleObject" Target="../embeddings/oleObject33.bin"/><Relationship Id="rId11" Type="http://schemas.openxmlformats.org/officeDocument/2006/relationships/image" Target="../media/image66.jpeg"/><Relationship Id="rId5" Type="http://schemas.openxmlformats.org/officeDocument/2006/relationships/image" Target="../media/image58.wmf"/><Relationship Id="rId10" Type="http://schemas.openxmlformats.org/officeDocument/2006/relationships/image" Target="../media/image65.jpeg"/><Relationship Id="rId4" Type="http://schemas.openxmlformats.org/officeDocument/2006/relationships/oleObject" Target="../embeddings/oleObject32.bin"/><Relationship Id="rId9" Type="http://schemas.openxmlformats.org/officeDocument/2006/relationships/image" Target="../media/image64.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notesSlide" Target="../notesSlides/notesSlide21.xml"/><Relationship Id="rId7" Type="http://schemas.openxmlformats.org/officeDocument/2006/relationships/image" Target="../media/image58.wmf"/><Relationship Id="rId12" Type="http://schemas.openxmlformats.org/officeDocument/2006/relationships/image" Target="../media/image70.jpeg"/><Relationship Id="rId2" Type="http://schemas.openxmlformats.org/officeDocument/2006/relationships/slideLayout" Target="../slideLayouts/slideLayout34.xml"/><Relationship Id="rId1" Type="http://schemas.openxmlformats.org/officeDocument/2006/relationships/vmlDrawing" Target="../drawings/vmlDrawing13.vml"/><Relationship Id="rId6" Type="http://schemas.openxmlformats.org/officeDocument/2006/relationships/oleObject" Target="../embeddings/oleObject35.bin"/><Relationship Id="rId11" Type="http://schemas.openxmlformats.org/officeDocument/2006/relationships/image" Target="../media/image64.wmf"/><Relationship Id="rId5" Type="http://schemas.openxmlformats.org/officeDocument/2006/relationships/image" Target="../media/image69.jpeg"/><Relationship Id="rId10" Type="http://schemas.openxmlformats.org/officeDocument/2006/relationships/oleObject" Target="../embeddings/oleObject37.bin"/><Relationship Id="rId4" Type="http://schemas.openxmlformats.org/officeDocument/2006/relationships/image" Target="../media/image68.jpeg"/><Relationship Id="rId9" Type="http://schemas.openxmlformats.org/officeDocument/2006/relationships/image" Target="../media/image63.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4.xml"/><Relationship Id="rId1" Type="http://schemas.openxmlformats.org/officeDocument/2006/relationships/vmlDrawing" Target="../drawings/vmlDrawing14.vml"/><Relationship Id="rId6" Type="http://schemas.openxmlformats.org/officeDocument/2006/relationships/image" Target="../media/image71.wmf"/><Relationship Id="rId5" Type="http://schemas.openxmlformats.org/officeDocument/2006/relationships/oleObject" Target="../embeddings/oleObject38.bin"/><Relationship Id="rId4" Type="http://schemas.openxmlformats.org/officeDocument/2006/relationships/image" Target="../media/image72.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43.bin"/><Relationship Id="rId3" Type="http://schemas.openxmlformats.org/officeDocument/2006/relationships/notesSlide" Target="../notesSlides/notesSlide25.xml"/><Relationship Id="rId7" Type="http://schemas.openxmlformats.org/officeDocument/2006/relationships/oleObject" Target="../embeddings/oleObject40.bin"/><Relationship Id="rId12" Type="http://schemas.openxmlformats.org/officeDocument/2006/relationships/image" Target="../media/image77.wmf"/><Relationship Id="rId2" Type="http://schemas.openxmlformats.org/officeDocument/2006/relationships/slideLayout" Target="../slideLayouts/slideLayout34.xml"/><Relationship Id="rId1" Type="http://schemas.openxmlformats.org/officeDocument/2006/relationships/vmlDrawing" Target="../drawings/vmlDrawing15.vml"/><Relationship Id="rId6" Type="http://schemas.openxmlformats.org/officeDocument/2006/relationships/image" Target="../media/image74.wmf"/><Relationship Id="rId11" Type="http://schemas.openxmlformats.org/officeDocument/2006/relationships/oleObject" Target="../embeddings/oleObject42.bin"/><Relationship Id="rId5" Type="http://schemas.openxmlformats.org/officeDocument/2006/relationships/oleObject" Target="../embeddings/oleObject39.bin"/><Relationship Id="rId10" Type="http://schemas.openxmlformats.org/officeDocument/2006/relationships/image" Target="../media/image76.wmf"/><Relationship Id="rId4" Type="http://schemas.openxmlformats.org/officeDocument/2006/relationships/image" Target="../media/image79.png"/><Relationship Id="rId9" Type="http://schemas.openxmlformats.org/officeDocument/2006/relationships/oleObject" Target="../embeddings/oleObject41.bin"/><Relationship Id="rId14" Type="http://schemas.openxmlformats.org/officeDocument/2006/relationships/image" Target="../media/image78.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17.wmf"/><Relationship Id="rId3" Type="http://schemas.openxmlformats.org/officeDocument/2006/relationships/notesSlide" Target="../notesSlides/notesSlide26.xml"/><Relationship Id="rId7" Type="http://schemas.openxmlformats.org/officeDocument/2006/relationships/image" Target="../media/image80.wmf"/><Relationship Id="rId12" Type="http://schemas.openxmlformats.org/officeDocument/2006/relationships/oleObject" Target="../embeddings/oleObject46.bin"/><Relationship Id="rId17" Type="http://schemas.openxmlformats.org/officeDocument/2006/relationships/image" Target="../media/image82.wmf"/><Relationship Id="rId2" Type="http://schemas.openxmlformats.org/officeDocument/2006/relationships/slideLayout" Target="../slideLayouts/slideLayout34.xml"/><Relationship Id="rId16" Type="http://schemas.openxmlformats.org/officeDocument/2006/relationships/oleObject" Target="../embeddings/oleObject48.bin"/><Relationship Id="rId1" Type="http://schemas.openxmlformats.org/officeDocument/2006/relationships/vmlDrawing" Target="../drawings/vmlDrawing16.vml"/><Relationship Id="rId6" Type="http://schemas.openxmlformats.org/officeDocument/2006/relationships/oleObject" Target="../embeddings/oleObject44.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81.wmf"/><Relationship Id="rId14" Type="http://schemas.openxmlformats.org/officeDocument/2006/relationships/oleObject" Target="../embeddings/oleObject4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8D131B-3C02-D2F7-9992-EAB323842AD8}"/>
              </a:ext>
            </a:extLst>
          </p:cNvPr>
          <p:cNvSpPr>
            <a:spLocks noGrp="1"/>
          </p:cNvSpPr>
          <p:nvPr>
            <p:ph type="ctrTitle"/>
          </p:nvPr>
        </p:nvSpPr>
        <p:spPr>
          <a:xfrm>
            <a:off x="1218741" y="1242890"/>
            <a:ext cx="9697452" cy="2209800"/>
          </a:xfrm>
          <a:solidFill>
            <a:srgbClr val="3333FF"/>
          </a:solidFill>
        </p:spPr>
        <p:txBody>
          <a:bodyPr/>
          <a:lstStyle/>
          <a:p>
            <a:pPr algn="ctr"/>
            <a:r>
              <a:rPr lang="en-US" altLang="zh-CN" sz="4400" b="1" i="0" dirty="0">
                <a:solidFill>
                  <a:srgbClr val="FFFF00"/>
                </a:solidFill>
                <a:latin typeface="Times New Roman"/>
                <a:cs typeface="Times New Roman"/>
              </a:rPr>
              <a:t>DSL-OTA: Distributed Swarm Learning with Over the Air Aggregation on Non-</a:t>
            </a:r>
            <a:r>
              <a:rPr lang="en-US" altLang="zh-CN" sz="4400" b="1" i="0" dirty="0" err="1">
                <a:solidFill>
                  <a:srgbClr val="FFFF00"/>
                </a:solidFill>
                <a:latin typeface="Times New Roman"/>
                <a:cs typeface="Times New Roman"/>
              </a:rPr>
              <a:t>i.i.d</a:t>
            </a:r>
            <a:r>
              <a:rPr lang="en-US" altLang="zh-CN" sz="4400" b="1" i="0" dirty="0">
                <a:solidFill>
                  <a:srgbClr val="FFFF00"/>
                </a:solidFill>
                <a:latin typeface="Times New Roman"/>
                <a:cs typeface="Times New Roman"/>
              </a:rPr>
              <a:t>. data</a:t>
            </a:r>
            <a:endParaRPr lang="en-US" altLang="zh-CN" sz="4000" b="1" i="0" dirty="0">
              <a:solidFill>
                <a:srgbClr val="FFFF00"/>
              </a:solidFill>
              <a:latin typeface="Times New Roman"/>
              <a:cs typeface="Times New Roman"/>
            </a:endParaRPr>
          </a:p>
        </p:txBody>
      </p:sp>
      <p:sp>
        <p:nvSpPr>
          <p:cNvPr id="3" name="副标题 2">
            <a:extLst>
              <a:ext uri="{FF2B5EF4-FFF2-40B4-BE49-F238E27FC236}">
                <a16:creationId xmlns:a16="http://schemas.microsoft.com/office/drawing/2014/main" id="{A6E9A8E9-A38E-8823-5190-155F9CFB2836}"/>
              </a:ext>
            </a:extLst>
          </p:cNvPr>
          <p:cNvSpPr>
            <a:spLocks noGrp="1"/>
          </p:cNvSpPr>
          <p:nvPr>
            <p:ph type="subTitle" idx="1"/>
          </p:nvPr>
        </p:nvSpPr>
        <p:spPr>
          <a:xfrm>
            <a:off x="1574641" y="3718256"/>
            <a:ext cx="8636366" cy="1752600"/>
          </a:xfrm>
        </p:spPr>
        <p:txBody>
          <a:bodyPr/>
          <a:lstStyle/>
          <a:p>
            <a:r>
              <a:rPr lang="en-US" altLang="zh-CN" sz="3000" dirty="0" err="1"/>
              <a:t>Zhuoyu</a:t>
            </a:r>
            <a:r>
              <a:rPr lang="en-US" altLang="zh-CN" sz="3000" dirty="0"/>
              <a:t> Yao,</a:t>
            </a:r>
            <a:r>
              <a:rPr lang="zh-CN" altLang="en-US" sz="3000" dirty="0"/>
              <a:t>  </a:t>
            </a:r>
            <a:r>
              <a:rPr lang="en-US" altLang="zh-CN" sz="3000" dirty="0"/>
              <a:t>Yue Wang</a:t>
            </a:r>
            <a:endParaRPr lang="en-US" altLang="zh-CN" sz="3000" dirty="0">
              <a:solidFill>
                <a:schemeClr val="tx1"/>
              </a:solidFill>
            </a:endParaRPr>
          </a:p>
          <a:p>
            <a:pPr marL="457200" lvl="1" indent="0" algn="ctr">
              <a:buNone/>
            </a:pPr>
            <a:endParaRPr lang="en-US" altLang="zh-CN" sz="2000" dirty="0"/>
          </a:p>
          <a:p>
            <a:pPr marL="457200" lvl="1" indent="0" algn="ctr">
              <a:buNone/>
            </a:pPr>
            <a:r>
              <a:rPr lang="en-US" altLang="zh-CN" sz="2600" dirty="0">
                <a:solidFill>
                  <a:schemeClr val="tx1"/>
                </a:solidFill>
              </a:rPr>
              <a:t>Computer</a:t>
            </a:r>
            <a:r>
              <a:rPr lang="zh-CN" altLang="en-US" sz="2600" dirty="0">
                <a:solidFill>
                  <a:schemeClr val="tx1"/>
                </a:solidFill>
              </a:rPr>
              <a:t> </a:t>
            </a:r>
            <a:r>
              <a:rPr lang="en-US" altLang="zh-CN" sz="2600" dirty="0">
                <a:solidFill>
                  <a:schemeClr val="tx1"/>
                </a:solidFill>
              </a:rPr>
              <a:t>Science</a:t>
            </a:r>
          </a:p>
          <a:p>
            <a:pPr marL="457200" lvl="1" indent="0" algn="ctr">
              <a:buNone/>
            </a:pPr>
            <a:r>
              <a:rPr lang="en-US" altLang="zh-CN" sz="2600" dirty="0">
                <a:solidFill>
                  <a:schemeClr val="tx1"/>
                </a:solidFill>
              </a:rPr>
              <a:t>Georgia State University, Atlanta, GA, USA</a:t>
            </a:r>
          </a:p>
        </p:txBody>
      </p:sp>
      <p:sp>
        <p:nvSpPr>
          <p:cNvPr id="4" name="Rectangle 12">
            <a:extLst>
              <a:ext uri="{FF2B5EF4-FFF2-40B4-BE49-F238E27FC236}">
                <a16:creationId xmlns:a16="http://schemas.microsoft.com/office/drawing/2014/main" id="{D2549A83-85EB-A3BB-1C25-11D4B6CF7055}"/>
              </a:ext>
            </a:extLst>
          </p:cNvPr>
          <p:cNvSpPr>
            <a:spLocks noChangeArrowheads="1"/>
          </p:cNvSpPr>
          <p:nvPr/>
        </p:nvSpPr>
        <p:spPr bwMode="auto">
          <a:xfrm>
            <a:off x="4467267" y="5764230"/>
            <a:ext cx="3200400" cy="381000"/>
          </a:xfrm>
          <a:prstGeom prst="rect">
            <a:avLst/>
          </a:prstGeom>
          <a:noFill/>
          <a:ln w="9525">
            <a:noFill/>
            <a:miter lim="800000"/>
            <a:headEnd/>
            <a:tailEnd/>
          </a:ln>
        </p:spPr>
        <p:txBody>
          <a:bodyPr/>
          <a:lstStyle/>
          <a:p>
            <a:pPr marL="342900" indent="-342900" algn="ctr">
              <a:lnSpc>
                <a:spcPct val="80000"/>
              </a:lnSpc>
              <a:spcBef>
                <a:spcPct val="20000"/>
              </a:spcBef>
              <a:buClr>
                <a:srgbClr val="0000CC"/>
              </a:buClr>
              <a:buSzPct val="80000"/>
            </a:pPr>
            <a:r>
              <a:rPr lang="en-US" sz="2200" i="0" dirty="0">
                <a:solidFill>
                  <a:srgbClr val="076DB8"/>
                </a:solidFill>
                <a:latin typeface="+mj-lt"/>
                <a:cs typeface="Arial"/>
              </a:rPr>
              <a:t>Mar 7, 2025</a:t>
            </a:r>
          </a:p>
          <a:p>
            <a:pPr marL="342900" indent="-342900" algn="ctr">
              <a:lnSpc>
                <a:spcPct val="80000"/>
              </a:lnSpc>
              <a:spcBef>
                <a:spcPct val="20000"/>
              </a:spcBef>
              <a:buClr>
                <a:srgbClr val="0000CC"/>
              </a:buClr>
              <a:buSzPct val="80000"/>
            </a:pPr>
            <a:endParaRPr lang="en-US" sz="2200" i="0" dirty="0">
              <a:solidFill>
                <a:srgbClr val="076DB8"/>
              </a:solidFill>
              <a:latin typeface="+mj-lt"/>
              <a:cs typeface="Arial"/>
            </a:endParaRPr>
          </a:p>
        </p:txBody>
      </p:sp>
      <p:sp>
        <p:nvSpPr>
          <p:cNvPr id="5" name="Line 5">
            <a:extLst>
              <a:ext uri="{FF2B5EF4-FFF2-40B4-BE49-F238E27FC236}">
                <a16:creationId xmlns:a16="http://schemas.microsoft.com/office/drawing/2014/main" id="{0089C588-1723-4368-063E-D2C89F04F528}"/>
              </a:ext>
            </a:extLst>
          </p:cNvPr>
          <p:cNvSpPr>
            <a:spLocks noChangeShapeType="1"/>
          </p:cNvSpPr>
          <p:nvPr/>
        </p:nvSpPr>
        <p:spPr bwMode="auto">
          <a:xfrm>
            <a:off x="6391862" y="1093770"/>
            <a:ext cx="4648200" cy="0"/>
          </a:xfrm>
          <a:prstGeom prst="line">
            <a:avLst/>
          </a:prstGeom>
          <a:noFill/>
          <a:ln w="19050">
            <a:solidFill>
              <a:srgbClr val="FF9900"/>
            </a:solidFill>
            <a:round/>
            <a:headEnd/>
            <a:tailEnd/>
          </a:ln>
        </p:spPr>
        <p:txBody>
          <a:bodyPr/>
          <a:lstStyle/>
          <a:p>
            <a:endParaRPr lang="en-US"/>
          </a:p>
        </p:txBody>
      </p:sp>
      <p:sp>
        <p:nvSpPr>
          <p:cNvPr id="6" name="Line 6">
            <a:extLst>
              <a:ext uri="{FF2B5EF4-FFF2-40B4-BE49-F238E27FC236}">
                <a16:creationId xmlns:a16="http://schemas.microsoft.com/office/drawing/2014/main" id="{D85D1200-03A8-4740-07CA-47B07D0C6C55}"/>
              </a:ext>
            </a:extLst>
          </p:cNvPr>
          <p:cNvSpPr>
            <a:spLocks noChangeShapeType="1"/>
          </p:cNvSpPr>
          <p:nvPr/>
        </p:nvSpPr>
        <p:spPr bwMode="auto">
          <a:xfrm>
            <a:off x="11040062" y="1093770"/>
            <a:ext cx="0" cy="1219200"/>
          </a:xfrm>
          <a:prstGeom prst="line">
            <a:avLst/>
          </a:prstGeom>
          <a:noFill/>
          <a:ln w="19050">
            <a:solidFill>
              <a:srgbClr val="FF9900"/>
            </a:solidFill>
            <a:round/>
            <a:headEnd/>
            <a:tailEnd/>
          </a:ln>
        </p:spPr>
        <p:txBody>
          <a:bodyPr/>
          <a:lstStyle/>
          <a:p>
            <a:endParaRPr lang="en-US"/>
          </a:p>
        </p:txBody>
      </p:sp>
      <p:sp>
        <p:nvSpPr>
          <p:cNvPr id="7" name="Line 7">
            <a:extLst>
              <a:ext uri="{FF2B5EF4-FFF2-40B4-BE49-F238E27FC236}">
                <a16:creationId xmlns:a16="http://schemas.microsoft.com/office/drawing/2014/main" id="{9F3DEF89-4D2A-8982-0A70-7FC9EFDA89DD}"/>
              </a:ext>
            </a:extLst>
          </p:cNvPr>
          <p:cNvSpPr>
            <a:spLocks noChangeShapeType="1"/>
          </p:cNvSpPr>
          <p:nvPr/>
        </p:nvSpPr>
        <p:spPr bwMode="auto">
          <a:xfrm>
            <a:off x="1186656" y="3593058"/>
            <a:ext cx="5410200" cy="0"/>
          </a:xfrm>
          <a:prstGeom prst="line">
            <a:avLst/>
          </a:prstGeom>
          <a:noFill/>
          <a:ln w="19050">
            <a:solidFill>
              <a:srgbClr val="FF9900"/>
            </a:solidFill>
            <a:round/>
            <a:headEnd/>
            <a:tailEnd/>
          </a:ln>
        </p:spPr>
        <p:txBody>
          <a:bodyPr/>
          <a:lstStyle/>
          <a:p>
            <a:endParaRPr lang="en-US"/>
          </a:p>
        </p:txBody>
      </p:sp>
      <p:pic>
        <p:nvPicPr>
          <p:cNvPr id="8" name="Picture 4" descr="University Logos - Communications ToolKit">
            <a:extLst>
              <a:ext uri="{FF2B5EF4-FFF2-40B4-BE49-F238E27FC236}">
                <a16:creationId xmlns:a16="http://schemas.microsoft.com/office/drawing/2014/main" id="{B3B16C43-9736-BC67-BB22-40CF96C444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32025" y="4429997"/>
            <a:ext cx="2659975" cy="2056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34429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E0FFA6-047F-CE3C-690E-2751A71436DF}"/>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D6586ECD-B237-F885-4CEE-FB3F7C50A084}"/>
              </a:ext>
            </a:extLst>
          </p:cNvPr>
          <p:cNvSpPr>
            <a:spLocks noGrp="1"/>
          </p:cNvSpPr>
          <p:nvPr>
            <p:ph idx="1"/>
          </p:nvPr>
        </p:nvSpPr>
        <p:spPr>
          <a:xfrm>
            <a:off x="1503829" y="1346200"/>
            <a:ext cx="6464300" cy="3886200"/>
          </a:xfrm>
        </p:spPr>
        <p:txBody>
          <a:bodyPr/>
          <a:lstStyle/>
          <a:p>
            <a:pPr>
              <a:lnSpc>
                <a:spcPct val="200000"/>
              </a:lnSpc>
            </a:pPr>
            <a:r>
              <a:rPr lang="en-US" dirty="0"/>
              <a:t>Background</a:t>
            </a:r>
          </a:p>
          <a:p>
            <a:pPr>
              <a:lnSpc>
                <a:spcPct val="200000"/>
              </a:lnSpc>
            </a:pPr>
            <a:r>
              <a:rPr lang="en-US" altLang="zh-CN" dirty="0">
                <a:latin typeface="Times New Roman" panose="02020603050405020304" pitchFamily="18" charset="0"/>
                <a:cs typeface="Times New Roman" panose="02020603050405020304" pitchFamily="18" charset="0"/>
              </a:rPr>
              <a:t>Existing research</a:t>
            </a:r>
            <a:endParaRPr lang="en-US" dirty="0"/>
          </a:p>
          <a:p>
            <a:pPr>
              <a:lnSpc>
                <a:spcPct val="200000"/>
              </a:lnSpc>
            </a:pPr>
            <a:r>
              <a:rPr lang="en-US" dirty="0"/>
              <a:t>Proposed design</a:t>
            </a:r>
            <a:r>
              <a:rPr lang="zh-CN" altLang="en-US" dirty="0"/>
              <a:t> </a:t>
            </a:r>
            <a:r>
              <a:rPr lang="en-US" altLang="zh-CN" dirty="0"/>
              <a:t>and</a:t>
            </a:r>
            <a:r>
              <a:rPr lang="zh-CN" altLang="en-US" dirty="0"/>
              <a:t> </a:t>
            </a:r>
            <a:r>
              <a:rPr lang="en-US" dirty="0"/>
              <a:t>method </a:t>
            </a:r>
          </a:p>
          <a:p>
            <a:pPr>
              <a:lnSpc>
                <a:spcPct val="200000"/>
              </a:lnSpc>
            </a:pPr>
            <a:r>
              <a:rPr lang="en-US" altLang="zh-CN" dirty="0"/>
              <a:t>Preliminary</a:t>
            </a:r>
            <a:r>
              <a:rPr lang="zh-CN" altLang="en-US" dirty="0"/>
              <a:t> </a:t>
            </a:r>
            <a:r>
              <a:rPr lang="en-US" altLang="zh-CN" dirty="0"/>
              <a:t>r</a:t>
            </a:r>
            <a:r>
              <a:rPr lang="en-US" dirty="0"/>
              <a:t>esults </a:t>
            </a:r>
          </a:p>
          <a:p>
            <a:pPr>
              <a:lnSpc>
                <a:spcPct val="200000"/>
              </a:lnSpc>
            </a:pPr>
            <a:r>
              <a:rPr lang="en-US" altLang="zh-CN" dirty="0"/>
              <a:t>S</a:t>
            </a:r>
            <a:r>
              <a:rPr lang="en-US" dirty="0"/>
              <a:t>ummary</a:t>
            </a:r>
            <a:r>
              <a:rPr lang="zh-CN" altLang="en-US" dirty="0"/>
              <a:t> </a:t>
            </a:r>
            <a:r>
              <a:rPr lang="en-US" altLang="zh-CN" dirty="0"/>
              <a:t>and</a:t>
            </a:r>
            <a:r>
              <a:rPr lang="zh-CN" altLang="en-US" dirty="0"/>
              <a:t> </a:t>
            </a:r>
            <a:r>
              <a:rPr lang="en-US" altLang="zh-CN" dirty="0"/>
              <a:t>f</a:t>
            </a:r>
            <a:r>
              <a:rPr lang="en-US" dirty="0"/>
              <a:t>uture work</a:t>
            </a:r>
          </a:p>
          <a:p>
            <a:endParaRPr lang="en-US" altLang="zh-CN" dirty="0"/>
          </a:p>
        </p:txBody>
      </p:sp>
      <p:sp>
        <p:nvSpPr>
          <p:cNvPr id="4" name="Slide Number Placeholder 3">
            <a:extLst>
              <a:ext uri="{FF2B5EF4-FFF2-40B4-BE49-F238E27FC236}">
                <a16:creationId xmlns:a16="http://schemas.microsoft.com/office/drawing/2014/main" id="{3FA49B85-1E40-3601-29CC-AAEDC27FDAB6}"/>
              </a:ext>
            </a:extLst>
          </p:cNvPr>
          <p:cNvSpPr>
            <a:spLocks noGrp="1"/>
          </p:cNvSpPr>
          <p:nvPr>
            <p:ph type="sldNum" sz="quarter" idx="11"/>
          </p:nvPr>
        </p:nvSpPr>
        <p:spPr/>
        <p:txBody>
          <a:bodyPr/>
          <a:lstStyle/>
          <a:p>
            <a:fld id="{B2B05758-BB4F-4559-81AD-225F352C8527}" type="slidenum">
              <a:rPr lang="zh-CN" altLang="en-US" smtClean="0"/>
              <a:t>1</a:t>
            </a:fld>
            <a:endParaRPr lang="zh-CN" altLang="en-US"/>
          </a:p>
        </p:txBody>
      </p:sp>
    </p:spTree>
    <p:extLst>
      <p:ext uri="{BB962C8B-B14F-4D97-AF65-F5344CB8AC3E}">
        <p14:creationId xmlns:p14="http://schemas.microsoft.com/office/powerpoint/2010/main" val="205907378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3A892-DD7B-3C90-1F2E-F88AEF8D6982}"/>
              </a:ext>
            </a:extLst>
          </p:cNvPr>
          <p:cNvSpPr>
            <a:spLocks noGrp="1"/>
          </p:cNvSpPr>
          <p:nvPr>
            <p:ph type="title"/>
          </p:nvPr>
        </p:nvSpPr>
        <p:spPr/>
        <p:txBody>
          <a:bodyPr/>
          <a:lstStyle/>
          <a:p>
            <a:r>
              <a:rPr lang="en-US" altLang="zh-CN" dirty="0"/>
              <a:t>Background</a:t>
            </a:r>
            <a:r>
              <a:rPr lang="en-US" dirty="0"/>
              <a:t> – Non-</a:t>
            </a:r>
            <a:r>
              <a:rPr lang="en-US" dirty="0" err="1"/>
              <a:t>i.i.d</a:t>
            </a:r>
            <a:r>
              <a:rPr lang="en-US" dirty="0"/>
              <a:t>. datasets</a:t>
            </a:r>
          </a:p>
        </p:txBody>
      </p:sp>
      <p:sp>
        <p:nvSpPr>
          <p:cNvPr id="4" name="Slide Number Placeholder 3">
            <a:extLst>
              <a:ext uri="{FF2B5EF4-FFF2-40B4-BE49-F238E27FC236}">
                <a16:creationId xmlns:a16="http://schemas.microsoft.com/office/drawing/2014/main" id="{2DF234D4-D448-9A94-D634-BB665B409B3D}"/>
              </a:ext>
            </a:extLst>
          </p:cNvPr>
          <p:cNvSpPr>
            <a:spLocks noGrp="1"/>
          </p:cNvSpPr>
          <p:nvPr>
            <p:ph type="sldNum" sz="quarter" idx="11"/>
          </p:nvPr>
        </p:nvSpPr>
        <p:spPr/>
        <p:txBody>
          <a:bodyPr/>
          <a:lstStyle/>
          <a:p>
            <a:fld id="{B2B05758-BB4F-4559-81AD-225F352C8527}" type="slidenum">
              <a:rPr lang="zh-CN" altLang="en-US" smtClean="0">
                <a:latin typeface="+mj-lt"/>
              </a:rPr>
              <a:t>2</a:t>
            </a:fld>
            <a:endParaRPr lang="zh-CN" altLang="en-US" dirty="0">
              <a:latin typeface="+mj-lt"/>
            </a:endParaRPr>
          </a:p>
        </p:txBody>
      </p:sp>
      <p:sp>
        <p:nvSpPr>
          <p:cNvPr id="6" name="文本框 5">
            <a:extLst>
              <a:ext uri="{FF2B5EF4-FFF2-40B4-BE49-F238E27FC236}">
                <a16:creationId xmlns:a16="http://schemas.microsoft.com/office/drawing/2014/main" id="{E425F31C-8D87-E50E-A0F3-29E30EAED17E}"/>
              </a:ext>
            </a:extLst>
          </p:cNvPr>
          <p:cNvSpPr txBox="1"/>
          <p:nvPr/>
        </p:nvSpPr>
        <p:spPr>
          <a:xfrm>
            <a:off x="506546" y="1163507"/>
            <a:ext cx="9050837" cy="5262979"/>
          </a:xfrm>
          <a:prstGeom prst="rect">
            <a:avLst/>
          </a:prstGeom>
          <a:noFill/>
        </p:spPr>
        <p:txBody>
          <a:bodyPr wrap="square">
            <a:spAutoFit/>
          </a:bodyPr>
          <a:lstStyle/>
          <a:p>
            <a:pPr marL="342900" indent="-342900">
              <a:buFont typeface="Wingdings" pitchFamily="2" charset="2"/>
              <a:buChar char="Ø"/>
            </a:pPr>
            <a:r>
              <a:rPr lang="en-US" altLang="zh-CN" sz="2800" i="0" dirty="0">
                <a:latin typeface="Times New Roman" panose="02020603050405020304" pitchFamily="18" charset="0"/>
                <a:cs typeface="Times New Roman" panose="02020603050405020304" pitchFamily="18" charset="0"/>
              </a:rPr>
              <a:t>Non identically and independently distributed datasets</a:t>
            </a: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endParaRPr lang="en-US" altLang="zh-CN" sz="2800" i="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r>
              <a:rPr lang="en-US" altLang="zh-CN" sz="2800" i="0" dirty="0">
                <a:latin typeface="Times New Roman" panose="02020603050405020304" pitchFamily="18" charset="0"/>
                <a:cs typeface="Times New Roman" panose="02020603050405020304" pitchFamily="18" charset="0"/>
              </a:rPr>
              <a:t>How will model performance change?</a:t>
            </a:r>
          </a:p>
          <a:p>
            <a:pPr lvl="1"/>
            <a:r>
              <a:rPr lang="en-US" altLang="zh-CN" sz="2400" i="0" dirty="0">
                <a:latin typeface="Times New Roman" panose="02020603050405020304" pitchFamily="18" charset="0"/>
                <a:cs typeface="Times New Roman" panose="02020603050405020304" pitchFamily="18" charset="0"/>
              </a:rPr>
              <a:t>Performance deterioration</a:t>
            </a:r>
          </a:p>
          <a:p>
            <a:pPr lvl="1"/>
            <a:r>
              <a:rPr lang="en-US" altLang="zh-CN" sz="2400" i="0" dirty="0">
                <a:latin typeface="Times New Roman" panose="02020603050405020304" pitchFamily="18" charset="0"/>
                <a:cs typeface="Times New Roman" panose="02020603050405020304" pitchFamily="18" charset="0"/>
              </a:rPr>
              <a:t>Overfitting</a:t>
            </a:r>
          </a:p>
          <a:p>
            <a:pPr lvl="1"/>
            <a:r>
              <a:rPr lang="en-US" altLang="zh-CN" sz="2400" i="0" dirty="0">
                <a:latin typeface="Times New Roman" panose="02020603050405020304" pitchFamily="18" charset="0"/>
                <a:cs typeface="Times New Roman" panose="02020603050405020304" pitchFamily="18" charset="0"/>
              </a:rPr>
              <a:t>Cannot convergent</a:t>
            </a:r>
            <a:endParaRPr lang="en-US" altLang="zh-CN" sz="2800" i="0"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9CF3DA1D-BA74-482E-B4A0-3AC1BA8C3BD1}"/>
              </a:ext>
            </a:extLst>
          </p:cNvPr>
          <p:cNvPicPr>
            <a:picLocks noChangeAspect="1"/>
          </p:cNvPicPr>
          <p:nvPr/>
        </p:nvPicPr>
        <p:blipFill rotWithShape="1">
          <a:blip r:embed="rId3">
            <a:extLst>
              <a:ext uri="{28A0092B-C50C-407E-A947-70E740481C1C}">
                <a14:useLocalDpi xmlns:a14="http://schemas.microsoft.com/office/drawing/2010/main" val="0"/>
              </a:ext>
            </a:extLst>
          </a:blip>
          <a:srcRect b="8912"/>
          <a:stretch/>
        </p:blipFill>
        <p:spPr>
          <a:xfrm>
            <a:off x="2074163" y="1686727"/>
            <a:ext cx="2667000" cy="2464019"/>
          </a:xfrm>
          <a:prstGeom prst="rect">
            <a:avLst/>
          </a:prstGeom>
        </p:spPr>
      </p:pic>
      <p:pic>
        <p:nvPicPr>
          <p:cNvPr id="11" name="图片 10">
            <a:extLst>
              <a:ext uri="{FF2B5EF4-FFF2-40B4-BE49-F238E27FC236}">
                <a16:creationId xmlns:a16="http://schemas.microsoft.com/office/drawing/2014/main" id="{0A2780E0-C3E6-48C4-93E1-14A43CF69B79}"/>
              </a:ext>
            </a:extLst>
          </p:cNvPr>
          <p:cNvPicPr>
            <a:picLocks noChangeAspect="1"/>
          </p:cNvPicPr>
          <p:nvPr/>
        </p:nvPicPr>
        <p:blipFill rotWithShape="1">
          <a:blip r:embed="rId4">
            <a:extLst>
              <a:ext uri="{28A0092B-C50C-407E-A947-70E740481C1C}">
                <a14:useLocalDpi xmlns:a14="http://schemas.microsoft.com/office/drawing/2010/main" val="0"/>
              </a:ext>
            </a:extLst>
          </a:blip>
          <a:srcRect b="9877"/>
          <a:stretch/>
        </p:blipFill>
        <p:spPr>
          <a:xfrm>
            <a:off x="6571016" y="1686727"/>
            <a:ext cx="2667000" cy="2464019"/>
          </a:xfrm>
          <a:prstGeom prst="rect">
            <a:avLst/>
          </a:prstGeom>
        </p:spPr>
      </p:pic>
      <p:sp>
        <p:nvSpPr>
          <p:cNvPr id="15" name="TextBox 48">
            <a:extLst>
              <a:ext uri="{FF2B5EF4-FFF2-40B4-BE49-F238E27FC236}">
                <a16:creationId xmlns:a16="http://schemas.microsoft.com/office/drawing/2014/main" id="{4D66823D-0661-49FE-9727-0AD7EDB748D8}"/>
              </a:ext>
            </a:extLst>
          </p:cNvPr>
          <p:cNvSpPr txBox="1"/>
          <p:nvPr/>
        </p:nvSpPr>
        <p:spPr>
          <a:xfrm>
            <a:off x="1441836" y="4156946"/>
            <a:ext cx="3758867"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uniform data distribution</a:t>
            </a:r>
          </a:p>
        </p:txBody>
      </p:sp>
      <p:sp>
        <p:nvSpPr>
          <p:cNvPr id="16" name="TextBox 48">
            <a:extLst>
              <a:ext uri="{FF2B5EF4-FFF2-40B4-BE49-F238E27FC236}">
                <a16:creationId xmlns:a16="http://schemas.microsoft.com/office/drawing/2014/main" id="{79941C69-6078-46B5-B148-44D6F47879B1}"/>
              </a:ext>
            </a:extLst>
          </p:cNvPr>
          <p:cNvSpPr txBox="1"/>
          <p:nvPr/>
        </p:nvSpPr>
        <p:spPr>
          <a:xfrm>
            <a:off x="6025082" y="4061513"/>
            <a:ext cx="3758867"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unbalanced data distribution</a:t>
            </a:r>
          </a:p>
        </p:txBody>
      </p:sp>
      <p:sp>
        <p:nvSpPr>
          <p:cNvPr id="17" name="右箭头 6">
            <a:extLst>
              <a:ext uri="{FF2B5EF4-FFF2-40B4-BE49-F238E27FC236}">
                <a16:creationId xmlns:a16="http://schemas.microsoft.com/office/drawing/2014/main" id="{328ECEC4-A4E8-48CB-978B-D7A3E217C315}"/>
              </a:ext>
            </a:extLst>
          </p:cNvPr>
          <p:cNvSpPr/>
          <p:nvPr/>
        </p:nvSpPr>
        <p:spPr bwMode="auto">
          <a:xfrm>
            <a:off x="5310807" y="2731336"/>
            <a:ext cx="604172" cy="3810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pic>
        <p:nvPicPr>
          <p:cNvPr id="5" name="图片 4">
            <a:extLst>
              <a:ext uri="{FF2B5EF4-FFF2-40B4-BE49-F238E27FC236}">
                <a16:creationId xmlns:a16="http://schemas.microsoft.com/office/drawing/2014/main" id="{515F6A5E-BD2E-4F13-AECF-626FB302D9C8}"/>
              </a:ext>
            </a:extLst>
          </p:cNvPr>
          <p:cNvPicPr>
            <a:picLocks noChangeAspect="1"/>
          </p:cNvPicPr>
          <p:nvPr/>
        </p:nvPicPr>
        <p:blipFill rotWithShape="1">
          <a:blip r:embed="rId5">
            <a:extLst>
              <a:ext uri="{28A0092B-C50C-407E-A947-70E740481C1C}">
                <a14:useLocalDpi xmlns:a14="http://schemas.microsoft.com/office/drawing/2010/main" val="0"/>
              </a:ext>
            </a:extLst>
          </a:blip>
          <a:srcRect t="14445" b="14023"/>
          <a:stretch/>
        </p:blipFill>
        <p:spPr>
          <a:xfrm>
            <a:off x="6939149" y="4541097"/>
            <a:ext cx="3495715" cy="2010493"/>
          </a:xfrm>
          <a:prstGeom prst="rect">
            <a:avLst/>
          </a:prstGeom>
        </p:spPr>
      </p:pic>
    </p:spTree>
    <p:extLst>
      <p:ext uri="{BB962C8B-B14F-4D97-AF65-F5344CB8AC3E}">
        <p14:creationId xmlns:p14="http://schemas.microsoft.com/office/powerpoint/2010/main" val="56244602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3A892-DD7B-3C90-1F2E-F88AEF8D6982}"/>
              </a:ext>
            </a:extLst>
          </p:cNvPr>
          <p:cNvSpPr>
            <a:spLocks noGrp="1"/>
          </p:cNvSpPr>
          <p:nvPr>
            <p:ph type="title"/>
          </p:nvPr>
        </p:nvSpPr>
        <p:spPr/>
        <p:txBody>
          <a:bodyPr/>
          <a:lstStyle/>
          <a:p>
            <a:r>
              <a:rPr lang="en-US" altLang="zh-CN" dirty="0"/>
              <a:t>Background</a:t>
            </a:r>
            <a:r>
              <a:rPr lang="en-US" dirty="0"/>
              <a:t> – Why Non-</a:t>
            </a:r>
            <a:r>
              <a:rPr lang="en-US" dirty="0" err="1"/>
              <a:t>i.i.d</a:t>
            </a:r>
            <a:r>
              <a:rPr lang="en-US" dirty="0"/>
              <a:t>. Harmful?</a:t>
            </a:r>
          </a:p>
        </p:txBody>
      </p:sp>
      <p:sp>
        <p:nvSpPr>
          <p:cNvPr id="3" name="Content Placeholder 2">
            <a:extLst>
              <a:ext uri="{FF2B5EF4-FFF2-40B4-BE49-F238E27FC236}">
                <a16:creationId xmlns:a16="http://schemas.microsoft.com/office/drawing/2014/main" id="{FF450C8A-A59B-41B1-12EC-B98D44895498}"/>
              </a:ext>
            </a:extLst>
          </p:cNvPr>
          <p:cNvSpPr>
            <a:spLocks noGrp="1"/>
          </p:cNvSpPr>
          <p:nvPr>
            <p:ph idx="1"/>
          </p:nvPr>
        </p:nvSpPr>
        <p:spPr>
          <a:xfrm>
            <a:off x="627428" y="1202909"/>
            <a:ext cx="11057708" cy="523220"/>
          </a:xfrm>
        </p:spPr>
        <p:txBody>
          <a:bodyPr/>
          <a:lstStyle/>
          <a:p>
            <a:r>
              <a:rPr lang="en-US" dirty="0">
                <a:latin typeface="+mj-lt"/>
              </a:rPr>
              <a:t>Basic Assumption of Centralized ML: </a:t>
            </a:r>
            <a:r>
              <a:rPr lang="en-US" dirty="0" err="1">
                <a:latin typeface="+mj-lt"/>
              </a:rPr>
              <a:t>i.i.d</a:t>
            </a:r>
            <a:r>
              <a:rPr lang="en-US" dirty="0">
                <a:latin typeface="+mj-lt"/>
              </a:rPr>
              <a:t>. batches</a:t>
            </a:r>
          </a:p>
          <a:p>
            <a:pPr lvl="1"/>
            <a:r>
              <a:rPr lang="en-US" dirty="0">
                <a:latin typeface="+mj-lt"/>
              </a:rPr>
              <a:t>Incomplete understanding and over-simplification</a:t>
            </a:r>
          </a:p>
          <a:p>
            <a:pPr lvl="1"/>
            <a:r>
              <a:rPr lang="en-US" dirty="0">
                <a:latin typeface="+mj-lt"/>
              </a:rPr>
              <a:t>Partial characterization</a:t>
            </a:r>
          </a:p>
          <a:p>
            <a:pPr lvl="1"/>
            <a:r>
              <a:rPr lang="en-US" dirty="0">
                <a:latin typeface="+mj-lt"/>
              </a:rPr>
              <a:t>Bias solution</a:t>
            </a:r>
          </a:p>
          <a:p>
            <a:pPr lvl="1"/>
            <a:r>
              <a:rPr lang="en-US" dirty="0">
                <a:latin typeface="+mj-lt"/>
              </a:rPr>
              <a:t>Gradient-based optimization</a:t>
            </a:r>
          </a:p>
          <a:p>
            <a:pPr lvl="1"/>
            <a:endParaRPr lang="en-US" dirty="0">
              <a:latin typeface="+mj-lt"/>
            </a:endParaRPr>
          </a:p>
          <a:p>
            <a:r>
              <a:rPr lang="en-US" dirty="0">
                <a:latin typeface="+mj-lt"/>
              </a:rPr>
              <a:t>Non-</a:t>
            </a:r>
            <a:r>
              <a:rPr lang="en-US" dirty="0" err="1">
                <a:latin typeface="+mj-lt"/>
              </a:rPr>
              <a:t>i.i.d</a:t>
            </a:r>
            <a:r>
              <a:rPr lang="en-US" dirty="0">
                <a:latin typeface="+mj-lt"/>
              </a:rPr>
              <a:t>. is more serious in Distributed ML.</a:t>
            </a:r>
          </a:p>
          <a:p>
            <a:pPr lvl="1"/>
            <a:r>
              <a:rPr lang="en-US" altLang="zh-CN" dirty="0">
                <a:latin typeface="+mj-lt"/>
              </a:rPr>
              <a:t>Non-</a:t>
            </a:r>
            <a:r>
              <a:rPr lang="en-US" altLang="zh-CN" dirty="0" err="1">
                <a:latin typeface="+mj-lt"/>
              </a:rPr>
              <a:t>i.i.d</a:t>
            </a:r>
            <a:r>
              <a:rPr lang="en-US" altLang="zh-CN" dirty="0">
                <a:latin typeface="+mj-lt"/>
              </a:rPr>
              <a:t>. dataset is common</a:t>
            </a:r>
          </a:p>
          <a:p>
            <a:pPr lvl="1"/>
            <a:r>
              <a:rPr lang="en-US" altLang="zh-CN" dirty="0">
                <a:latin typeface="+mj-lt"/>
              </a:rPr>
              <a:t>Got worse results while collaboration</a:t>
            </a:r>
            <a:endParaRPr lang="en-US" dirty="0">
              <a:latin typeface="+mj-lt"/>
            </a:endParaRPr>
          </a:p>
        </p:txBody>
      </p:sp>
      <p:sp>
        <p:nvSpPr>
          <p:cNvPr id="4" name="Slide Number Placeholder 3">
            <a:extLst>
              <a:ext uri="{FF2B5EF4-FFF2-40B4-BE49-F238E27FC236}">
                <a16:creationId xmlns:a16="http://schemas.microsoft.com/office/drawing/2014/main" id="{2DF234D4-D448-9A94-D634-BB665B409B3D}"/>
              </a:ext>
            </a:extLst>
          </p:cNvPr>
          <p:cNvSpPr>
            <a:spLocks noGrp="1"/>
          </p:cNvSpPr>
          <p:nvPr>
            <p:ph type="sldNum" sz="quarter" idx="11"/>
          </p:nvPr>
        </p:nvSpPr>
        <p:spPr/>
        <p:txBody>
          <a:bodyPr/>
          <a:lstStyle/>
          <a:p>
            <a:fld id="{B2B05758-BB4F-4559-81AD-225F352C8527}" type="slidenum">
              <a:rPr lang="zh-CN" altLang="en-US" smtClean="0">
                <a:latin typeface="+mj-lt"/>
              </a:rPr>
              <a:t>3</a:t>
            </a:fld>
            <a:endParaRPr lang="zh-CN" altLang="en-US" dirty="0">
              <a:latin typeface="+mj-lt"/>
            </a:endParaRPr>
          </a:p>
        </p:txBody>
      </p:sp>
      <p:pic>
        <p:nvPicPr>
          <p:cNvPr id="12" name="图片 11">
            <a:extLst>
              <a:ext uri="{FF2B5EF4-FFF2-40B4-BE49-F238E27FC236}">
                <a16:creationId xmlns:a16="http://schemas.microsoft.com/office/drawing/2014/main" id="{BE1F7766-A2ED-4408-A0C2-082D13E89C9B}"/>
              </a:ext>
            </a:extLst>
          </p:cNvPr>
          <p:cNvPicPr>
            <a:picLocks noChangeAspect="1"/>
          </p:cNvPicPr>
          <p:nvPr/>
        </p:nvPicPr>
        <p:blipFill>
          <a:blip r:embed="rId3"/>
          <a:stretch>
            <a:fillRect/>
          </a:stretch>
        </p:blipFill>
        <p:spPr>
          <a:xfrm>
            <a:off x="5931966" y="4114878"/>
            <a:ext cx="5753170" cy="1769155"/>
          </a:xfrm>
          <a:prstGeom prst="rect">
            <a:avLst/>
          </a:prstGeom>
        </p:spPr>
      </p:pic>
    </p:spTree>
    <p:extLst>
      <p:ext uri="{BB962C8B-B14F-4D97-AF65-F5344CB8AC3E}">
        <p14:creationId xmlns:p14="http://schemas.microsoft.com/office/powerpoint/2010/main" val="22526917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3A892-DD7B-3C90-1F2E-F88AEF8D6982}"/>
              </a:ext>
            </a:extLst>
          </p:cNvPr>
          <p:cNvSpPr>
            <a:spLocks noGrp="1"/>
          </p:cNvSpPr>
          <p:nvPr>
            <p:ph type="title"/>
          </p:nvPr>
        </p:nvSpPr>
        <p:spPr/>
        <p:txBody>
          <a:bodyPr/>
          <a:lstStyle/>
          <a:p>
            <a:r>
              <a:rPr lang="en-US" altLang="zh-CN" dirty="0"/>
              <a:t>Background</a:t>
            </a:r>
            <a:r>
              <a:rPr lang="en-US" dirty="0"/>
              <a:t> – FL &amp; Non-</a:t>
            </a:r>
            <a:r>
              <a:rPr lang="en-US" dirty="0" err="1"/>
              <a:t>i.i.d</a:t>
            </a:r>
            <a:r>
              <a:rPr lang="en-US" dirty="0"/>
              <a:t>. study</a:t>
            </a:r>
          </a:p>
        </p:txBody>
      </p:sp>
      <p:sp>
        <p:nvSpPr>
          <p:cNvPr id="3" name="Content Placeholder 2">
            <a:extLst>
              <a:ext uri="{FF2B5EF4-FFF2-40B4-BE49-F238E27FC236}">
                <a16:creationId xmlns:a16="http://schemas.microsoft.com/office/drawing/2014/main" id="{FF450C8A-A59B-41B1-12EC-B98D44895498}"/>
              </a:ext>
            </a:extLst>
          </p:cNvPr>
          <p:cNvSpPr>
            <a:spLocks noGrp="1"/>
          </p:cNvSpPr>
          <p:nvPr>
            <p:ph idx="1"/>
          </p:nvPr>
        </p:nvSpPr>
        <p:spPr>
          <a:xfrm>
            <a:off x="725925" y="1038188"/>
            <a:ext cx="10772392" cy="523220"/>
          </a:xfrm>
        </p:spPr>
        <p:txBody>
          <a:bodyPr/>
          <a:lstStyle/>
          <a:p>
            <a:r>
              <a:rPr lang="en-US" dirty="0">
                <a:latin typeface="+mj-lt"/>
              </a:rPr>
              <a:t>SOTA methods:</a:t>
            </a:r>
          </a:p>
          <a:p>
            <a:pPr lvl="1"/>
            <a:r>
              <a:rPr lang="en-US" dirty="0">
                <a:latin typeface="+mj-lt"/>
              </a:rPr>
              <a:t>Data-based: data sharing</a:t>
            </a:r>
            <a:r>
              <a:rPr lang="en-US" altLang="zh-CN" i="0" baseline="30000" dirty="0">
                <a:latin typeface="Times New Roman" panose="02020603050405020304" pitchFamily="18" charset="0"/>
                <a:cs typeface="Times New Roman" panose="02020603050405020304" pitchFamily="18" charset="0"/>
              </a:rPr>
              <a:t> [1]</a:t>
            </a:r>
            <a:r>
              <a:rPr lang="en-US" dirty="0">
                <a:latin typeface="+mj-lt"/>
              </a:rPr>
              <a:t>, data enhancement</a:t>
            </a:r>
            <a:r>
              <a:rPr lang="en-US" altLang="zh-CN" i="0" baseline="30000" dirty="0">
                <a:latin typeface="Times New Roman" panose="02020603050405020304" pitchFamily="18" charset="0"/>
                <a:cs typeface="Times New Roman" panose="02020603050405020304" pitchFamily="18" charset="0"/>
              </a:rPr>
              <a:t> [2]</a:t>
            </a:r>
            <a:endParaRPr lang="en-US" dirty="0">
              <a:latin typeface="+mj-lt"/>
            </a:endParaRPr>
          </a:p>
          <a:p>
            <a:pPr lvl="1"/>
            <a:r>
              <a:rPr lang="en-US" dirty="0">
                <a:latin typeface="+mj-lt"/>
              </a:rPr>
              <a:t>Model-based: adaptive optimization</a:t>
            </a:r>
            <a:r>
              <a:rPr lang="en-US" altLang="zh-CN" i="0" baseline="30000" dirty="0">
                <a:latin typeface="Times New Roman" panose="02020603050405020304" pitchFamily="18" charset="0"/>
                <a:cs typeface="Times New Roman" panose="02020603050405020304" pitchFamily="18" charset="0"/>
              </a:rPr>
              <a:t> [3]</a:t>
            </a:r>
            <a:r>
              <a:rPr lang="en-US" dirty="0">
                <a:latin typeface="+mj-lt"/>
              </a:rPr>
              <a:t>, model aggregation</a:t>
            </a:r>
            <a:r>
              <a:rPr lang="en-US" altLang="zh-CN" i="0" baseline="30000" dirty="0">
                <a:latin typeface="Times New Roman" panose="02020603050405020304" pitchFamily="18" charset="0"/>
                <a:cs typeface="Times New Roman" panose="02020603050405020304" pitchFamily="18" charset="0"/>
              </a:rPr>
              <a:t> [4]</a:t>
            </a:r>
            <a:endParaRPr lang="en-US" dirty="0">
              <a:latin typeface="+mj-lt"/>
            </a:endParaRPr>
          </a:p>
          <a:p>
            <a:pPr lvl="1"/>
            <a:r>
              <a:rPr lang="en-US" dirty="0">
                <a:latin typeface="+mj-lt"/>
              </a:rPr>
              <a:t>Algorithm-based: meta learning</a:t>
            </a:r>
            <a:r>
              <a:rPr lang="en-US" altLang="zh-CN" i="0" baseline="30000" dirty="0">
                <a:latin typeface="Times New Roman" panose="02020603050405020304" pitchFamily="18" charset="0"/>
                <a:cs typeface="Times New Roman" panose="02020603050405020304" pitchFamily="18" charset="0"/>
              </a:rPr>
              <a:t> [5]</a:t>
            </a:r>
            <a:r>
              <a:rPr lang="en-US" dirty="0">
                <a:latin typeface="+mj-lt"/>
              </a:rPr>
              <a:t>, multi-task learning</a:t>
            </a:r>
            <a:r>
              <a:rPr lang="en-US" altLang="zh-CN" i="0" baseline="30000" dirty="0">
                <a:latin typeface="Times New Roman" panose="02020603050405020304" pitchFamily="18" charset="0"/>
                <a:cs typeface="Times New Roman" panose="02020603050405020304" pitchFamily="18" charset="0"/>
              </a:rPr>
              <a:t> [6]</a:t>
            </a:r>
            <a:endParaRPr lang="en-US" dirty="0">
              <a:latin typeface="+mj-lt"/>
            </a:endParaRPr>
          </a:p>
          <a:p>
            <a:pPr lvl="1"/>
            <a:r>
              <a:rPr lang="en-US" dirty="0">
                <a:latin typeface="+mj-lt"/>
              </a:rPr>
              <a:t>Framework-based: clustering</a:t>
            </a:r>
            <a:r>
              <a:rPr lang="en-US" altLang="zh-CN" i="0" baseline="30000" dirty="0">
                <a:latin typeface="Times New Roman" panose="02020603050405020304" pitchFamily="18" charset="0"/>
                <a:cs typeface="Times New Roman" panose="02020603050405020304" pitchFamily="18" charset="0"/>
              </a:rPr>
              <a:t> [7]</a:t>
            </a:r>
            <a:r>
              <a:rPr lang="en-US" dirty="0">
                <a:latin typeface="+mj-lt"/>
              </a:rPr>
              <a:t>, personalization layer</a:t>
            </a:r>
            <a:r>
              <a:rPr lang="en-US" altLang="zh-CN" i="0" baseline="30000" dirty="0">
                <a:latin typeface="Times New Roman" panose="02020603050405020304" pitchFamily="18" charset="0"/>
                <a:cs typeface="Times New Roman" panose="02020603050405020304" pitchFamily="18" charset="0"/>
              </a:rPr>
              <a:t> [8]</a:t>
            </a:r>
            <a:endParaRPr lang="en-US" dirty="0">
              <a:latin typeface="+mj-lt"/>
            </a:endParaRPr>
          </a:p>
          <a:p>
            <a:pPr marL="0" indent="0">
              <a:buNone/>
            </a:pPr>
            <a:endParaRPr lang="en-US" dirty="0">
              <a:latin typeface="+mj-lt"/>
            </a:endParaRPr>
          </a:p>
        </p:txBody>
      </p:sp>
      <p:sp>
        <p:nvSpPr>
          <p:cNvPr id="4" name="Slide Number Placeholder 3">
            <a:extLst>
              <a:ext uri="{FF2B5EF4-FFF2-40B4-BE49-F238E27FC236}">
                <a16:creationId xmlns:a16="http://schemas.microsoft.com/office/drawing/2014/main" id="{2DF234D4-D448-9A94-D634-BB665B409B3D}"/>
              </a:ext>
            </a:extLst>
          </p:cNvPr>
          <p:cNvSpPr>
            <a:spLocks noGrp="1"/>
          </p:cNvSpPr>
          <p:nvPr>
            <p:ph type="sldNum" sz="quarter" idx="11"/>
          </p:nvPr>
        </p:nvSpPr>
        <p:spPr/>
        <p:txBody>
          <a:bodyPr/>
          <a:lstStyle/>
          <a:p>
            <a:fld id="{B2B05758-BB4F-4559-81AD-225F352C8527}" type="slidenum">
              <a:rPr lang="zh-CN" altLang="en-US" smtClean="0">
                <a:latin typeface="+mj-lt"/>
              </a:rPr>
              <a:t>4</a:t>
            </a:fld>
            <a:endParaRPr lang="zh-CN" altLang="en-US" dirty="0">
              <a:latin typeface="+mj-lt"/>
            </a:endParaRPr>
          </a:p>
        </p:txBody>
      </p:sp>
      <p:sp>
        <p:nvSpPr>
          <p:cNvPr id="13" name="文本框 12">
            <a:extLst>
              <a:ext uri="{FF2B5EF4-FFF2-40B4-BE49-F238E27FC236}">
                <a16:creationId xmlns:a16="http://schemas.microsoft.com/office/drawing/2014/main" id="{FD5B52B0-E9D0-4CA5-985B-B38BD645C750}"/>
              </a:ext>
            </a:extLst>
          </p:cNvPr>
          <p:cNvSpPr txBox="1"/>
          <p:nvPr/>
        </p:nvSpPr>
        <p:spPr>
          <a:xfrm>
            <a:off x="132199" y="5682327"/>
            <a:ext cx="11057708" cy="1477328"/>
          </a:xfrm>
          <a:prstGeom prst="rect">
            <a:avLst/>
          </a:prstGeom>
          <a:noFill/>
        </p:spPr>
        <p:txBody>
          <a:bodyPr wrap="square" rtlCol="0">
            <a:spAutoFit/>
          </a:bodyPr>
          <a:lstStyle/>
          <a:p>
            <a:r>
              <a:rPr lang="en-US" altLang="zh-CN" sz="900" i="0" dirty="0">
                <a:latin typeface="+mn-lt"/>
                <a:ea typeface="宋体" panose="02010600030101010101" pitchFamily="2" charset="-122"/>
              </a:rPr>
              <a:t>[1] </a:t>
            </a:r>
            <a:r>
              <a:rPr lang="en-US" altLang="zh-CN" sz="900" b="0" i="0" dirty="0">
                <a:solidFill>
                  <a:srgbClr val="222222"/>
                </a:solidFill>
                <a:effectLst/>
                <a:latin typeface="Arial" panose="020B0604020202020204" pitchFamily="34" charset="0"/>
              </a:rPr>
              <a:t>Zhao Y, Li M, Lai L, et al. Federated learning with non-</a:t>
            </a:r>
            <a:r>
              <a:rPr lang="en-US" altLang="zh-CN" sz="900" b="0" i="0" dirty="0" err="1">
                <a:solidFill>
                  <a:srgbClr val="222222"/>
                </a:solidFill>
                <a:effectLst/>
                <a:latin typeface="Arial" panose="020B0604020202020204" pitchFamily="34" charset="0"/>
              </a:rPr>
              <a:t>iid</a:t>
            </a:r>
            <a:r>
              <a:rPr lang="en-US" altLang="zh-CN" sz="900" b="0" i="0" dirty="0">
                <a:solidFill>
                  <a:srgbClr val="222222"/>
                </a:solidFill>
                <a:effectLst/>
                <a:latin typeface="Arial" panose="020B0604020202020204" pitchFamily="34" charset="0"/>
              </a:rPr>
              <a:t> data[J]. </a:t>
            </a:r>
            <a:r>
              <a:rPr lang="en-US" altLang="zh-CN" sz="900" b="0" i="0" dirty="0" err="1">
                <a:solidFill>
                  <a:srgbClr val="222222"/>
                </a:solidFill>
                <a:effectLst/>
                <a:latin typeface="Arial" panose="020B0604020202020204" pitchFamily="34" charset="0"/>
              </a:rPr>
              <a:t>arXiv</a:t>
            </a:r>
            <a:r>
              <a:rPr lang="en-US" altLang="zh-CN" sz="900" b="0" i="0" dirty="0">
                <a:solidFill>
                  <a:srgbClr val="222222"/>
                </a:solidFill>
                <a:effectLst/>
                <a:latin typeface="Arial" panose="020B0604020202020204" pitchFamily="34" charset="0"/>
              </a:rPr>
              <a:t> preprint arXiv:1806.00582, 2018.</a:t>
            </a:r>
          </a:p>
          <a:p>
            <a:r>
              <a:rPr lang="en-US" altLang="zh-CN" sz="900" i="0" dirty="0">
                <a:solidFill>
                  <a:srgbClr val="222222"/>
                </a:solidFill>
                <a:latin typeface="Arial" panose="020B0604020202020204" pitchFamily="34" charset="0"/>
              </a:rPr>
              <a:t>[2] </a:t>
            </a:r>
            <a:r>
              <a:rPr lang="en-US" altLang="zh-CN" sz="900" b="0" i="0" dirty="0">
                <a:solidFill>
                  <a:srgbClr val="222222"/>
                </a:solidFill>
                <a:effectLst/>
                <a:latin typeface="Arial" panose="020B0604020202020204" pitchFamily="34" charset="0"/>
              </a:rPr>
              <a:t>Shin M J, Hwang C, Kim J, et al. </a:t>
            </a:r>
            <a:r>
              <a:rPr lang="en-US" altLang="zh-CN" sz="900" b="0" i="0" dirty="0" err="1">
                <a:solidFill>
                  <a:srgbClr val="222222"/>
                </a:solidFill>
                <a:effectLst/>
                <a:latin typeface="Arial" panose="020B0604020202020204" pitchFamily="34" charset="0"/>
              </a:rPr>
              <a:t>Xor</a:t>
            </a:r>
            <a:r>
              <a:rPr lang="en-US" altLang="zh-CN" sz="900" b="0" i="0" dirty="0">
                <a:solidFill>
                  <a:srgbClr val="222222"/>
                </a:solidFill>
                <a:effectLst/>
                <a:latin typeface="Arial" panose="020B0604020202020204" pitchFamily="34" charset="0"/>
              </a:rPr>
              <a:t> </a:t>
            </a:r>
            <a:r>
              <a:rPr lang="en-US" altLang="zh-CN" sz="900" b="0" i="0" dirty="0" err="1">
                <a:solidFill>
                  <a:srgbClr val="222222"/>
                </a:solidFill>
                <a:effectLst/>
                <a:latin typeface="Arial" panose="020B0604020202020204" pitchFamily="34" charset="0"/>
              </a:rPr>
              <a:t>mixup</a:t>
            </a:r>
            <a:r>
              <a:rPr lang="en-US" altLang="zh-CN" sz="900" b="0" i="0" dirty="0">
                <a:solidFill>
                  <a:srgbClr val="222222"/>
                </a:solidFill>
                <a:effectLst/>
                <a:latin typeface="Arial" panose="020B0604020202020204" pitchFamily="34" charset="0"/>
              </a:rPr>
              <a:t>: Privacy-preserving data augmentation for one-shot federated learning[J]. </a:t>
            </a:r>
            <a:r>
              <a:rPr lang="en-US" altLang="zh-CN" sz="900" b="0" i="0" dirty="0" err="1">
                <a:solidFill>
                  <a:srgbClr val="222222"/>
                </a:solidFill>
                <a:effectLst/>
                <a:latin typeface="Arial" panose="020B0604020202020204" pitchFamily="34" charset="0"/>
              </a:rPr>
              <a:t>arXiv</a:t>
            </a:r>
            <a:r>
              <a:rPr lang="en-US" altLang="zh-CN" sz="900" b="0" i="0" dirty="0">
                <a:solidFill>
                  <a:srgbClr val="222222"/>
                </a:solidFill>
                <a:effectLst/>
                <a:latin typeface="Arial" panose="020B0604020202020204" pitchFamily="34" charset="0"/>
              </a:rPr>
              <a:t> preprint arXiv:2006.05148, 2020. </a:t>
            </a:r>
          </a:p>
          <a:p>
            <a:r>
              <a:rPr lang="en-US" altLang="zh-CN" sz="900" i="0" dirty="0">
                <a:solidFill>
                  <a:srgbClr val="222222"/>
                </a:solidFill>
                <a:latin typeface="Arial" panose="020B0604020202020204" pitchFamily="34" charset="0"/>
                <a:ea typeface="宋体" panose="02010600030101010101" pitchFamily="2" charset="-122"/>
              </a:rPr>
              <a:t>[3]</a:t>
            </a:r>
            <a:r>
              <a:rPr lang="en-US" altLang="zh-CN" sz="900" b="0" i="0" dirty="0">
                <a:solidFill>
                  <a:srgbClr val="222222"/>
                </a:solidFill>
                <a:effectLst/>
                <a:latin typeface="Arial" panose="020B0604020202020204" pitchFamily="34" charset="0"/>
              </a:rPr>
              <a:t> </a:t>
            </a:r>
            <a:r>
              <a:rPr lang="en-US" altLang="zh-CN" sz="900" i="0" dirty="0">
                <a:latin typeface="+mn-lt"/>
                <a:ea typeface="宋体" panose="02010600030101010101" pitchFamily="2" charset="-122"/>
              </a:rPr>
              <a:t>Wang Y, Tian Z, Fan X, Cai</a:t>
            </a:r>
            <a:r>
              <a:rPr lang="zh-CN" altLang="en-US" sz="900" i="0" dirty="0">
                <a:latin typeface="+mn-lt"/>
                <a:ea typeface="宋体" panose="02010600030101010101" pitchFamily="2" charset="-122"/>
              </a:rPr>
              <a:t> </a:t>
            </a:r>
            <a:r>
              <a:rPr lang="en-US" altLang="zh-CN" sz="900" i="0" dirty="0">
                <a:latin typeface="+mn-lt"/>
                <a:ea typeface="宋体" panose="02010600030101010101" pitchFamily="2" charset="-122"/>
              </a:rPr>
              <a:t>Z.,</a:t>
            </a:r>
            <a:r>
              <a:rPr lang="zh-CN" altLang="en-US" sz="900" i="0" dirty="0">
                <a:latin typeface="+mn-lt"/>
                <a:ea typeface="宋体" panose="02010600030101010101" pitchFamily="2" charset="-122"/>
              </a:rPr>
              <a:t> </a:t>
            </a:r>
            <a:r>
              <a:rPr lang="en-US" altLang="zh-CN" sz="900" i="0" dirty="0">
                <a:latin typeface="+mn-lt"/>
                <a:ea typeface="宋体" panose="02010600030101010101" pitchFamily="2" charset="-122"/>
              </a:rPr>
              <a:t>et</a:t>
            </a:r>
            <a:r>
              <a:rPr lang="zh-CN" altLang="en-US" sz="900" i="0" dirty="0">
                <a:latin typeface="+mn-lt"/>
                <a:ea typeface="宋体" panose="02010600030101010101" pitchFamily="2" charset="-122"/>
              </a:rPr>
              <a:t> </a:t>
            </a:r>
            <a:r>
              <a:rPr lang="en-US" altLang="zh-CN" sz="900" i="0" dirty="0">
                <a:latin typeface="+mn-lt"/>
                <a:ea typeface="宋体" panose="02010600030101010101" pitchFamily="2" charset="-122"/>
              </a:rPr>
              <a:t>al. Distributed swarm learning for edge internet of things[M]. IEEE Communications Magazine, 2024.</a:t>
            </a:r>
            <a:endParaRPr lang="en-US" altLang="zh-CN" sz="900" b="0" i="0" dirty="0">
              <a:solidFill>
                <a:srgbClr val="222222"/>
              </a:solidFill>
              <a:effectLst/>
              <a:latin typeface="Arial" panose="020B0604020202020204" pitchFamily="34" charset="0"/>
            </a:endParaRPr>
          </a:p>
          <a:p>
            <a:r>
              <a:rPr lang="en-US" altLang="zh-CN" sz="900" i="0" dirty="0">
                <a:solidFill>
                  <a:srgbClr val="222222"/>
                </a:solidFill>
                <a:latin typeface="Arial" panose="020B0604020202020204" pitchFamily="34" charset="0"/>
                <a:ea typeface="宋体" panose="02010600030101010101" pitchFamily="2" charset="-122"/>
              </a:rPr>
              <a:t>[4] Chai Z, Chen Y, Anwar A, et al. </a:t>
            </a:r>
            <a:r>
              <a:rPr lang="en-US" altLang="zh-CN" sz="900" i="0" dirty="0" err="1">
                <a:solidFill>
                  <a:srgbClr val="222222"/>
                </a:solidFill>
                <a:latin typeface="Arial" panose="020B0604020202020204" pitchFamily="34" charset="0"/>
                <a:ea typeface="宋体" panose="02010600030101010101" pitchFamily="2" charset="-122"/>
              </a:rPr>
              <a:t>FedAT</a:t>
            </a:r>
            <a:r>
              <a:rPr lang="en-US" altLang="zh-CN" sz="900" i="0" dirty="0">
                <a:solidFill>
                  <a:srgbClr val="222222"/>
                </a:solidFill>
                <a:latin typeface="Arial" panose="020B0604020202020204" pitchFamily="34" charset="0"/>
                <a:ea typeface="宋体" panose="02010600030101010101" pitchFamily="2" charset="-122"/>
              </a:rPr>
              <a:t>: A high-performance and communication-efficient federated learning system with asynchronous tiers[C]//Proceedings of the international conference for high performance computing, networking, storage and analysis. 2021: 1-16.</a:t>
            </a:r>
          </a:p>
          <a:p>
            <a:r>
              <a:rPr lang="en-US" altLang="zh-CN" sz="900" i="0" dirty="0">
                <a:solidFill>
                  <a:srgbClr val="222222"/>
                </a:solidFill>
                <a:latin typeface="Arial" panose="020B0604020202020204" pitchFamily="34" charset="0"/>
                <a:ea typeface="宋体" panose="02010600030101010101" pitchFamily="2" charset="-122"/>
              </a:rPr>
              <a:t>[5] Zheng W, Yan L, Gou C, et al. Federated meta-learning for fraudulent credit card detection[C]//Proceedings of the Twenty-Ninth International Conference on International Joint Conferences on Artificial Intelligence. 2021: 4654-4660.</a:t>
            </a:r>
          </a:p>
          <a:p>
            <a:r>
              <a:rPr lang="en-US" altLang="zh-CN" sz="900" i="0" dirty="0">
                <a:solidFill>
                  <a:srgbClr val="222222"/>
                </a:solidFill>
                <a:latin typeface="Arial" panose="020B0604020202020204" pitchFamily="34" charset="0"/>
                <a:ea typeface="宋体" panose="02010600030101010101" pitchFamily="2" charset="-122"/>
              </a:rPr>
              <a:t>[6] Ma Q, Xu Y, Xu H, et al. </a:t>
            </a:r>
            <a:r>
              <a:rPr lang="en-US" altLang="zh-CN" sz="900" i="0" dirty="0" err="1">
                <a:solidFill>
                  <a:srgbClr val="222222"/>
                </a:solidFill>
                <a:latin typeface="Arial" panose="020B0604020202020204" pitchFamily="34" charset="0"/>
                <a:ea typeface="宋体" panose="02010600030101010101" pitchFamily="2" charset="-122"/>
              </a:rPr>
              <a:t>FedUC</a:t>
            </a:r>
            <a:r>
              <a:rPr lang="en-US" altLang="zh-CN" sz="900" i="0" dirty="0">
                <a:solidFill>
                  <a:srgbClr val="222222"/>
                </a:solidFill>
                <a:latin typeface="Arial" panose="020B0604020202020204" pitchFamily="34" charset="0"/>
                <a:ea typeface="宋体" panose="02010600030101010101" pitchFamily="2" charset="-122"/>
              </a:rPr>
              <a:t>: A unified clustering approach for hierarchical federated learning[J]. IEEE Transactions on Mobile Computing, 2024.</a:t>
            </a:r>
            <a:br>
              <a:rPr lang="en-US" altLang="zh-CN" sz="900" i="0" dirty="0">
                <a:solidFill>
                  <a:srgbClr val="222222"/>
                </a:solidFill>
                <a:latin typeface="Arial" panose="020B0604020202020204" pitchFamily="34" charset="0"/>
                <a:ea typeface="宋体" panose="02010600030101010101" pitchFamily="2" charset="-122"/>
              </a:rPr>
            </a:br>
            <a:r>
              <a:rPr lang="en-US" altLang="zh-CN" sz="900" i="0" dirty="0">
                <a:solidFill>
                  <a:srgbClr val="222222"/>
                </a:solidFill>
                <a:latin typeface="Arial" panose="020B0604020202020204" pitchFamily="34" charset="0"/>
                <a:ea typeface="宋体" panose="02010600030101010101" pitchFamily="2" charset="-122"/>
              </a:rPr>
              <a:t>[7] Han P, Huang C, Tian G, et al. Convergence analysis of split federated learning on heterogeneous data[J]. Advances in Neural Information Processing Systems, 2025, 37: 103476-103544..</a:t>
            </a:r>
          </a:p>
          <a:p>
            <a:r>
              <a:rPr lang="en-US" altLang="zh-CN" sz="900" i="0" dirty="0">
                <a:solidFill>
                  <a:srgbClr val="222222"/>
                </a:solidFill>
                <a:latin typeface="Arial" panose="020B0604020202020204" pitchFamily="34" charset="0"/>
                <a:ea typeface="宋体" panose="02010600030101010101" pitchFamily="2" charset="-122"/>
              </a:rPr>
              <a:t>[8] Yi L, Yu H, Ren C, et al. </a:t>
            </a:r>
            <a:r>
              <a:rPr lang="en-US" altLang="zh-CN" sz="900" i="0" dirty="0" err="1">
                <a:solidFill>
                  <a:srgbClr val="222222"/>
                </a:solidFill>
                <a:latin typeface="Arial" panose="020B0604020202020204" pitchFamily="34" charset="0"/>
                <a:ea typeface="宋体" panose="02010600030101010101" pitchFamily="2" charset="-122"/>
              </a:rPr>
              <a:t>pFedMoE</a:t>
            </a:r>
            <a:r>
              <a:rPr lang="en-US" altLang="zh-CN" sz="900" i="0" dirty="0">
                <a:solidFill>
                  <a:srgbClr val="222222"/>
                </a:solidFill>
                <a:latin typeface="Arial" panose="020B0604020202020204" pitchFamily="34" charset="0"/>
                <a:ea typeface="宋体" panose="02010600030101010101" pitchFamily="2" charset="-122"/>
              </a:rPr>
              <a:t>: Data-level personalization with mixture of experts for model-heterogeneous personalized federated learning[J]. </a:t>
            </a:r>
            <a:r>
              <a:rPr lang="en-US" altLang="zh-CN" sz="900" i="0" dirty="0" err="1">
                <a:solidFill>
                  <a:srgbClr val="222222"/>
                </a:solidFill>
                <a:latin typeface="Arial" panose="020B0604020202020204" pitchFamily="34" charset="0"/>
                <a:ea typeface="宋体" panose="02010600030101010101" pitchFamily="2" charset="-122"/>
              </a:rPr>
              <a:t>arXiv</a:t>
            </a:r>
            <a:r>
              <a:rPr lang="en-US" altLang="zh-CN" sz="900" i="0" dirty="0">
                <a:solidFill>
                  <a:srgbClr val="222222"/>
                </a:solidFill>
                <a:latin typeface="Arial" panose="020B0604020202020204" pitchFamily="34" charset="0"/>
                <a:ea typeface="宋体" panose="02010600030101010101" pitchFamily="2" charset="-122"/>
              </a:rPr>
              <a:t> preprint arXiv:2402.01350, 2024.</a:t>
            </a:r>
            <a:endParaRPr lang="zh-CN" altLang="en-US" sz="900" i="0" dirty="0">
              <a:latin typeface="+mn-lt"/>
              <a:ea typeface="宋体" panose="02010600030101010101" pitchFamily="2" charset="-122"/>
            </a:endParaRPr>
          </a:p>
        </p:txBody>
      </p:sp>
      <p:sp>
        <p:nvSpPr>
          <p:cNvPr id="15" name="TextBox 48">
            <a:extLst>
              <a:ext uri="{FF2B5EF4-FFF2-40B4-BE49-F238E27FC236}">
                <a16:creationId xmlns:a16="http://schemas.microsoft.com/office/drawing/2014/main" id="{2C8EF078-3E67-4641-A729-E9627F80F112}"/>
              </a:ext>
            </a:extLst>
          </p:cNvPr>
          <p:cNvSpPr txBox="1"/>
          <p:nvPr/>
        </p:nvSpPr>
        <p:spPr>
          <a:xfrm>
            <a:off x="-269386" y="5303991"/>
            <a:ext cx="3758867"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Data Sharing</a:t>
            </a:r>
          </a:p>
        </p:txBody>
      </p:sp>
      <p:sp>
        <p:nvSpPr>
          <p:cNvPr id="18" name="TextBox 48">
            <a:extLst>
              <a:ext uri="{FF2B5EF4-FFF2-40B4-BE49-F238E27FC236}">
                <a16:creationId xmlns:a16="http://schemas.microsoft.com/office/drawing/2014/main" id="{352C7829-B2B4-497D-A580-5F3CA31742D7}"/>
              </a:ext>
            </a:extLst>
          </p:cNvPr>
          <p:cNvSpPr txBox="1"/>
          <p:nvPr/>
        </p:nvSpPr>
        <p:spPr>
          <a:xfrm>
            <a:off x="8877734" y="5303310"/>
            <a:ext cx="3758867"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Personalization </a:t>
            </a:r>
            <a:r>
              <a:rPr lang="en-US" i="0" dirty="0" err="1">
                <a:latin typeface="Times New Roman" panose="02020603050405020304" pitchFamily="18" charset="0"/>
                <a:cs typeface="Times New Roman" panose="02020603050405020304" pitchFamily="18" charset="0"/>
              </a:rPr>
              <a:t>MoE</a:t>
            </a:r>
            <a:endParaRPr lang="en-US" i="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97263AA0-3AEB-47F5-BD24-6800E171AED6}"/>
              </a:ext>
            </a:extLst>
          </p:cNvPr>
          <p:cNvPicPr>
            <a:picLocks noChangeAspect="1"/>
          </p:cNvPicPr>
          <p:nvPr/>
        </p:nvPicPr>
        <p:blipFill>
          <a:blip r:embed="rId3"/>
          <a:stretch>
            <a:fillRect/>
          </a:stretch>
        </p:blipFill>
        <p:spPr>
          <a:xfrm>
            <a:off x="132199" y="3572778"/>
            <a:ext cx="2955696" cy="1626182"/>
          </a:xfrm>
          <a:prstGeom prst="rect">
            <a:avLst/>
          </a:prstGeom>
        </p:spPr>
      </p:pic>
      <p:pic>
        <p:nvPicPr>
          <p:cNvPr id="19" name="图片 18">
            <a:extLst>
              <a:ext uri="{FF2B5EF4-FFF2-40B4-BE49-F238E27FC236}">
                <a16:creationId xmlns:a16="http://schemas.microsoft.com/office/drawing/2014/main" id="{94D4E4A1-FE70-43A3-B521-5179795593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4400" y="3257177"/>
            <a:ext cx="2765533" cy="2126449"/>
          </a:xfrm>
          <a:prstGeom prst="rect">
            <a:avLst/>
          </a:prstGeom>
        </p:spPr>
      </p:pic>
      <p:pic>
        <p:nvPicPr>
          <p:cNvPr id="9" name="图片 8">
            <a:extLst>
              <a:ext uri="{FF2B5EF4-FFF2-40B4-BE49-F238E27FC236}">
                <a16:creationId xmlns:a16="http://schemas.microsoft.com/office/drawing/2014/main" id="{6B9EDA54-B70B-43F9-B705-A0C9AEBB90DE}"/>
              </a:ext>
            </a:extLst>
          </p:cNvPr>
          <p:cNvPicPr>
            <a:picLocks noChangeAspect="1"/>
          </p:cNvPicPr>
          <p:nvPr/>
        </p:nvPicPr>
        <p:blipFill>
          <a:blip r:embed="rId5"/>
          <a:stretch>
            <a:fillRect/>
          </a:stretch>
        </p:blipFill>
        <p:spPr>
          <a:xfrm>
            <a:off x="3369481" y="3584864"/>
            <a:ext cx="3220505" cy="1666611"/>
          </a:xfrm>
          <a:prstGeom prst="rect">
            <a:avLst/>
          </a:prstGeom>
        </p:spPr>
      </p:pic>
      <p:sp>
        <p:nvSpPr>
          <p:cNvPr id="20" name="TextBox 48">
            <a:extLst>
              <a:ext uri="{FF2B5EF4-FFF2-40B4-BE49-F238E27FC236}">
                <a16:creationId xmlns:a16="http://schemas.microsoft.com/office/drawing/2014/main" id="{C1980294-0A1D-45E4-B06C-F3C53E26C34F}"/>
              </a:ext>
            </a:extLst>
          </p:cNvPr>
          <p:cNvSpPr txBox="1"/>
          <p:nvPr/>
        </p:nvSpPr>
        <p:spPr>
          <a:xfrm>
            <a:off x="3100299" y="5198960"/>
            <a:ext cx="3758867"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Model Aggregation</a:t>
            </a:r>
          </a:p>
        </p:txBody>
      </p:sp>
      <p:pic>
        <p:nvPicPr>
          <p:cNvPr id="11" name="图片 10">
            <a:extLst>
              <a:ext uri="{FF2B5EF4-FFF2-40B4-BE49-F238E27FC236}">
                <a16:creationId xmlns:a16="http://schemas.microsoft.com/office/drawing/2014/main" id="{A9ADE3B6-CDA8-4921-B4C8-84A0ED0AD0A8}"/>
              </a:ext>
            </a:extLst>
          </p:cNvPr>
          <p:cNvPicPr>
            <a:picLocks noChangeAspect="1"/>
          </p:cNvPicPr>
          <p:nvPr/>
        </p:nvPicPr>
        <p:blipFill>
          <a:blip r:embed="rId6"/>
          <a:stretch>
            <a:fillRect/>
          </a:stretch>
        </p:blipFill>
        <p:spPr>
          <a:xfrm>
            <a:off x="6553550" y="3722211"/>
            <a:ext cx="2673439" cy="1476068"/>
          </a:xfrm>
          <a:prstGeom prst="rect">
            <a:avLst/>
          </a:prstGeom>
        </p:spPr>
      </p:pic>
      <p:sp>
        <p:nvSpPr>
          <p:cNvPr id="23" name="TextBox 48">
            <a:extLst>
              <a:ext uri="{FF2B5EF4-FFF2-40B4-BE49-F238E27FC236}">
                <a16:creationId xmlns:a16="http://schemas.microsoft.com/office/drawing/2014/main" id="{81637168-DE78-4F85-961D-D9AAA8AE2D2C}"/>
              </a:ext>
            </a:extLst>
          </p:cNvPr>
          <p:cNvSpPr txBox="1"/>
          <p:nvPr/>
        </p:nvSpPr>
        <p:spPr>
          <a:xfrm>
            <a:off x="6010836" y="5189937"/>
            <a:ext cx="3758867"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M</a:t>
            </a:r>
            <a:r>
              <a:rPr lang="en-US" altLang="zh-CN" i="0" dirty="0">
                <a:latin typeface="Times New Roman" panose="02020603050405020304" pitchFamily="18" charset="0"/>
                <a:cs typeface="Times New Roman" panose="02020603050405020304" pitchFamily="18" charset="0"/>
              </a:rPr>
              <a:t>eta Learning</a:t>
            </a:r>
            <a:endParaRPr lang="en-US" i="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3186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Background - Over-the-Air (OTA)</a:t>
            </a:r>
            <a:endParaRPr lang="en-US" dirty="0"/>
          </a:p>
        </p:txBody>
      </p:sp>
      <p:sp>
        <p:nvSpPr>
          <p:cNvPr id="3" name="内容占位符 2"/>
          <p:cNvSpPr>
            <a:spLocks noGrp="1"/>
          </p:cNvSpPr>
          <p:nvPr>
            <p:ph idx="1"/>
          </p:nvPr>
        </p:nvSpPr>
        <p:spPr>
          <a:xfrm>
            <a:off x="535293" y="5086029"/>
            <a:ext cx="7752880" cy="1662709"/>
          </a:xfrm>
        </p:spPr>
        <p:txBody>
          <a:bodyPr/>
          <a:lstStyle/>
          <a:p>
            <a:r>
              <a:rPr lang="en-US" altLang="zh-CN" dirty="0"/>
              <a:t>Expensively rely on orthogonal link resources</a:t>
            </a:r>
          </a:p>
          <a:p>
            <a:r>
              <a:rPr lang="en-US" u="sng" dirty="0"/>
              <a:t>Sum </a:t>
            </a:r>
            <a:r>
              <a:rPr lang="en-US" dirty="0"/>
              <a:t>comes naturally via analog aggregation</a:t>
            </a:r>
          </a:p>
          <a:p>
            <a:pPr marL="0" indent="0">
              <a:buNone/>
            </a:pPr>
            <a:endParaRPr lang="en-US" dirty="0"/>
          </a:p>
        </p:txBody>
      </p:sp>
      <p:sp>
        <p:nvSpPr>
          <p:cNvPr id="4" name="灯片编号占位符 3"/>
          <p:cNvSpPr>
            <a:spLocks noGrp="1"/>
          </p:cNvSpPr>
          <p:nvPr>
            <p:ph type="sldNum" sz="quarter" idx="11"/>
          </p:nvPr>
        </p:nvSpPr>
        <p:spPr/>
        <p:txBody>
          <a:bodyPr/>
          <a:lstStyle/>
          <a:p>
            <a:fld id="{17A34F41-4155-408E-A897-106FC8643D9B}" type="slidenum">
              <a:rPr lang="en-US" smtClean="0"/>
              <a:pPr/>
              <a:t>5</a:t>
            </a:fld>
            <a:endParaRPr lang="en-US" dirty="0"/>
          </a:p>
        </p:txBody>
      </p:sp>
      <p:sp>
        <p:nvSpPr>
          <p:cNvPr id="7" name="右箭头 6"/>
          <p:cNvSpPr/>
          <p:nvPr/>
        </p:nvSpPr>
        <p:spPr bwMode="auto">
          <a:xfrm>
            <a:off x="5496738" y="3290607"/>
            <a:ext cx="457200" cy="3810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grpSp>
        <p:nvGrpSpPr>
          <p:cNvPr id="9" name="组合 8">
            <a:extLst>
              <a:ext uri="{FF2B5EF4-FFF2-40B4-BE49-F238E27FC236}">
                <a16:creationId xmlns:a16="http://schemas.microsoft.com/office/drawing/2014/main" id="{17630A4F-CCEF-4DF8-A951-E55BB0545650}"/>
              </a:ext>
            </a:extLst>
          </p:cNvPr>
          <p:cNvGrpSpPr/>
          <p:nvPr/>
        </p:nvGrpSpPr>
        <p:grpSpPr>
          <a:xfrm>
            <a:off x="7599992" y="2621856"/>
            <a:ext cx="3703008" cy="1698604"/>
            <a:chOff x="6408561" y="4587813"/>
            <a:chExt cx="3703008" cy="1698604"/>
          </a:xfrm>
        </p:grpSpPr>
        <p:grpSp>
          <p:nvGrpSpPr>
            <p:cNvPr id="10" name="组合 9">
              <a:extLst>
                <a:ext uri="{FF2B5EF4-FFF2-40B4-BE49-F238E27FC236}">
                  <a16:creationId xmlns:a16="http://schemas.microsoft.com/office/drawing/2014/main" id="{9BC97F7C-D215-4034-A52B-9D74AEB076E2}"/>
                </a:ext>
              </a:extLst>
            </p:cNvPr>
            <p:cNvGrpSpPr/>
            <p:nvPr/>
          </p:nvGrpSpPr>
          <p:grpSpPr>
            <a:xfrm rot="1670569">
              <a:off x="6492573" y="4587813"/>
              <a:ext cx="1376362" cy="339869"/>
              <a:chOff x="5647544" y="4923478"/>
              <a:chExt cx="1376362" cy="339869"/>
            </a:xfrm>
          </p:grpSpPr>
          <p:cxnSp>
            <p:nvCxnSpPr>
              <p:cNvPr id="22" name="直接箭头连接符 21">
                <a:extLst>
                  <a:ext uri="{FF2B5EF4-FFF2-40B4-BE49-F238E27FC236}">
                    <a16:creationId xmlns:a16="http://schemas.microsoft.com/office/drawing/2014/main" id="{E86F285D-DA6E-4C77-8D29-5F26A1EE4E15}"/>
                  </a:ext>
                </a:extLst>
              </p:cNvPr>
              <p:cNvCxnSpPr>
                <a:cxnSpLocks/>
              </p:cNvCxnSpPr>
              <p:nvPr/>
            </p:nvCxnSpPr>
            <p:spPr bwMode="auto">
              <a:xfrm rot="21148574">
                <a:off x="5647544" y="5101425"/>
                <a:ext cx="137636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3" name="任意多边形: 形状 21">
                <a:extLst>
                  <a:ext uri="{FF2B5EF4-FFF2-40B4-BE49-F238E27FC236}">
                    <a16:creationId xmlns:a16="http://schemas.microsoft.com/office/drawing/2014/main" id="{08935CF6-46D9-4366-8580-DF2C92E71BC2}"/>
                  </a:ext>
                </a:extLst>
              </p:cNvPr>
              <p:cNvSpPr/>
              <p:nvPr/>
            </p:nvSpPr>
            <p:spPr bwMode="auto">
              <a:xfrm rot="21148574">
                <a:off x="5747554" y="4923478"/>
                <a:ext cx="1024985" cy="339869"/>
              </a:xfrm>
              <a:custGeom>
                <a:avLst/>
                <a:gdLst>
                  <a:gd name="connsiteX0" fmla="*/ 0 w 1024985"/>
                  <a:gd name="connsiteY0" fmla="*/ 339869 h 339869"/>
                  <a:gd name="connsiteX1" fmla="*/ 76200 w 1024985"/>
                  <a:gd name="connsiteY1" fmla="*/ 6494 h 339869"/>
                  <a:gd name="connsiteX2" fmla="*/ 123825 w 1024985"/>
                  <a:gd name="connsiteY2" fmla="*/ 16019 h 339869"/>
                  <a:gd name="connsiteX3" fmla="*/ 161925 w 1024985"/>
                  <a:gd name="connsiteY3" fmla="*/ 73169 h 339869"/>
                  <a:gd name="connsiteX4" fmla="*/ 209550 w 1024985"/>
                  <a:gd name="connsiteY4" fmla="*/ 130319 h 339869"/>
                  <a:gd name="connsiteX5" fmla="*/ 228600 w 1024985"/>
                  <a:gd name="connsiteY5" fmla="*/ 196994 h 339869"/>
                  <a:gd name="connsiteX6" fmla="*/ 247650 w 1024985"/>
                  <a:gd name="connsiteY6" fmla="*/ 254144 h 339869"/>
                  <a:gd name="connsiteX7" fmla="*/ 257175 w 1024985"/>
                  <a:gd name="connsiteY7" fmla="*/ 282719 h 339869"/>
                  <a:gd name="connsiteX8" fmla="*/ 266700 w 1024985"/>
                  <a:gd name="connsiteY8" fmla="*/ 320819 h 339869"/>
                  <a:gd name="connsiteX9" fmla="*/ 314325 w 1024985"/>
                  <a:gd name="connsiteY9" fmla="*/ 311294 h 339869"/>
                  <a:gd name="connsiteX10" fmla="*/ 342900 w 1024985"/>
                  <a:gd name="connsiteY10" fmla="*/ 292244 h 339869"/>
                  <a:gd name="connsiteX11" fmla="*/ 371475 w 1024985"/>
                  <a:gd name="connsiteY11" fmla="*/ 282719 h 339869"/>
                  <a:gd name="connsiteX12" fmla="*/ 409575 w 1024985"/>
                  <a:gd name="connsiteY12" fmla="*/ 235094 h 339869"/>
                  <a:gd name="connsiteX13" fmla="*/ 447675 w 1024985"/>
                  <a:gd name="connsiteY13" fmla="*/ 187469 h 339869"/>
                  <a:gd name="connsiteX14" fmla="*/ 485775 w 1024985"/>
                  <a:gd name="connsiteY14" fmla="*/ 130319 h 339869"/>
                  <a:gd name="connsiteX15" fmla="*/ 523875 w 1024985"/>
                  <a:gd name="connsiteY15" fmla="*/ 82694 h 339869"/>
                  <a:gd name="connsiteX16" fmla="*/ 542925 w 1024985"/>
                  <a:gd name="connsiteY16" fmla="*/ 54119 h 339869"/>
                  <a:gd name="connsiteX17" fmla="*/ 619125 w 1024985"/>
                  <a:gd name="connsiteY17" fmla="*/ 54119 h 339869"/>
                  <a:gd name="connsiteX18" fmla="*/ 628650 w 1024985"/>
                  <a:gd name="connsiteY18" fmla="*/ 82694 h 339869"/>
                  <a:gd name="connsiteX19" fmla="*/ 638175 w 1024985"/>
                  <a:gd name="connsiteY19" fmla="*/ 120794 h 339869"/>
                  <a:gd name="connsiteX20" fmla="*/ 676275 w 1024985"/>
                  <a:gd name="connsiteY20" fmla="*/ 196994 h 339869"/>
                  <a:gd name="connsiteX21" fmla="*/ 695325 w 1024985"/>
                  <a:gd name="connsiteY21" fmla="*/ 273194 h 339869"/>
                  <a:gd name="connsiteX22" fmla="*/ 714375 w 1024985"/>
                  <a:gd name="connsiteY22" fmla="*/ 330344 h 339869"/>
                  <a:gd name="connsiteX23" fmla="*/ 762000 w 1024985"/>
                  <a:gd name="connsiteY23" fmla="*/ 320819 h 339869"/>
                  <a:gd name="connsiteX24" fmla="*/ 819150 w 1024985"/>
                  <a:gd name="connsiteY24" fmla="*/ 235094 h 339869"/>
                  <a:gd name="connsiteX25" fmla="*/ 857250 w 1024985"/>
                  <a:gd name="connsiteY25" fmla="*/ 206519 h 339869"/>
                  <a:gd name="connsiteX26" fmla="*/ 866775 w 1024985"/>
                  <a:gd name="connsiteY26" fmla="*/ 177944 h 339869"/>
                  <a:gd name="connsiteX27" fmla="*/ 885825 w 1024985"/>
                  <a:gd name="connsiteY27" fmla="*/ 149369 h 339869"/>
                  <a:gd name="connsiteX28" fmla="*/ 923925 w 1024985"/>
                  <a:gd name="connsiteY28" fmla="*/ 92219 h 339869"/>
                  <a:gd name="connsiteX29" fmla="*/ 952500 w 1024985"/>
                  <a:gd name="connsiteY29" fmla="*/ 25544 h 339869"/>
                  <a:gd name="connsiteX30" fmla="*/ 990600 w 1024985"/>
                  <a:gd name="connsiteY30" fmla="*/ 44594 h 339869"/>
                  <a:gd name="connsiteX31" fmla="*/ 1009650 w 1024985"/>
                  <a:gd name="connsiteY31" fmla="*/ 73169 h 339869"/>
                  <a:gd name="connsiteX32" fmla="*/ 1019175 w 1024985"/>
                  <a:gd name="connsiteY32" fmla="*/ 273194 h 339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24985" h="339869">
                    <a:moveTo>
                      <a:pt x="0" y="339869"/>
                    </a:moveTo>
                    <a:cubicBezTo>
                      <a:pt x="25400" y="228744"/>
                      <a:pt x="35490" y="112967"/>
                      <a:pt x="76200" y="6494"/>
                    </a:cubicBezTo>
                    <a:cubicBezTo>
                      <a:pt x="81982" y="-8628"/>
                      <a:pt x="111046" y="6080"/>
                      <a:pt x="123825" y="16019"/>
                    </a:cubicBezTo>
                    <a:cubicBezTo>
                      <a:pt x="141897" y="30075"/>
                      <a:pt x="149225" y="54119"/>
                      <a:pt x="161925" y="73169"/>
                    </a:cubicBezTo>
                    <a:cubicBezTo>
                      <a:pt x="188447" y="112952"/>
                      <a:pt x="172880" y="93649"/>
                      <a:pt x="209550" y="130319"/>
                    </a:cubicBezTo>
                    <a:cubicBezTo>
                      <a:pt x="241561" y="226351"/>
                      <a:pt x="192720" y="77393"/>
                      <a:pt x="228600" y="196994"/>
                    </a:cubicBezTo>
                    <a:cubicBezTo>
                      <a:pt x="234370" y="216228"/>
                      <a:pt x="241300" y="235094"/>
                      <a:pt x="247650" y="254144"/>
                    </a:cubicBezTo>
                    <a:cubicBezTo>
                      <a:pt x="250825" y="263669"/>
                      <a:pt x="254740" y="272979"/>
                      <a:pt x="257175" y="282719"/>
                    </a:cubicBezTo>
                    <a:lnTo>
                      <a:pt x="266700" y="320819"/>
                    </a:lnTo>
                    <a:cubicBezTo>
                      <a:pt x="282575" y="317644"/>
                      <a:pt x="299166" y="316978"/>
                      <a:pt x="314325" y="311294"/>
                    </a:cubicBezTo>
                    <a:cubicBezTo>
                      <a:pt x="325044" y="307274"/>
                      <a:pt x="332661" y="297364"/>
                      <a:pt x="342900" y="292244"/>
                    </a:cubicBezTo>
                    <a:cubicBezTo>
                      <a:pt x="351880" y="287754"/>
                      <a:pt x="361950" y="285894"/>
                      <a:pt x="371475" y="282719"/>
                    </a:cubicBezTo>
                    <a:cubicBezTo>
                      <a:pt x="395416" y="210895"/>
                      <a:pt x="360336" y="296642"/>
                      <a:pt x="409575" y="235094"/>
                    </a:cubicBezTo>
                    <a:cubicBezTo>
                      <a:pt x="462155" y="169369"/>
                      <a:pt x="365783" y="242064"/>
                      <a:pt x="447675" y="187469"/>
                    </a:cubicBezTo>
                    <a:cubicBezTo>
                      <a:pt x="477414" y="98252"/>
                      <a:pt x="428696" y="230208"/>
                      <a:pt x="485775" y="130319"/>
                    </a:cubicBezTo>
                    <a:cubicBezTo>
                      <a:pt x="516731" y="76147"/>
                      <a:pt x="468312" y="101215"/>
                      <a:pt x="523875" y="82694"/>
                    </a:cubicBezTo>
                    <a:cubicBezTo>
                      <a:pt x="530225" y="73169"/>
                      <a:pt x="533986" y="61270"/>
                      <a:pt x="542925" y="54119"/>
                    </a:cubicBezTo>
                    <a:cubicBezTo>
                      <a:pt x="566356" y="35374"/>
                      <a:pt x="594714" y="49237"/>
                      <a:pt x="619125" y="54119"/>
                    </a:cubicBezTo>
                    <a:cubicBezTo>
                      <a:pt x="622300" y="63644"/>
                      <a:pt x="625892" y="73040"/>
                      <a:pt x="628650" y="82694"/>
                    </a:cubicBezTo>
                    <a:cubicBezTo>
                      <a:pt x="632246" y="95281"/>
                      <a:pt x="633140" y="108710"/>
                      <a:pt x="638175" y="120794"/>
                    </a:cubicBezTo>
                    <a:cubicBezTo>
                      <a:pt x="649097" y="147008"/>
                      <a:pt x="669387" y="169444"/>
                      <a:pt x="676275" y="196994"/>
                    </a:cubicBezTo>
                    <a:cubicBezTo>
                      <a:pt x="682625" y="222394"/>
                      <a:pt x="687046" y="248356"/>
                      <a:pt x="695325" y="273194"/>
                    </a:cubicBezTo>
                    <a:lnTo>
                      <a:pt x="714375" y="330344"/>
                    </a:lnTo>
                    <a:cubicBezTo>
                      <a:pt x="730250" y="327169"/>
                      <a:pt x="747848" y="328681"/>
                      <a:pt x="762000" y="320819"/>
                    </a:cubicBezTo>
                    <a:cubicBezTo>
                      <a:pt x="824037" y="286354"/>
                      <a:pt x="782152" y="284425"/>
                      <a:pt x="819150" y="235094"/>
                    </a:cubicBezTo>
                    <a:cubicBezTo>
                      <a:pt x="828675" y="222394"/>
                      <a:pt x="844550" y="216044"/>
                      <a:pt x="857250" y="206519"/>
                    </a:cubicBezTo>
                    <a:cubicBezTo>
                      <a:pt x="860425" y="196994"/>
                      <a:pt x="862285" y="186924"/>
                      <a:pt x="866775" y="177944"/>
                    </a:cubicBezTo>
                    <a:cubicBezTo>
                      <a:pt x="871895" y="167705"/>
                      <a:pt x="881316" y="159891"/>
                      <a:pt x="885825" y="149369"/>
                    </a:cubicBezTo>
                    <a:cubicBezTo>
                      <a:pt x="910428" y="91962"/>
                      <a:pt x="873700" y="125702"/>
                      <a:pt x="923925" y="92219"/>
                    </a:cubicBezTo>
                    <a:cubicBezTo>
                      <a:pt x="927537" y="81384"/>
                      <a:pt x="943672" y="28487"/>
                      <a:pt x="952500" y="25544"/>
                    </a:cubicBezTo>
                    <a:cubicBezTo>
                      <a:pt x="965970" y="21054"/>
                      <a:pt x="977900" y="38244"/>
                      <a:pt x="990600" y="44594"/>
                    </a:cubicBezTo>
                    <a:cubicBezTo>
                      <a:pt x="996950" y="54119"/>
                      <a:pt x="1004530" y="62930"/>
                      <a:pt x="1009650" y="73169"/>
                    </a:cubicBezTo>
                    <a:cubicBezTo>
                      <a:pt x="1037247" y="128364"/>
                      <a:pt x="1019175" y="248791"/>
                      <a:pt x="1019175" y="273194"/>
                    </a:cubicBezTo>
                  </a:path>
                </a:pathLst>
              </a:cu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charset="0"/>
                </a:endParaRPr>
              </a:p>
            </p:txBody>
          </p:sp>
        </p:grpSp>
        <p:grpSp>
          <p:nvGrpSpPr>
            <p:cNvPr id="11" name="组合 10">
              <a:extLst>
                <a:ext uri="{FF2B5EF4-FFF2-40B4-BE49-F238E27FC236}">
                  <a16:creationId xmlns:a16="http://schemas.microsoft.com/office/drawing/2014/main" id="{BAAD9797-0649-4C8F-A2F7-2B27BB8661F4}"/>
                </a:ext>
              </a:extLst>
            </p:cNvPr>
            <p:cNvGrpSpPr/>
            <p:nvPr/>
          </p:nvGrpSpPr>
          <p:grpSpPr>
            <a:xfrm>
              <a:off x="6408561" y="5113689"/>
              <a:ext cx="1376362" cy="333375"/>
              <a:chOff x="5651089" y="5043567"/>
              <a:chExt cx="1376362" cy="333375"/>
            </a:xfrm>
          </p:grpSpPr>
          <p:cxnSp>
            <p:nvCxnSpPr>
              <p:cNvPr id="20" name="直接箭头连接符 19">
                <a:extLst>
                  <a:ext uri="{FF2B5EF4-FFF2-40B4-BE49-F238E27FC236}">
                    <a16:creationId xmlns:a16="http://schemas.microsoft.com/office/drawing/2014/main" id="{402D8B75-A1E2-483E-A126-B2B061462571}"/>
                  </a:ext>
                </a:extLst>
              </p:cNvPr>
              <p:cNvCxnSpPr>
                <a:cxnSpLocks/>
              </p:cNvCxnSpPr>
              <p:nvPr/>
            </p:nvCxnSpPr>
            <p:spPr bwMode="auto">
              <a:xfrm>
                <a:off x="5651089" y="5251027"/>
                <a:ext cx="137636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1" name="任意多边形: 形状 23">
                <a:extLst>
                  <a:ext uri="{FF2B5EF4-FFF2-40B4-BE49-F238E27FC236}">
                    <a16:creationId xmlns:a16="http://schemas.microsoft.com/office/drawing/2014/main" id="{80F2E35F-D4ED-412B-BB84-B9EB58A5B22E}"/>
                  </a:ext>
                </a:extLst>
              </p:cNvPr>
              <p:cNvSpPr/>
              <p:nvPr/>
            </p:nvSpPr>
            <p:spPr bwMode="auto">
              <a:xfrm>
                <a:off x="5719185" y="5043567"/>
                <a:ext cx="1101297" cy="333375"/>
              </a:xfrm>
              <a:custGeom>
                <a:avLst/>
                <a:gdLst>
                  <a:gd name="connsiteX0" fmla="*/ 0 w 1101297"/>
                  <a:gd name="connsiteY0" fmla="*/ 285750 h 333375"/>
                  <a:gd name="connsiteX1" fmla="*/ 19050 w 1101297"/>
                  <a:gd name="connsiteY1" fmla="*/ 104775 h 333375"/>
                  <a:gd name="connsiteX2" fmla="*/ 47625 w 1101297"/>
                  <a:gd name="connsiteY2" fmla="*/ 85725 h 333375"/>
                  <a:gd name="connsiteX3" fmla="*/ 142875 w 1101297"/>
                  <a:gd name="connsiteY3" fmla="*/ 95250 h 333375"/>
                  <a:gd name="connsiteX4" fmla="*/ 180975 w 1101297"/>
                  <a:gd name="connsiteY4" fmla="*/ 114300 h 333375"/>
                  <a:gd name="connsiteX5" fmla="*/ 190500 w 1101297"/>
                  <a:gd name="connsiteY5" fmla="*/ 142875 h 333375"/>
                  <a:gd name="connsiteX6" fmla="*/ 228600 w 1101297"/>
                  <a:gd name="connsiteY6" fmla="*/ 219075 h 333375"/>
                  <a:gd name="connsiteX7" fmla="*/ 266700 w 1101297"/>
                  <a:gd name="connsiteY7" fmla="*/ 304800 h 333375"/>
                  <a:gd name="connsiteX8" fmla="*/ 304800 w 1101297"/>
                  <a:gd name="connsiteY8" fmla="*/ 285750 h 333375"/>
                  <a:gd name="connsiteX9" fmla="*/ 342900 w 1101297"/>
                  <a:gd name="connsiteY9" fmla="*/ 276225 h 333375"/>
                  <a:gd name="connsiteX10" fmla="*/ 371475 w 1101297"/>
                  <a:gd name="connsiteY10" fmla="*/ 257175 h 333375"/>
                  <a:gd name="connsiteX11" fmla="*/ 390525 w 1101297"/>
                  <a:gd name="connsiteY11" fmla="*/ 228600 h 333375"/>
                  <a:gd name="connsiteX12" fmla="*/ 400050 w 1101297"/>
                  <a:gd name="connsiteY12" fmla="*/ 200025 h 333375"/>
                  <a:gd name="connsiteX13" fmla="*/ 428625 w 1101297"/>
                  <a:gd name="connsiteY13" fmla="*/ 171450 h 333375"/>
                  <a:gd name="connsiteX14" fmla="*/ 447675 w 1101297"/>
                  <a:gd name="connsiteY14" fmla="*/ 123825 h 333375"/>
                  <a:gd name="connsiteX15" fmla="*/ 457200 w 1101297"/>
                  <a:gd name="connsiteY15" fmla="*/ 95250 h 333375"/>
                  <a:gd name="connsiteX16" fmla="*/ 495300 w 1101297"/>
                  <a:gd name="connsiteY16" fmla="*/ 76200 h 333375"/>
                  <a:gd name="connsiteX17" fmla="*/ 504825 w 1101297"/>
                  <a:gd name="connsiteY17" fmla="*/ 38100 h 333375"/>
                  <a:gd name="connsiteX18" fmla="*/ 581025 w 1101297"/>
                  <a:gd name="connsiteY18" fmla="*/ 28575 h 333375"/>
                  <a:gd name="connsiteX19" fmla="*/ 600075 w 1101297"/>
                  <a:gd name="connsiteY19" fmla="*/ 66675 h 333375"/>
                  <a:gd name="connsiteX20" fmla="*/ 628650 w 1101297"/>
                  <a:gd name="connsiteY20" fmla="*/ 95250 h 333375"/>
                  <a:gd name="connsiteX21" fmla="*/ 647700 w 1101297"/>
                  <a:gd name="connsiteY21" fmla="*/ 123825 h 333375"/>
                  <a:gd name="connsiteX22" fmla="*/ 657225 w 1101297"/>
                  <a:gd name="connsiteY22" fmla="*/ 200025 h 333375"/>
                  <a:gd name="connsiteX23" fmla="*/ 676275 w 1101297"/>
                  <a:gd name="connsiteY23" fmla="*/ 323850 h 333375"/>
                  <a:gd name="connsiteX24" fmla="*/ 733425 w 1101297"/>
                  <a:gd name="connsiteY24" fmla="*/ 304800 h 333375"/>
                  <a:gd name="connsiteX25" fmla="*/ 742950 w 1101297"/>
                  <a:gd name="connsiteY25" fmla="*/ 276225 h 333375"/>
                  <a:gd name="connsiteX26" fmla="*/ 771525 w 1101297"/>
                  <a:gd name="connsiteY26" fmla="*/ 257175 h 333375"/>
                  <a:gd name="connsiteX27" fmla="*/ 809625 w 1101297"/>
                  <a:gd name="connsiteY27" fmla="*/ 209550 h 333375"/>
                  <a:gd name="connsiteX28" fmla="*/ 847725 w 1101297"/>
                  <a:gd name="connsiteY28" fmla="*/ 161925 h 333375"/>
                  <a:gd name="connsiteX29" fmla="*/ 895350 w 1101297"/>
                  <a:gd name="connsiteY29" fmla="*/ 95250 h 333375"/>
                  <a:gd name="connsiteX30" fmla="*/ 942975 w 1101297"/>
                  <a:gd name="connsiteY30" fmla="*/ 38100 h 333375"/>
                  <a:gd name="connsiteX31" fmla="*/ 990600 w 1101297"/>
                  <a:gd name="connsiteY31" fmla="*/ 0 h 333375"/>
                  <a:gd name="connsiteX32" fmla="*/ 1057275 w 1101297"/>
                  <a:gd name="connsiteY32" fmla="*/ 28575 h 333375"/>
                  <a:gd name="connsiteX33" fmla="*/ 1076325 w 1101297"/>
                  <a:gd name="connsiteY33" fmla="*/ 66675 h 333375"/>
                  <a:gd name="connsiteX34" fmla="*/ 1095375 w 1101297"/>
                  <a:gd name="connsiteY3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01297" h="333375">
                    <a:moveTo>
                      <a:pt x="0" y="285750"/>
                    </a:moveTo>
                    <a:cubicBezTo>
                      <a:pt x="6350" y="225425"/>
                      <a:pt x="5000" y="163784"/>
                      <a:pt x="19050" y="104775"/>
                    </a:cubicBezTo>
                    <a:cubicBezTo>
                      <a:pt x="21702" y="93639"/>
                      <a:pt x="36211" y="86603"/>
                      <a:pt x="47625" y="85725"/>
                    </a:cubicBezTo>
                    <a:cubicBezTo>
                      <a:pt x="79439" y="83278"/>
                      <a:pt x="111125" y="92075"/>
                      <a:pt x="142875" y="95250"/>
                    </a:cubicBezTo>
                    <a:cubicBezTo>
                      <a:pt x="155575" y="101600"/>
                      <a:pt x="170935" y="104260"/>
                      <a:pt x="180975" y="114300"/>
                    </a:cubicBezTo>
                    <a:cubicBezTo>
                      <a:pt x="188075" y="121400"/>
                      <a:pt x="186010" y="133895"/>
                      <a:pt x="190500" y="142875"/>
                    </a:cubicBezTo>
                    <a:cubicBezTo>
                      <a:pt x="219984" y="201843"/>
                      <a:pt x="203880" y="136676"/>
                      <a:pt x="228600" y="219075"/>
                    </a:cubicBezTo>
                    <a:cubicBezTo>
                      <a:pt x="251770" y="296309"/>
                      <a:pt x="218084" y="239979"/>
                      <a:pt x="266700" y="304800"/>
                    </a:cubicBezTo>
                    <a:cubicBezTo>
                      <a:pt x="279400" y="298450"/>
                      <a:pt x="291505" y="290736"/>
                      <a:pt x="304800" y="285750"/>
                    </a:cubicBezTo>
                    <a:cubicBezTo>
                      <a:pt x="317057" y="281153"/>
                      <a:pt x="330868" y="281382"/>
                      <a:pt x="342900" y="276225"/>
                    </a:cubicBezTo>
                    <a:cubicBezTo>
                      <a:pt x="353422" y="271716"/>
                      <a:pt x="361950" y="263525"/>
                      <a:pt x="371475" y="257175"/>
                    </a:cubicBezTo>
                    <a:cubicBezTo>
                      <a:pt x="377825" y="247650"/>
                      <a:pt x="385405" y="238839"/>
                      <a:pt x="390525" y="228600"/>
                    </a:cubicBezTo>
                    <a:cubicBezTo>
                      <a:pt x="395015" y="219620"/>
                      <a:pt x="394481" y="208379"/>
                      <a:pt x="400050" y="200025"/>
                    </a:cubicBezTo>
                    <a:cubicBezTo>
                      <a:pt x="407522" y="188817"/>
                      <a:pt x="419100" y="180975"/>
                      <a:pt x="428625" y="171450"/>
                    </a:cubicBezTo>
                    <a:cubicBezTo>
                      <a:pt x="434975" y="155575"/>
                      <a:pt x="441672" y="139834"/>
                      <a:pt x="447675" y="123825"/>
                    </a:cubicBezTo>
                    <a:cubicBezTo>
                      <a:pt x="451200" y="114424"/>
                      <a:pt x="450100" y="102350"/>
                      <a:pt x="457200" y="95250"/>
                    </a:cubicBezTo>
                    <a:cubicBezTo>
                      <a:pt x="467240" y="85210"/>
                      <a:pt x="482600" y="82550"/>
                      <a:pt x="495300" y="76200"/>
                    </a:cubicBezTo>
                    <a:cubicBezTo>
                      <a:pt x="498475" y="63500"/>
                      <a:pt x="497563" y="48992"/>
                      <a:pt x="504825" y="38100"/>
                    </a:cubicBezTo>
                    <a:cubicBezTo>
                      <a:pt x="526260" y="5948"/>
                      <a:pt x="551322" y="22634"/>
                      <a:pt x="581025" y="28575"/>
                    </a:cubicBezTo>
                    <a:cubicBezTo>
                      <a:pt x="587375" y="41275"/>
                      <a:pt x="591822" y="55121"/>
                      <a:pt x="600075" y="66675"/>
                    </a:cubicBezTo>
                    <a:cubicBezTo>
                      <a:pt x="607905" y="77636"/>
                      <a:pt x="620026" y="84902"/>
                      <a:pt x="628650" y="95250"/>
                    </a:cubicBezTo>
                    <a:cubicBezTo>
                      <a:pt x="635979" y="104044"/>
                      <a:pt x="641350" y="114300"/>
                      <a:pt x="647700" y="123825"/>
                    </a:cubicBezTo>
                    <a:cubicBezTo>
                      <a:pt x="650875" y="149225"/>
                      <a:pt x="654398" y="174584"/>
                      <a:pt x="657225" y="200025"/>
                    </a:cubicBezTo>
                    <a:cubicBezTo>
                      <a:pt x="669503" y="310527"/>
                      <a:pt x="656108" y="263348"/>
                      <a:pt x="676275" y="323850"/>
                    </a:cubicBezTo>
                    <a:cubicBezTo>
                      <a:pt x="695325" y="317500"/>
                      <a:pt x="717085" y="316472"/>
                      <a:pt x="733425" y="304800"/>
                    </a:cubicBezTo>
                    <a:cubicBezTo>
                      <a:pt x="741595" y="298964"/>
                      <a:pt x="736678" y="284065"/>
                      <a:pt x="742950" y="276225"/>
                    </a:cubicBezTo>
                    <a:cubicBezTo>
                      <a:pt x="750101" y="267286"/>
                      <a:pt x="762000" y="263525"/>
                      <a:pt x="771525" y="257175"/>
                    </a:cubicBezTo>
                    <a:cubicBezTo>
                      <a:pt x="795466" y="185351"/>
                      <a:pt x="760386" y="271098"/>
                      <a:pt x="809625" y="209550"/>
                    </a:cubicBezTo>
                    <a:cubicBezTo>
                      <a:pt x="862205" y="143825"/>
                      <a:pt x="765833" y="216520"/>
                      <a:pt x="847725" y="161925"/>
                    </a:cubicBezTo>
                    <a:cubicBezTo>
                      <a:pt x="869950" y="95250"/>
                      <a:pt x="847725" y="111125"/>
                      <a:pt x="895350" y="95250"/>
                    </a:cubicBezTo>
                    <a:cubicBezTo>
                      <a:pt x="936218" y="13513"/>
                      <a:pt x="889123" y="91952"/>
                      <a:pt x="942975" y="38100"/>
                    </a:cubicBezTo>
                    <a:cubicBezTo>
                      <a:pt x="986059" y="-4984"/>
                      <a:pt x="934970" y="18543"/>
                      <a:pt x="990600" y="0"/>
                    </a:cubicBezTo>
                    <a:cubicBezTo>
                      <a:pt x="1014468" y="5967"/>
                      <a:pt x="1039965" y="7803"/>
                      <a:pt x="1057275" y="28575"/>
                    </a:cubicBezTo>
                    <a:cubicBezTo>
                      <a:pt x="1066365" y="39483"/>
                      <a:pt x="1071052" y="53492"/>
                      <a:pt x="1076325" y="66675"/>
                    </a:cubicBezTo>
                    <a:cubicBezTo>
                      <a:pt x="1117464" y="169521"/>
                      <a:pt x="1095375" y="175295"/>
                      <a:pt x="1095375" y="333375"/>
                    </a:cubicBezTo>
                  </a:path>
                </a:pathLst>
              </a:cu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charset="0"/>
                </a:endParaRPr>
              </a:p>
            </p:txBody>
          </p:sp>
        </p:grpSp>
        <p:grpSp>
          <p:nvGrpSpPr>
            <p:cNvPr id="12" name="组合 11">
              <a:extLst>
                <a:ext uri="{FF2B5EF4-FFF2-40B4-BE49-F238E27FC236}">
                  <a16:creationId xmlns:a16="http://schemas.microsoft.com/office/drawing/2014/main" id="{A0D82629-315C-47FB-933E-18FF7517A88D}"/>
                </a:ext>
              </a:extLst>
            </p:cNvPr>
            <p:cNvGrpSpPr/>
            <p:nvPr/>
          </p:nvGrpSpPr>
          <p:grpSpPr>
            <a:xfrm rot="19820717">
              <a:off x="6515478" y="6010192"/>
              <a:ext cx="1376362" cy="276225"/>
              <a:chOff x="5881886" y="5581123"/>
              <a:chExt cx="1376362" cy="276225"/>
            </a:xfrm>
          </p:grpSpPr>
          <p:cxnSp>
            <p:nvCxnSpPr>
              <p:cNvPr id="18" name="直接箭头连接符 17">
                <a:extLst>
                  <a:ext uri="{FF2B5EF4-FFF2-40B4-BE49-F238E27FC236}">
                    <a16:creationId xmlns:a16="http://schemas.microsoft.com/office/drawing/2014/main" id="{3FA0E824-13BA-4E40-871D-54015CAFA7FB}"/>
                  </a:ext>
                </a:extLst>
              </p:cNvPr>
              <p:cNvCxnSpPr>
                <a:cxnSpLocks/>
              </p:cNvCxnSpPr>
              <p:nvPr/>
            </p:nvCxnSpPr>
            <p:spPr bwMode="auto">
              <a:xfrm rot="105873">
                <a:off x="5881886" y="5740385"/>
                <a:ext cx="137636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任意多边形: 形状 26">
                <a:extLst>
                  <a:ext uri="{FF2B5EF4-FFF2-40B4-BE49-F238E27FC236}">
                    <a16:creationId xmlns:a16="http://schemas.microsoft.com/office/drawing/2014/main" id="{F3BB9175-4FE4-42E5-B83C-11A78915B7AB}"/>
                  </a:ext>
                </a:extLst>
              </p:cNvPr>
              <p:cNvSpPr/>
              <p:nvPr/>
            </p:nvSpPr>
            <p:spPr bwMode="auto">
              <a:xfrm rot="105873">
                <a:off x="5946678" y="5581123"/>
                <a:ext cx="1069334" cy="276225"/>
              </a:xfrm>
              <a:custGeom>
                <a:avLst/>
                <a:gdLst>
                  <a:gd name="connsiteX0" fmla="*/ 0 w 1069334"/>
                  <a:gd name="connsiteY0" fmla="*/ 38100 h 276225"/>
                  <a:gd name="connsiteX1" fmla="*/ 247650 w 1069334"/>
                  <a:gd name="connsiteY1" fmla="*/ 180975 h 276225"/>
                  <a:gd name="connsiteX2" fmla="*/ 257175 w 1069334"/>
                  <a:gd name="connsiteY2" fmla="*/ 152400 h 276225"/>
                  <a:gd name="connsiteX3" fmla="*/ 276225 w 1069334"/>
                  <a:gd name="connsiteY3" fmla="*/ 123825 h 276225"/>
                  <a:gd name="connsiteX4" fmla="*/ 314325 w 1069334"/>
                  <a:gd name="connsiteY4" fmla="*/ 66675 h 276225"/>
                  <a:gd name="connsiteX5" fmla="*/ 323850 w 1069334"/>
                  <a:gd name="connsiteY5" fmla="*/ 38100 h 276225"/>
                  <a:gd name="connsiteX6" fmla="*/ 390525 w 1069334"/>
                  <a:gd name="connsiteY6" fmla="*/ 57150 h 276225"/>
                  <a:gd name="connsiteX7" fmla="*/ 419100 w 1069334"/>
                  <a:gd name="connsiteY7" fmla="*/ 85725 h 276225"/>
                  <a:gd name="connsiteX8" fmla="*/ 447675 w 1069334"/>
                  <a:gd name="connsiteY8" fmla="*/ 142875 h 276225"/>
                  <a:gd name="connsiteX9" fmla="*/ 495300 w 1069334"/>
                  <a:gd name="connsiteY9" fmla="*/ 190500 h 276225"/>
                  <a:gd name="connsiteX10" fmla="*/ 552450 w 1069334"/>
                  <a:gd name="connsiteY10" fmla="*/ 238125 h 276225"/>
                  <a:gd name="connsiteX11" fmla="*/ 571500 w 1069334"/>
                  <a:gd name="connsiteY11" fmla="*/ 209550 h 276225"/>
                  <a:gd name="connsiteX12" fmla="*/ 628650 w 1069334"/>
                  <a:gd name="connsiteY12" fmla="*/ 171450 h 276225"/>
                  <a:gd name="connsiteX13" fmla="*/ 647700 w 1069334"/>
                  <a:gd name="connsiteY13" fmla="*/ 104775 h 276225"/>
                  <a:gd name="connsiteX14" fmla="*/ 666750 w 1069334"/>
                  <a:gd name="connsiteY14" fmla="*/ 76200 h 276225"/>
                  <a:gd name="connsiteX15" fmla="*/ 685800 w 1069334"/>
                  <a:gd name="connsiteY15" fmla="*/ 9525 h 276225"/>
                  <a:gd name="connsiteX16" fmla="*/ 714375 w 1069334"/>
                  <a:gd name="connsiteY16" fmla="*/ 0 h 276225"/>
                  <a:gd name="connsiteX17" fmla="*/ 762000 w 1069334"/>
                  <a:gd name="connsiteY17" fmla="*/ 9525 h 276225"/>
                  <a:gd name="connsiteX18" fmla="*/ 781050 w 1069334"/>
                  <a:gd name="connsiteY18" fmla="*/ 38100 h 276225"/>
                  <a:gd name="connsiteX19" fmla="*/ 809625 w 1069334"/>
                  <a:gd name="connsiteY19" fmla="*/ 85725 h 276225"/>
                  <a:gd name="connsiteX20" fmla="*/ 828675 w 1069334"/>
                  <a:gd name="connsiteY20" fmla="*/ 171450 h 276225"/>
                  <a:gd name="connsiteX21" fmla="*/ 866775 w 1069334"/>
                  <a:gd name="connsiteY21" fmla="*/ 238125 h 276225"/>
                  <a:gd name="connsiteX22" fmla="*/ 876300 w 1069334"/>
                  <a:gd name="connsiteY22" fmla="*/ 276225 h 276225"/>
                  <a:gd name="connsiteX23" fmla="*/ 904875 w 1069334"/>
                  <a:gd name="connsiteY23" fmla="*/ 266700 h 276225"/>
                  <a:gd name="connsiteX24" fmla="*/ 923925 w 1069334"/>
                  <a:gd name="connsiteY24" fmla="*/ 238125 h 276225"/>
                  <a:gd name="connsiteX25" fmla="*/ 942975 w 1069334"/>
                  <a:gd name="connsiteY25" fmla="*/ 190500 h 276225"/>
                  <a:gd name="connsiteX26" fmla="*/ 952500 w 1069334"/>
                  <a:gd name="connsiteY26" fmla="*/ 152400 h 276225"/>
                  <a:gd name="connsiteX27" fmla="*/ 971550 w 1069334"/>
                  <a:gd name="connsiteY27" fmla="*/ 123825 h 276225"/>
                  <a:gd name="connsiteX28" fmla="*/ 1019175 w 1069334"/>
                  <a:gd name="connsiteY28" fmla="*/ 47625 h 276225"/>
                  <a:gd name="connsiteX29" fmla="*/ 1047750 w 1069334"/>
                  <a:gd name="connsiteY29" fmla="*/ 66675 h 276225"/>
                  <a:gd name="connsiteX30" fmla="*/ 1066800 w 1069334"/>
                  <a:gd name="connsiteY30" fmla="*/ 19050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69334" h="276225">
                    <a:moveTo>
                      <a:pt x="0" y="38100"/>
                    </a:moveTo>
                    <a:cubicBezTo>
                      <a:pt x="82550" y="85725"/>
                      <a:pt x="160561" y="142269"/>
                      <a:pt x="247650" y="180975"/>
                    </a:cubicBezTo>
                    <a:cubicBezTo>
                      <a:pt x="256825" y="185053"/>
                      <a:pt x="252685" y="161380"/>
                      <a:pt x="257175" y="152400"/>
                    </a:cubicBezTo>
                    <a:cubicBezTo>
                      <a:pt x="262295" y="142161"/>
                      <a:pt x="271105" y="134064"/>
                      <a:pt x="276225" y="123825"/>
                    </a:cubicBezTo>
                    <a:cubicBezTo>
                      <a:pt x="303794" y="68686"/>
                      <a:pt x="260156" y="120844"/>
                      <a:pt x="314325" y="66675"/>
                    </a:cubicBezTo>
                    <a:cubicBezTo>
                      <a:pt x="317500" y="57150"/>
                      <a:pt x="316750" y="45200"/>
                      <a:pt x="323850" y="38100"/>
                    </a:cubicBezTo>
                    <a:cubicBezTo>
                      <a:pt x="350138" y="11812"/>
                      <a:pt x="371821" y="41118"/>
                      <a:pt x="390525" y="57150"/>
                    </a:cubicBezTo>
                    <a:cubicBezTo>
                      <a:pt x="400752" y="65916"/>
                      <a:pt x="411628" y="74517"/>
                      <a:pt x="419100" y="85725"/>
                    </a:cubicBezTo>
                    <a:cubicBezTo>
                      <a:pt x="430914" y="103446"/>
                      <a:pt x="435148" y="125650"/>
                      <a:pt x="447675" y="142875"/>
                    </a:cubicBezTo>
                    <a:cubicBezTo>
                      <a:pt x="460880" y="161032"/>
                      <a:pt x="479425" y="174625"/>
                      <a:pt x="495300" y="190500"/>
                    </a:cubicBezTo>
                    <a:cubicBezTo>
                      <a:pt x="518490" y="260069"/>
                      <a:pt x="494869" y="252520"/>
                      <a:pt x="552450" y="238125"/>
                    </a:cubicBezTo>
                    <a:cubicBezTo>
                      <a:pt x="558800" y="228600"/>
                      <a:pt x="562885" y="217088"/>
                      <a:pt x="571500" y="209550"/>
                    </a:cubicBezTo>
                    <a:cubicBezTo>
                      <a:pt x="588730" y="194473"/>
                      <a:pt x="628650" y="171450"/>
                      <a:pt x="628650" y="171450"/>
                    </a:cubicBezTo>
                    <a:cubicBezTo>
                      <a:pt x="631702" y="159243"/>
                      <a:pt x="640868" y="118440"/>
                      <a:pt x="647700" y="104775"/>
                    </a:cubicBezTo>
                    <a:cubicBezTo>
                      <a:pt x="652820" y="94536"/>
                      <a:pt x="660400" y="85725"/>
                      <a:pt x="666750" y="76200"/>
                    </a:cubicBezTo>
                    <a:cubicBezTo>
                      <a:pt x="666832" y="75870"/>
                      <a:pt x="681245" y="14080"/>
                      <a:pt x="685800" y="9525"/>
                    </a:cubicBezTo>
                    <a:cubicBezTo>
                      <a:pt x="692900" y="2425"/>
                      <a:pt x="704850" y="3175"/>
                      <a:pt x="714375" y="0"/>
                    </a:cubicBezTo>
                    <a:cubicBezTo>
                      <a:pt x="730250" y="3175"/>
                      <a:pt x="747944" y="1493"/>
                      <a:pt x="762000" y="9525"/>
                    </a:cubicBezTo>
                    <a:cubicBezTo>
                      <a:pt x="771939" y="15205"/>
                      <a:pt x="774983" y="28392"/>
                      <a:pt x="781050" y="38100"/>
                    </a:cubicBezTo>
                    <a:cubicBezTo>
                      <a:pt x="790862" y="53799"/>
                      <a:pt x="800100" y="69850"/>
                      <a:pt x="809625" y="85725"/>
                    </a:cubicBezTo>
                    <a:cubicBezTo>
                      <a:pt x="813283" y="107675"/>
                      <a:pt x="816951" y="148002"/>
                      <a:pt x="828675" y="171450"/>
                    </a:cubicBezTo>
                    <a:cubicBezTo>
                      <a:pt x="856310" y="226720"/>
                      <a:pt x="841727" y="171329"/>
                      <a:pt x="866775" y="238125"/>
                    </a:cubicBezTo>
                    <a:cubicBezTo>
                      <a:pt x="871372" y="250382"/>
                      <a:pt x="873125" y="263525"/>
                      <a:pt x="876300" y="276225"/>
                    </a:cubicBezTo>
                    <a:cubicBezTo>
                      <a:pt x="885825" y="273050"/>
                      <a:pt x="897035" y="272972"/>
                      <a:pt x="904875" y="266700"/>
                    </a:cubicBezTo>
                    <a:cubicBezTo>
                      <a:pt x="913814" y="259549"/>
                      <a:pt x="918805" y="248364"/>
                      <a:pt x="923925" y="238125"/>
                    </a:cubicBezTo>
                    <a:cubicBezTo>
                      <a:pt x="931571" y="222832"/>
                      <a:pt x="937568" y="206720"/>
                      <a:pt x="942975" y="190500"/>
                    </a:cubicBezTo>
                    <a:cubicBezTo>
                      <a:pt x="947115" y="178081"/>
                      <a:pt x="947343" y="164432"/>
                      <a:pt x="952500" y="152400"/>
                    </a:cubicBezTo>
                    <a:cubicBezTo>
                      <a:pt x="957009" y="141878"/>
                      <a:pt x="966901" y="134286"/>
                      <a:pt x="971550" y="123825"/>
                    </a:cubicBezTo>
                    <a:cubicBezTo>
                      <a:pt x="1004959" y="48656"/>
                      <a:pt x="967770" y="81895"/>
                      <a:pt x="1019175" y="47625"/>
                    </a:cubicBezTo>
                    <a:cubicBezTo>
                      <a:pt x="1028700" y="53975"/>
                      <a:pt x="1040421" y="57881"/>
                      <a:pt x="1047750" y="66675"/>
                    </a:cubicBezTo>
                    <a:cubicBezTo>
                      <a:pt x="1079579" y="104870"/>
                      <a:pt x="1066800" y="141820"/>
                      <a:pt x="1066800" y="190500"/>
                    </a:cubicBezTo>
                  </a:path>
                </a:pathLst>
              </a:cu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dirty="0">
                  <a:ln>
                    <a:noFill/>
                  </a:ln>
                  <a:solidFill>
                    <a:schemeClr val="tx1"/>
                  </a:solidFill>
                  <a:effectLst/>
                  <a:latin typeface="Arial" charset="0"/>
                </a:endParaRPr>
              </a:p>
            </p:txBody>
          </p:sp>
        </p:grpSp>
        <p:grpSp>
          <p:nvGrpSpPr>
            <p:cNvPr id="13" name="组合 12">
              <a:extLst>
                <a:ext uri="{FF2B5EF4-FFF2-40B4-BE49-F238E27FC236}">
                  <a16:creationId xmlns:a16="http://schemas.microsoft.com/office/drawing/2014/main" id="{2D16E217-76BD-4B58-92E2-5E7518C8B399}"/>
                </a:ext>
              </a:extLst>
            </p:cNvPr>
            <p:cNvGrpSpPr/>
            <p:nvPr/>
          </p:nvGrpSpPr>
          <p:grpSpPr>
            <a:xfrm>
              <a:off x="8735207" y="5133595"/>
              <a:ext cx="1376362" cy="352425"/>
              <a:chOff x="8285879" y="5143689"/>
              <a:chExt cx="1376362" cy="352425"/>
            </a:xfrm>
          </p:grpSpPr>
          <p:cxnSp>
            <p:nvCxnSpPr>
              <p:cNvPr id="16" name="直接箭头连接符 15">
                <a:extLst>
                  <a:ext uri="{FF2B5EF4-FFF2-40B4-BE49-F238E27FC236}">
                    <a16:creationId xmlns:a16="http://schemas.microsoft.com/office/drawing/2014/main" id="{5CAAD75C-4199-473B-9172-44962DC086F4}"/>
                  </a:ext>
                </a:extLst>
              </p:cNvPr>
              <p:cNvCxnSpPr>
                <a:cxnSpLocks/>
              </p:cNvCxnSpPr>
              <p:nvPr/>
            </p:nvCxnSpPr>
            <p:spPr bwMode="auto">
              <a:xfrm>
                <a:off x="8285879" y="5348223"/>
                <a:ext cx="137636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7" name="任意多边形: 形状 28">
                <a:extLst>
                  <a:ext uri="{FF2B5EF4-FFF2-40B4-BE49-F238E27FC236}">
                    <a16:creationId xmlns:a16="http://schemas.microsoft.com/office/drawing/2014/main" id="{23E66310-6D52-4507-8D26-A9A5372E07FB}"/>
                  </a:ext>
                </a:extLst>
              </p:cNvPr>
              <p:cNvSpPr/>
              <p:nvPr/>
            </p:nvSpPr>
            <p:spPr bwMode="auto">
              <a:xfrm>
                <a:off x="8435621" y="5143689"/>
                <a:ext cx="1076878" cy="352425"/>
              </a:xfrm>
              <a:custGeom>
                <a:avLst/>
                <a:gdLst>
                  <a:gd name="connsiteX0" fmla="*/ 0 w 1076878"/>
                  <a:gd name="connsiteY0" fmla="*/ 352425 h 352425"/>
                  <a:gd name="connsiteX1" fmla="*/ 47625 w 1076878"/>
                  <a:gd name="connsiteY1" fmla="*/ 190500 h 352425"/>
                  <a:gd name="connsiteX2" fmla="*/ 66675 w 1076878"/>
                  <a:gd name="connsiteY2" fmla="*/ 161925 h 352425"/>
                  <a:gd name="connsiteX3" fmla="*/ 76200 w 1076878"/>
                  <a:gd name="connsiteY3" fmla="*/ 133350 h 352425"/>
                  <a:gd name="connsiteX4" fmla="*/ 104775 w 1076878"/>
                  <a:gd name="connsiteY4" fmla="*/ 114300 h 352425"/>
                  <a:gd name="connsiteX5" fmla="*/ 152400 w 1076878"/>
                  <a:gd name="connsiteY5" fmla="*/ 76200 h 352425"/>
                  <a:gd name="connsiteX6" fmla="*/ 161925 w 1076878"/>
                  <a:gd name="connsiteY6" fmla="*/ 47625 h 352425"/>
                  <a:gd name="connsiteX7" fmla="*/ 180975 w 1076878"/>
                  <a:gd name="connsiteY7" fmla="*/ 76200 h 352425"/>
                  <a:gd name="connsiteX8" fmla="*/ 228600 w 1076878"/>
                  <a:gd name="connsiteY8" fmla="*/ 238125 h 352425"/>
                  <a:gd name="connsiteX9" fmla="*/ 238125 w 1076878"/>
                  <a:gd name="connsiteY9" fmla="*/ 276225 h 352425"/>
                  <a:gd name="connsiteX10" fmla="*/ 257175 w 1076878"/>
                  <a:gd name="connsiteY10" fmla="*/ 352425 h 352425"/>
                  <a:gd name="connsiteX11" fmla="*/ 285750 w 1076878"/>
                  <a:gd name="connsiteY11" fmla="*/ 342900 h 352425"/>
                  <a:gd name="connsiteX12" fmla="*/ 304800 w 1076878"/>
                  <a:gd name="connsiteY12" fmla="*/ 314325 h 352425"/>
                  <a:gd name="connsiteX13" fmla="*/ 333375 w 1076878"/>
                  <a:gd name="connsiteY13" fmla="*/ 276225 h 352425"/>
                  <a:gd name="connsiteX14" fmla="*/ 352425 w 1076878"/>
                  <a:gd name="connsiteY14" fmla="*/ 238125 h 352425"/>
                  <a:gd name="connsiteX15" fmla="*/ 390525 w 1076878"/>
                  <a:gd name="connsiteY15" fmla="*/ 190500 h 352425"/>
                  <a:gd name="connsiteX16" fmla="*/ 428625 w 1076878"/>
                  <a:gd name="connsiteY16" fmla="*/ 104775 h 352425"/>
                  <a:gd name="connsiteX17" fmla="*/ 438150 w 1076878"/>
                  <a:gd name="connsiteY17" fmla="*/ 76200 h 352425"/>
                  <a:gd name="connsiteX18" fmla="*/ 466725 w 1076878"/>
                  <a:gd name="connsiteY18" fmla="*/ 57150 h 352425"/>
                  <a:gd name="connsiteX19" fmla="*/ 485775 w 1076878"/>
                  <a:gd name="connsiteY19" fmla="*/ 28575 h 352425"/>
                  <a:gd name="connsiteX20" fmla="*/ 495300 w 1076878"/>
                  <a:gd name="connsiteY20" fmla="*/ 0 h 352425"/>
                  <a:gd name="connsiteX21" fmla="*/ 504825 w 1076878"/>
                  <a:gd name="connsiteY21" fmla="*/ 28575 h 352425"/>
                  <a:gd name="connsiteX22" fmla="*/ 514350 w 1076878"/>
                  <a:gd name="connsiteY22" fmla="*/ 66675 h 352425"/>
                  <a:gd name="connsiteX23" fmla="*/ 523875 w 1076878"/>
                  <a:gd name="connsiteY23" fmla="*/ 285750 h 352425"/>
                  <a:gd name="connsiteX24" fmla="*/ 542925 w 1076878"/>
                  <a:gd name="connsiteY24" fmla="*/ 257175 h 352425"/>
                  <a:gd name="connsiteX25" fmla="*/ 619125 w 1076878"/>
                  <a:gd name="connsiteY25" fmla="*/ 142875 h 352425"/>
                  <a:gd name="connsiteX26" fmla="*/ 657225 w 1076878"/>
                  <a:gd name="connsiteY26" fmla="*/ 85725 h 352425"/>
                  <a:gd name="connsiteX27" fmla="*/ 676275 w 1076878"/>
                  <a:gd name="connsiteY27" fmla="*/ 38100 h 352425"/>
                  <a:gd name="connsiteX28" fmla="*/ 733425 w 1076878"/>
                  <a:gd name="connsiteY28" fmla="*/ 0 h 352425"/>
                  <a:gd name="connsiteX29" fmla="*/ 752475 w 1076878"/>
                  <a:gd name="connsiteY29" fmla="*/ 28575 h 352425"/>
                  <a:gd name="connsiteX30" fmla="*/ 790575 w 1076878"/>
                  <a:gd name="connsiteY30" fmla="*/ 66675 h 352425"/>
                  <a:gd name="connsiteX31" fmla="*/ 800100 w 1076878"/>
                  <a:gd name="connsiteY31" fmla="*/ 104775 h 352425"/>
                  <a:gd name="connsiteX32" fmla="*/ 819150 w 1076878"/>
                  <a:gd name="connsiteY32" fmla="*/ 161925 h 352425"/>
                  <a:gd name="connsiteX33" fmla="*/ 828675 w 1076878"/>
                  <a:gd name="connsiteY33" fmla="*/ 190500 h 352425"/>
                  <a:gd name="connsiteX34" fmla="*/ 838200 w 1076878"/>
                  <a:gd name="connsiteY34" fmla="*/ 228600 h 352425"/>
                  <a:gd name="connsiteX35" fmla="*/ 857250 w 1076878"/>
                  <a:gd name="connsiteY35" fmla="*/ 257175 h 352425"/>
                  <a:gd name="connsiteX36" fmla="*/ 866775 w 1076878"/>
                  <a:gd name="connsiteY36" fmla="*/ 285750 h 352425"/>
                  <a:gd name="connsiteX37" fmla="*/ 895350 w 1076878"/>
                  <a:gd name="connsiteY37" fmla="*/ 276225 h 352425"/>
                  <a:gd name="connsiteX38" fmla="*/ 914400 w 1076878"/>
                  <a:gd name="connsiteY38" fmla="*/ 219075 h 352425"/>
                  <a:gd name="connsiteX39" fmla="*/ 942975 w 1076878"/>
                  <a:gd name="connsiteY39" fmla="*/ 209550 h 352425"/>
                  <a:gd name="connsiteX40" fmla="*/ 981075 w 1076878"/>
                  <a:gd name="connsiteY40" fmla="*/ 142875 h 352425"/>
                  <a:gd name="connsiteX41" fmla="*/ 1019175 w 1076878"/>
                  <a:gd name="connsiteY41" fmla="*/ 133350 h 352425"/>
                  <a:gd name="connsiteX42" fmla="*/ 1047750 w 1076878"/>
                  <a:gd name="connsiteY42" fmla="*/ 152400 h 352425"/>
                  <a:gd name="connsiteX43" fmla="*/ 1076325 w 1076878"/>
                  <a:gd name="connsiteY43" fmla="*/ 209550 h 352425"/>
                  <a:gd name="connsiteX44" fmla="*/ 1076325 w 1076878"/>
                  <a:gd name="connsiteY44" fmla="*/ 228600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76878" h="352425">
                    <a:moveTo>
                      <a:pt x="0" y="352425"/>
                    </a:moveTo>
                    <a:cubicBezTo>
                      <a:pt x="15875" y="298450"/>
                      <a:pt x="29039" y="243603"/>
                      <a:pt x="47625" y="190500"/>
                    </a:cubicBezTo>
                    <a:cubicBezTo>
                      <a:pt x="51407" y="179695"/>
                      <a:pt x="61555" y="172164"/>
                      <a:pt x="66675" y="161925"/>
                    </a:cubicBezTo>
                    <a:cubicBezTo>
                      <a:pt x="71165" y="152945"/>
                      <a:pt x="69928" y="141190"/>
                      <a:pt x="76200" y="133350"/>
                    </a:cubicBezTo>
                    <a:cubicBezTo>
                      <a:pt x="83351" y="124411"/>
                      <a:pt x="95250" y="120650"/>
                      <a:pt x="104775" y="114300"/>
                    </a:cubicBezTo>
                    <a:cubicBezTo>
                      <a:pt x="127613" y="45787"/>
                      <a:pt x="92599" y="124040"/>
                      <a:pt x="152400" y="76200"/>
                    </a:cubicBezTo>
                    <a:cubicBezTo>
                      <a:pt x="160240" y="69928"/>
                      <a:pt x="158750" y="57150"/>
                      <a:pt x="161925" y="47625"/>
                    </a:cubicBezTo>
                    <a:cubicBezTo>
                      <a:pt x="168275" y="57150"/>
                      <a:pt x="175855" y="65961"/>
                      <a:pt x="180975" y="76200"/>
                    </a:cubicBezTo>
                    <a:cubicBezTo>
                      <a:pt x="206202" y="126653"/>
                      <a:pt x="215193" y="184496"/>
                      <a:pt x="228600" y="238125"/>
                    </a:cubicBezTo>
                    <a:cubicBezTo>
                      <a:pt x="231775" y="250825"/>
                      <a:pt x="235558" y="263388"/>
                      <a:pt x="238125" y="276225"/>
                    </a:cubicBezTo>
                    <a:cubicBezTo>
                      <a:pt x="249619" y="333695"/>
                      <a:pt x="242530" y="308491"/>
                      <a:pt x="257175" y="352425"/>
                    </a:cubicBezTo>
                    <a:cubicBezTo>
                      <a:pt x="266700" y="349250"/>
                      <a:pt x="277910" y="349172"/>
                      <a:pt x="285750" y="342900"/>
                    </a:cubicBezTo>
                    <a:cubicBezTo>
                      <a:pt x="294689" y="335749"/>
                      <a:pt x="298146" y="323640"/>
                      <a:pt x="304800" y="314325"/>
                    </a:cubicBezTo>
                    <a:cubicBezTo>
                      <a:pt x="314027" y="301407"/>
                      <a:pt x="324961" y="289687"/>
                      <a:pt x="333375" y="276225"/>
                    </a:cubicBezTo>
                    <a:cubicBezTo>
                      <a:pt x="340900" y="264184"/>
                      <a:pt x="344549" y="249939"/>
                      <a:pt x="352425" y="238125"/>
                    </a:cubicBezTo>
                    <a:cubicBezTo>
                      <a:pt x="363702" y="221209"/>
                      <a:pt x="377825" y="206375"/>
                      <a:pt x="390525" y="190500"/>
                    </a:cubicBezTo>
                    <a:cubicBezTo>
                      <a:pt x="411981" y="126132"/>
                      <a:pt x="384538" y="203970"/>
                      <a:pt x="428625" y="104775"/>
                    </a:cubicBezTo>
                    <a:cubicBezTo>
                      <a:pt x="432703" y="95600"/>
                      <a:pt x="431878" y="84040"/>
                      <a:pt x="438150" y="76200"/>
                    </a:cubicBezTo>
                    <a:cubicBezTo>
                      <a:pt x="445301" y="67261"/>
                      <a:pt x="457200" y="63500"/>
                      <a:pt x="466725" y="57150"/>
                    </a:cubicBezTo>
                    <a:cubicBezTo>
                      <a:pt x="473075" y="47625"/>
                      <a:pt x="480655" y="38814"/>
                      <a:pt x="485775" y="28575"/>
                    </a:cubicBezTo>
                    <a:cubicBezTo>
                      <a:pt x="490265" y="19595"/>
                      <a:pt x="485260" y="0"/>
                      <a:pt x="495300" y="0"/>
                    </a:cubicBezTo>
                    <a:cubicBezTo>
                      <a:pt x="505340" y="0"/>
                      <a:pt x="502067" y="18921"/>
                      <a:pt x="504825" y="28575"/>
                    </a:cubicBezTo>
                    <a:cubicBezTo>
                      <a:pt x="508421" y="41162"/>
                      <a:pt x="511175" y="53975"/>
                      <a:pt x="514350" y="66675"/>
                    </a:cubicBezTo>
                    <a:cubicBezTo>
                      <a:pt x="517525" y="139700"/>
                      <a:pt x="513032" y="213465"/>
                      <a:pt x="523875" y="285750"/>
                    </a:cubicBezTo>
                    <a:cubicBezTo>
                      <a:pt x="525573" y="297071"/>
                      <a:pt x="537035" y="266991"/>
                      <a:pt x="542925" y="257175"/>
                    </a:cubicBezTo>
                    <a:cubicBezTo>
                      <a:pt x="600749" y="160802"/>
                      <a:pt x="557380" y="220056"/>
                      <a:pt x="619125" y="142875"/>
                    </a:cubicBezTo>
                    <a:cubicBezTo>
                      <a:pt x="644306" y="67333"/>
                      <a:pt x="606261" y="167267"/>
                      <a:pt x="657225" y="85725"/>
                    </a:cubicBezTo>
                    <a:cubicBezTo>
                      <a:pt x="666287" y="71226"/>
                      <a:pt x="667213" y="52599"/>
                      <a:pt x="676275" y="38100"/>
                    </a:cubicBezTo>
                    <a:cubicBezTo>
                      <a:pt x="695051" y="8058"/>
                      <a:pt x="704666" y="9586"/>
                      <a:pt x="733425" y="0"/>
                    </a:cubicBezTo>
                    <a:cubicBezTo>
                      <a:pt x="739775" y="9525"/>
                      <a:pt x="745025" y="19883"/>
                      <a:pt x="752475" y="28575"/>
                    </a:cubicBezTo>
                    <a:cubicBezTo>
                      <a:pt x="764164" y="42212"/>
                      <a:pt x="781056" y="51445"/>
                      <a:pt x="790575" y="66675"/>
                    </a:cubicBezTo>
                    <a:cubicBezTo>
                      <a:pt x="797513" y="77776"/>
                      <a:pt x="796338" y="92236"/>
                      <a:pt x="800100" y="104775"/>
                    </a:cubicBezTo>
                    <a:cubicBezTo>
                      <a:pt x="805870" y="124009"/>
                      <a:pt x="812800" y="142875"/>
                      <a:pt x="819150" y="161925"/>
                    </a:cubicBezTo>
                    <a:cubicBezTo>
                      <a:pt x="822325" y="171450"/>
                      <a:pt x="826240" y="180760"/>
                      <a:pt x="828675" y="190500"/>
                    </a:cubicBezTo>
                    <a:cubicBezTo>
                      <a:pt x="831850" y="203200"/>
                      <a:pt x="833043" y="216568"/>
                      <a:pt x="838200" y="228600"/>
                    </a:cubicBezTo>
                    <a:cubicBezTo>
                      <a:pt x="842709" y="239122"/>
                      <a:pt x="852130" y="246936"/>
                      <a:pt x="857250" y="257175"/>
                    </a:cubicBezTo>
                    <a:cubicBezTo>
                      <a:pt x="861740" y="266155"/>
                      <a:pt x="863600" y="276225"/>
                      <a:pt x="866775" y="285750"/>
                    </a:cubicBezTo>
                    <a:cubicBezTo>
                      <a:pt x="876300" y="282575"/>
                      <a:pt x="889514" y="284395"/>
                      <a:pt x="895350" y="276225"/>
                    </a:cubicBezTo>
                    <a:cubicBezTo>
                      <a:pt x="907022" y="259885"/>
                      <a:pt x="895350" y="225425"/>
                      <a:pt x="914400" y="219075"/>
                    </a:cubicBezTo>
                    <a:lnTo>
                      <a:pt x="942975" y="209550"/>
                    </a:lnTo>
                    <a:cubicBezTo>
                      <a:pt x="951594" y="183694"/>
                      <a:pt x="955846" y="160895"/>
                      <a:pt x="981075" y="142875"/>
                    </a:cubicBezTo>
                    <a:cubicBezTo>
                      <a:pt x="991727" y="135266"/>
                      <a:pt x="1006475" y="136525"/>
                      <a:pt x="1019175" y="133350"/>
                    </a:cubicBezTo>
                    <a:cubicBezTo>
                      <a:pt x="1028700" y="139700"/>
                      <a:pt x="1039655" y="144305"/>
                      <a:pt x="1047750" y="152400"/>
                    </a:cubicBezTo>
                    <a:cubicBezTo>
                      <a:pt x="1061798" y="166448"/>
                      <a:pt x="1072452" y="190183"/>
                      <a:pt x="1076325" y="209550"/>
                    </a:cubicBezTo>
                    <a:cubicBezTo>
                      <a:pt x="1077570" y="215777"/>
                      <a:pt x="1076325" y="222250"/>
                      <a:pt x="1076325" y="228600"/>
                    </a:cubicBezTo>
                  </a:path>
                </a:pathLst>
              </a:cu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dirty="0">
                  <a:ln>
                    <a:noFill/>
                  </a:ln>
                  <a:solidFill>
                    <a:schemeClr val="tx1"/>
                  </a:solidFill>
                  <a:effectLst/>
                  <a:latin typeface="Arial" charset="0"/>
                </a:endParaRPr>
              </a:p>
            </p:txBody>
          </p:sp>
        </p:grpSp>
        <p:sp>
          <p:nvSpPr>
            <p:cNvPr id="14" name="加号 13">
              <a:extLst>
                <a:ext uri="{FF2B5EF4-FFF2-40B4-BE49-F238E27FC236}">
                  <a16:creationId xmlns:a16="http://schemas.microsoft.com/office/drawing/2014/main" id="{3FD853CF-6C7B-4960-81B5-05143C18956E}"/>
                </a:ext>
              </a:extLst>
            </p:cNvPr>
            <p:cNvSpPr/>
            <p:nvPr/>
          </p:nvSpPr>
          <p:spPr bwMode="auto">
            <a:xfrm>
              <a:off x="8156649" y="5165995"/>
              <a:ext cx="290279" cy="310367"/>
            </a:xfrm>
            <a:prstGeom prst="mathPlus">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charset="0"/>
              </a:endParaRPr>
            </a:p>
          </p:txBody>
        </p:sp>
        <p:sp>
          <p:nvSpPr>
            <p:cNvPr id="15" name="流程图: 接点 34">
              <a:extLst>
                <a:ext uri="{FF2B5EF4-FFF2-40B4-BE49-F238E27FC236}">
                  <a16:creationId xmlns:a16="http://schemas.microsoft.com/office/drawing/2014/main" id="{AB06E3BC-BB56-40C5-8B63-89BC98BC62BA}"/>
                </a:ext>
              </a:extLst>
            </p:cNvPr>
            <p:cNvSpPr/>
            <p:nvPr/>
          </p:nvSpPr>
          <p:spPr bwMode="auto">
            <a:xfrm>
              <a:off x="8087883" y="5121734"/>
              <a:ext cx="427812" cy="387800"/>
            </a:xfrm>
            <a:prstGeom prst="flowChartConnector">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charset="0"/>
              </a:endParaRPr>
            </a:p>
          </p:txBody>
        </p:sp>
      </p:grpSp>
      <p:sp>
        <p:nvSpPr>
          <p:cNvPr id="25" name="右箭头 24"/>
          <p:cNvSpPr/>
          <p:nvPr/>
        </p:nvSpPr>
        <p:spPr bwMode="auto">
          <a:xfrm>
            <a:off x="7911243" y="5427820"/>
            <a:ext cx="457200" cy="3810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sp>
        <p:nvSpPr>
          <p:cNvPr id="26" name="内容占位符 2"/>
          <p:cNvSpPr txBox="1">
            <a:spLocks/>
          </p:cNvSpPr>
          <p:nvPr/>
        </p:nvSpPr>
        <p:spPr bwMode="auto">
          <a:xfrm>
            <a:off x="8836778" y="4822906"/>
            <a:ext cx="3355221" cy="16101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a:buClr>
                <a:srgbClr val="005919"/>
              </a:buClr>
              <a:buFont typeface="Wingdings" panose="05000000000000000000" pitchFamily="2" charset="2"/>
              <a:buChar char="ü"/>
            </a:pPr>
            <a:r>
              <a:rPr lang="en-US" sz="2300" i="0" kern="0" dirty="0">
                <a:solidFill>
                  <a:srgbClr val="006600"/>
                </a:solidFill>
              </a:rPr>
              <a:t>Increase </a:t>
            </a:r>
            <a:r>
              <a:rPr lang="en-US" sz="2300" kern="0" dirty="0">
                <a:solidFill>
                  <a:srgbClr val="006600"/>
                </a:solidFill>
              </a:rPr>
              <a:t>U</a:t>
            </a:r>
            <a:r>
              <a:rPr lang="en-US" sz="2300" i="0" kern="0" dirty="0">
                <a:solidFill>
                  <a:srgbClr val="006600"/>
                </a:solidFill>
              </a:rPr>
              <a:t>-time </a:t>
            </a:r>
            <a:r>
              <a:rPr lang="en-US" sz="2300" i="0" kern="0" dirty="0" err="1">
                <a:solidFill>
                  <a:srgbClr val="006600"/>
                </a:solidFill>
              </a:rPr>
              <a:t>commun</a:t>
            </a:r>
            <a:r>
              <a:rPr lang="en-US" sz="2300" i="0" kern="0" dirty="0">
                <a:solidFill>
                  <a:srgbClr val="006600"/>
                </a:solidFill>
              </a:rPr>
              <a:t>. Efficiency</a:t>
            </a:r>
          </a:p>
          <a:p>
            <a:pPr>
              <a:buClr>
                <a:srgbClr val="005919"/>
              </a:buClr>
              <a:buFont typeface="Wingdings" panose="05000000000000000000" pitchFamily="2" charset="2"/>
              <a:buChar char="ü"/>
            </a:pPr>
            <a:r>
              <a:rPr lang="en-US" sz="2300" i="0" kern="0" dirty="0">
                <a:solidFill>
                  <a:srgbClr val="006600"/>
                </a:solidFill>
              </a:rPr>
              <a:t>Unreachable local params for server</a:t>
            </a:r>
          </a:p>
        </p:txBody>
      </p:sp>
      <p:pic>
        <p:nvPicPr>
          <p:cNvPr id="31" name="Graphic 25" descr="Smart Phone">
            <a:extLst>
              <a:ext uri="{FF2B5EF4-FFF2-40B4-BE49-F238E27FC236}">
                <a16:creationId xmlns:a16="http://schemas.microsoft.com/office/drawing/2014/main" id="{519C8FEC-FD2C-48F4-8499-E1C333E12AA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07387" y="2328362"/>
            <a:ext cx="496350" cy="496350"/>
          </a:xfrm>
          <a:prstGeom prst="rect">
            <a:avLst/>
          </a:prstGeom>
        </p:spPr>
      </p:pic>
      <p:pic>
        <p:nvPicPr>
          <p:cNvPr id="32" name="Graphic 26" descr="Smart Phone">
            <a:extLst>
              <a:ext uri="{FF2B5EF4-FFF2-40B4-BE49-F238E27FC236}">
                <a16:creationId xmlns:a16="http://schemas.microsoft.com/office/drawing/2014/main" id="{9451F8E7-2FBD-436F-848B-17CCF3DAFB6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51221" y="3085078"/>
            <a:ext cx="496350" cy="496350"/>
          </a:xfrm>
          <a:prstGeom prst="rect">
            <a:avLst/>
          </a:prstGeom>
        </p:spPr>
      </p:pic>
      <p:pic>
        <p:nvPicPr>
          <p:cNvPr id="33" name="Graphic 28" descr="Smart Phone">
            <a:extLst>
              <a:ext uri="{FF2B5EF4-FFF2-40B4-BE49-F238E27FC236}">
                <a16:creationId xmlns:a16="http://schemas.microsoft.com/office/drawing/2014/main" id="{C7A922F2-1200-48DB-BD1C-5458063460F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52058" y="4220799"/>
            <a:ext cx="496350" cy="496350"/>
          </a:xfrm>
          <a:prstGeom prst="rect">
            <a:avLst/>
          </a:prstGeom>
        </p:spPr>
      </p:pic>
      <p:sp>
        <p:nvSpPr>
          <p:cNvPr id="34" name="Rectangle 43">
            <a:extLst>
              <a:ext uri="{FF2B5EF4-FFF2-40B4-BE49-F238E27FC236}">
                <a16:creationId xmlns:a16="http://schemas.microsoft.com/office/drawing/2014/main" id="{4F8260DC-211A-46FB-8FDA-2DD2812DE82E}"/>
              </a:ext>
            </a:extLst>
          </p:cNvPr>
          <p:cNvSpPr/>
          <p:nvPr/>
        </p:nvSpPr>
        <p:spPr bwMode="auto">
          <a:xfrm>
            <a:off x="6349838" y="3539138"/>
            <a:ext cx="838200" cy="806304"/>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a:ln>
                  <a:noFill/>
                </a:ln>
                <a:solidFill>
                  <a:schemeClr val="tx1"/>
                </a:solidFill>
                <a:effectLst/>
                <a:latin typeface="Arial" charset="0"/>
              </a:rPr>
              <a:t>…</a:t>
            </a:r>
          </a:p>
        </p:txBody>
      </p:sp>
      <p:sp>
        <p:nvSpPr>
          <p:cNvPr id="35" name="TextBox 56">
            <a:extLst>
              <a:ext uri="{FF2B5EF4-FFF2-40B4-BE49-F238E27FC236}">
                <a16:creationId xmlns:a16="http://schemas.microsoft.com/office/drawing/2014/main" id="{6E0B2107-2D44-4227-A358-5C9B4582849C}"/>
              </a:ext>
            </a:extLst>
          </p:cNvPr>
          <p:cNvSpPr txBox="1"/>
          <p:nvPr/>
        </p:nvSpPr>
        <p:spPr>
          <a:xfrm>
            <a:off x="6371750" y="2406657"/>
            <a:ext cx="1038222" cy="338554"/>
          </a:xfrm>
          <a:prstGeom prst="rect">
            <a:avLst/>
          </a:prstGeom>
          <a:noFill/>
        </p:spPr>
        <p:txBody>
          <a:bodyPr wrap="square" rtlCol="0">
            <a:spAutoFit/>
          </a:bodyPr>
          <a:lstStyle/>
          <a:p>
            <a:r>
              <a:rPr lang="en-US" sz="1600" i="0" dirty="0">
                <a:latin typeface="+mj-lt"/>
              </a:rPr>
              <a:t>User 1</a:t>
            </a:r>
          </a:p>
        </p:txBody>
      </p:sp>
      <p:sp>
        <p:nvSpPr>
          <p:cNvPr id="36" name="TextBox 57">
            <a:extLst>
              <a:ext uri="{FF2B5EF4-FFF2-40B4-BE49-F238E27FC236}">
                <a16:creationId xmlns:a16="http://schemas.microsoft.com/office/drawing/2014/main" id="{AFB7DDDE-6A7D-46ED-9DEA-81DDF2803DBE}"/>
              </a:ext>
            </a:extLst>
          </p:cNvPr>
          <p:cNvSpPr txBox="1"/>
          <p:nvPr/>
        </p:nvSpPr>
        <p:spPr>
          <a:xfrm>
            <a:off x="6026113" y="3275381"/>
            <a:ext cx="1038222" cy="338554"/>
          </a:xfrm>
          <a:prstGeom prst="rect">
            <a:avLst/>
          </a:prstGeom>
          <a:noFill/>
        </p:spPr>
        <p:txBody>
          <a:bodyPr wrap="square" rtlCol="0">
            <a:spAutoFit/>
          </a:bodyPr>
          <a:lstStyle/>
          <a:p>
            <a:r>
              <a:rPr lang="en-US" sz="1600" i="0" dirty="0">
                <a:latin typeface="+mj-lt"/>
              </a:rPr>
              <a:t>User 2</a:t>
            </a:r>
          </a:p>
        </p:txBody>
      </p:sp>
      <mc:AlternateContent xmlns:mc="http://schemas.openxmlformats.org/markup-compatibility/2006" xmlns:a14="http://schemas.microsoft.com/office/drawing/2010/main">
        <mc:Choice Requires="a14">
          <p:sp>
            <p:nvSpPr>
              <p:cNvPr id="37" name="TextBox 58">
                <a:extLst>
                  <a:ext uri="{FF2B5EF4-FFF2-40B4-BE49-F238E27FC236}">
                    <a16:creationId xmlns:a16="http://schemas.microsoft.com/office/drawing/2014/main" id="{D4F8F986-BC63-429F-876F-8F1380C8AFA2}"/>
                  </a:ext>
                </a:extLst>
              </p:cNvPr>
              <p:cNvSpPr txBox="1"/>
              <p:nvPr/>
            </p:nvSpPr>
            <p:spPr>
              <a:xfrm>
                <a:off x="6371750" y="4322439"/>
                <a:ext cx="1038222" cy="338554"/>
              </a:xfrm>
              <a:prstGeom prst="rect">
                <a:avLst/>
              </a:prstGeom>
              <a:noFill/>
            </p:spPr>
            <p:txBody>
              <a:bodyPr wrap="square" rtlCol="0">
                <a:spAutoFit/>
              </a:bodyPr>
              <a:lstStyle/>
              <a:p>
                <a:r>
                  <a:rPr lang="en-US" sz="1600" i="0" dirty="0">
                    <a:latin typeface="+mj-lt"/>
                  </a:rPr>
                  <a:t>U</a:t>
                </a:r>
                <a14:m>
                  <m:oMath xmlns:m="http://schemas.openxmlformats.org/officeDocument/2006/math">
                    <m:r>
                      <m:rPr>
                        <m:sty m:val="p"/>
                      </m:rPr>
                      <a:rPr lang="en-US" sz="1600" b="0" i="0" smtClean="0">
                        <a:latin typeface="Cambria Math" panose="02040503050406030204" pitchFamily="18" charset="0"/>
                      </a:rPr>
                      <m:t>ser</m:t>
                    </m:r>
                    <m:r>
                      <a:rPr lang="en-US" sz="1600" b="0" i="0" smtClean="0">
                        <a:latin typeface="Cambria Math" panose="02040503050406030204" pitchFamily="18" charset="0"/>
                      </a:rPr>
                      <m:t> </m:t>
                    </m:r>
                    <m:r>
                      <a:rPr lang="en-US" sz="1600" b="0" i="1" smtClean="0">
                        <a:latin typeface="Cambria Math" panose="02040503050406030204" pitchFamily="18" charset="0"/>
                      </a:rPr>
                      <m:t>𝑈</m:t>
                    </m:r>
                  </m:oMath>
                </a14:m>
                <a:endParaRPr lang="en-US" sz="1600" dirty="0">
                  <a:latin typeface="+mj-lt"/>
                </a:endParaRPr>
              </a:p>
            </p:txBody>
          </p:sp>
        </mc:Choice>
        <mc:Fallback xmlns="">
          <p:sp>
            <p:nvSpPr>
              <p:cNvPr id="37" name="TextBox 58">
                <a:extLst>
                  <a:ext uri="{FF2B5EF4-FFF2-40B4-BE49-F238E27FC236}">
                    <a16:creationId xmlns:a16="http://schemas.microsoft.com/office/drawing/2014/main" id="{D4F8F986-BC63-429F-876F-8F1380C8AFA2}"/>
                  </a:ext>
                </a:extLst>
              </p:cNvPr>
              <p:cNvSpPr txBox="1">
                <a:spLocks noRot="1" noChangeAspect="1" noMove="1" noResize="1" noEditPoints="1" noAdjustHandles="1" noChangeArrowheads="1" noChangeShapeType="1" noTextEdit="1"/>
              </p:cNvSpPr>
              <p:nvPr/>
            </p:nvSpPr>
            <p:spPr>
              <a:xfrm>
                <a:off x="6371750" y="4322439"/>
                <a:ext cx="1038222" cy="338554"/>
              </a:xfrm>
              <a:prstGeom prst="rect">
                <a:avLst/>
              </a:prstGeom>
              <a:blipFill>
                <a:blip r:embed="rId5"/>
                <a:stretch>
                  <a:fillRect l="-2924" t="-5357" b="-21429"/>
                </a:stretch>
              </a:blipFill>
            </p:spPr>
            <p:txBody>
              <a:bodyPr/>
              <a:lstStyle/>
              <a:p>
                <a:r>
                  <a:rPr lang="zh-CN" altLang="en-US">
                    <a:noFill/>
                  </a:rPr>
                  <a:t> </a:t>
                </a:r>
              </a:p>
            </p:txBody>
          </p:sp>
        </mc:Fallback>
      </mc:AlternateContent>
      <p:sp>
        <p:nvSpPr>
          <p:cNvPr id="38" name="矩形 37"/>
          <p:cNvSpPr/>
          <p:nvPr/>
        </p:nvSpPr>
        <p:spPr>
          <a:xfrm>
            <a:off x="7223423" y="3565300"/>
            <a:ext cx="2547430" cy="615553"/>
          </a:xfrm>
          <a:prstGeom prst="rect">
            <a:avLst/>
          </a:prstGeom>
        </p:spPr>
        <p:txBody>
          <a:bodyPr wrap="square">
            <a:spAutoFit/>
          </a:bodyPr>
          <a:lstStyle/>
          <a:p>
            <a:r>
              <a:rPr lang="en-US" sz="1600" dirty="0"/>
              <a:t>Multiple Access Channel</a:t>
            </a:r>
          </a:p>
          <a:p>
            <a:endParaRPr lang="en-US" dirty="0"/>
          </a:p>
        </p:txBody>
      </p:sp>
      <p:pic>
        <p:nvPicPr>
          <p:cNvPr id="45" name="Picture 17">
            <a:extLst>
              <a:ext uri="{FF2B5EF4-FFF2-40B4-BE49-F238E27FC236}">
                <a16:creationId xmlns:a16="http://schemas.microsoft.com/office/drawing/2014/main" id="{FE98C7E7-FF8B-4183-B539-8C99245FA8A0}"/>
              </a:ext>
            </a:extLst>
          </p:cNvPr>
          <p:cNvPicPr>
            <a:picLocks noChangeAspect="1"/>
          </p:cNvPicPr>
          <p:nvPr/>
        </p:nvPicPr>
        <p:blipFill>
          <a:blip r:embed="rId6"/>
          <a:stretch>
            <a:fillRect/>
          </a:stretch>
        </p:blipFill>
        <p:spPr>
          <a:xfrm>
            <a:off x="1113238" y="1544686"/>
            <a:ext cx="4099781" cy="3225864"/>
          </a:xfrm>
          <a:prstGeom prst="rect">
            <a:avLst/>
          </a:prstGeom>
        </p:spPr>
      </p:pic>
      <p:sp>
        <p:nvSpPr>
          <p:cNvPr id="40" name="TextBox 11">
            <a:extLst>
              <a:ext uri="{FF2B5EF4-FFF2-40B4-BE49-F238E27FC236}">
                <a16:creationId xmlns:a16="http://schemas.microsoft.com/office/drawing/2014/main" id="{2C0A8A1F-0138-48E0-AB96-70B5602747F6}"/>
              </a:ext>
            </a:extLst>
          </p:cNvPr>
          <p:cNvSpPr txBox="1"/>
          <p:nvPr/>
        </p:nvSpPr>
        <p:spPr>
          <a:xfrm>
            <a:off x="932792" y="1063891"/>
            <a:ext cx="9690086" cy="523220"/>
          </a:xfrm>
          <a:prstGeom prst="rect">
            <a:avLst/>
          </a:prstGeom>
          <a:noFill/>
        </p:spPr>
        <p:txBody>
          <a:bodyPr wrap="square">
            <a:spAutoFit/>
          </a:bodyPr>
          <a:lstStyle/>
          <a:p>
            <a:pPr algn="ctr"/>
            <a:r>
              <a:rPr lang="en-US" altLang="zh-CN" sz="2800" b="1" i="0" kern="0" dirty="0">
                <a:solidFill>
                  <a:srgbClr val="0000DA"/>
                </a:solidFill>
                <a:latin typeface="+mj-lt"/>
                <a:ea typeface="ＭＳ Ｐゴシック" pitchFamily="-112" charset="-128"/>
                <a:cs typeface="Arial"/>
              </a:rPr>
              <a:t>Parameters Aggregation: Over-the-air</a:t>
            </a:r>
            <a:r>
              <a:rPr lang="en-US" altLang="zh-CN" sz="2800" b="1" i="0" kern="0" baseline="30000" dirty="0">
                <a:solidFill>
                  <a:srgbClr val="0000DA"/>
                </a:solidFill>
                <a:latin typeface="+mj-lt"/>
                <a:ea typeface="ＭＳ Ｐゴシック" pitchFamily="-112" charset="-128"/>
                <a:cs typeface="Arial"/>
              </a:rPr>
              <a:t>[1]</a:t>
            </a:r>
            <a:endParaRPr lang="zh-CN" altLang="en-US" sz="2800" b="1" i="0" kern="0" baseline="30000" dirty="0">
              <a:solidFill>
                <a:srgbClr val="0000DA"/>
              </a:solidFill>
              <a:latin typeface="+mj-lt"/>
              <a:ea typeface="ＭＳ Ｐゴシック" pitchFamily="-112" charset="-128"/>
              <a:cs typeface="Arial"/>
            </a:endParaRPr>
          </a:p>
        </p:txBody>
      </p:sp>
      <p:sp>
        <p:nvSpPr>
          <p:cNvPr id="41" name="文本框 40">
            <a:extLst>
              <a:ext uri="{FF2B5EF4-FFF2-40B4-BE49-F238E27FC236}">
                <a16:creationId xmlns:a16="http://schemas.microsoft.com/office/drawing/2014/main" id="{81AE92D7-C0EA-402F-A74A-B87E4E8FE4BE}"/>
              </a:ext>
            </a:extLst>
          </p:cNvPr>
          <p:cNvSpPr txBox="1"/>
          <p:nvPr/>
        </p:nvSpPr>
        <p:spPr>
          <a:xfrm>
            <a:off x="543741" y="6285384"/>
            <a:ext cx="110577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i="0" dirty="0">
                <a:latin typeface="+mn-lt"/>
                <a:ea typeface="宋体" panose="02010600030101010101" pitchFamily="2" charset="-122"/>
              </a:rPr>
              <a:t>[1] Fan X, Wang Y, </a:t>
            </a:r>
            <a:r>
              <a:rPr lang="en-US" altLang="zh-CN" sz="900" i="0" dirty="0" err="1">
                <a:latin typeface="+mn-lt"/>
                <a:ea typeface="宋体" panose="02010600030101010101" pitchFamily="2" charset="-122"/>
              </a:rPr>
              <a:t>Huo</a:t>
            </a:r>
            <a:r>
              <a:rPr lang="en-US" altLang="zh-CN" sz="900" i="0" dirty="0">
                <a:latin typeface="+mn-lt"/>
                <a:ea typeface="宋体" panose="02010600030101010101" pitchFamily="2" charset="-122"/>
              </a:rPr>
              <a:t> Y, et al. Joint optimization of communications and federated learning over the air[J]. IEEE Trans. Wireless </a:t>
            </a:r>
            <a:r>
              <a:rPr lang="en-US" altLang="zh-CN" sz="900" i="0" dirty="0" err="1">
                <a:latin typeface="+mn-lt"/>
                <a:ea typeface="宋体" panose="02010600030101010101" pitchFamily="2" charset="-122"/>
              </a:rPr>
              <a:t>Commun</a:t>
            </a:r>
            <a:r>
              <a:rPr lang="en-US" altLang="zh-CN" sz="900" i="0" dirty="0">
                <a:latin typeface="+mn-lt"/>
                <a:ea typeface="宋体" panose="02010600030101010101" pitchFamily="2" charset="-122"/>
              </a:rPr>
              <a:t>., vol. 21, no. 6, pp. 4434-4449, 2021. </a:t>
            </a:r>
          </a:p>
          <a:p>
            <a:endParaRPr lang="en-US" altLang="zh-CN" sz="900" i="0" dirty="0">
              <a:latin typeface="+mn-lt"/>
              <a:ea typeface="宋体" panose="02010600030101010101" pitchFamily="2" charset="-122"/>
            </a:endParaRPr>
          </a:p>
        </p:txBody>
      </p:sp>
    </p:spTree>
    <p:extLst>
      <p:ext uri="{BB962C8B-B14F-4D97-AF65-F5344CB8AC3E}">
        <p14:creationId xmlns:p14="http://schemas.microsoft.com/office/powerpoint/2010/main" val="46211474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16E53-F971-2805-F546-6C1F554E14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29EA569-145E-DC64-8D43-2F12F0A77A87}"/>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AE194F4D-C423-9805-EB49-1460F4557011}"/>
              </a:ext>
            </a:extLst>
          </p:cNvPr>
          <p:cNvSpPr>
            <a:spLocks noGrp="1"/>
          </p:cNvSpPr>
          <p:nvPr>
            <p:ph idx="1"/>
          </p:nvPr>
        </p:nvSpPr>
        <p:spPr>
          <a:xfrm>
            <a:off x="1503829" y="1346200"/>
            <a:ext cx="6464300" cy="3886200"/>
          </a:xfrm>
        </p:spPr>
        <p:txBody>
          <a:bodyPr/>
          <a:lstStyle/>
          <a:p>
            <a:pPr>
              <a:lnSpc>
                <a:spcPct val="200000"/>
              </a:lnSpc>
            </a:pPr>
            <a:r>
              <a:rPr lang="en-US" dirty="0">
                <a:solidFill>
                  <a:schemeClr val="accent3">
                    <a:lumMod val="50000"/>
                  </a:schemeClr>
                </a:solidFill>
              </a:rPr>
              <a:t>Introduction</a:t>
            </a:r>
          </a:p>
          <a:p>
            <a:pPr>
              <a:lnSpc>
                <a:spcPct val="200000"/>
              </a:lnSpc>
            </a:pPr>
            <a:r>
              <a:rPr lang="en-US" altLang="zh-CN" sz="2400" i="0" dirty="0">
                <a:latin typeface="Times New Roman" panose="02020603050405020304" pitchFamily="18" charset="0"/>
                <a:cs typeface="Times New Roman" panose="02020603050405020304" pitchFamily="18" charset="0"/>
              </a:rPr>
              <a:t>Prior</a:t>
            </a:r>
            <a:r>
              <a:rPr lang="zh-CN" altLang="en-US" sz="2400" i="0" dirty="0">
                <a:latin typeface="Times New Roman" panose="02020603050405020304" pitchFamily="18" charset="0"/>
                <a:cs typeface="Times New Roman" panose="02020603050405020304" pitchFamily="18" charset="0"/>
              </a:rPr>
              <a:t> </a:t>
            </a:r>
            <a:r>
              <a:rPr lang="en-US" altLang="zh-CN" sz="2400" i="0" dirty="0">
                <a:latin typeface="Times New Roman" panose="02020603050405020304" pitchFamily="18" charset="0"/>
                <a:cs typeface="Times New Roman" panose="02020603050405020304" pitchFamily="18" charset="0"/>
              </a:rPr>
              <a:t>works</a:t>
            </a:r>
            <a:r>
              <a:rPr lang="zh-CN" altLang="en-US" sz="2400" i="0" dirty="0">
                <a:latin typeface="Times New Roman" panose="02020603050405020304" pitchFamily="18" charset="0"/>
                <a:cs typeface="Times New Roman" panose="02020603050405020304" pitchFamily="18" charset="0"/>
              </a:rPr>
              <a:t> </a:t>
            </a:r>
            <a:endParaRPr lang="en-US" altLang="zh-CN" sz="2400" i="0" dirty="0">
              <a:latin typeface="Times New Roman" panose="02020603050405020304" pitchFamily="18" charset="0"/>
              <a:cs typeface="Times New Roman" panose="02020603050405020304" pitchFamily="18" charset="0"/>
            </a:endParaRPr>
          </a:p>
          <a:p>
            <a:pPr>
              <a:lnSpc>
                <a:spcPct val="200000"/>
              </a:lnSpc>
            </a:pPr>
            <a:r>
              <a:rPr lang="en-US" dirty="0">
                <a:solidFill>
                  <a:schemeClr val="accent3">
                    <a:lumMod val="50000"/>
                  </a:schemeClr>
                </a:solidFill>
              </a:rPr>
              <a:t>Proposed design</a:t>
            </a:r>
            <a:r>
              <a:rPr lang="zh-CN" altLang="en-US" dirty="0">
                <a:solidFill>
                  <a:schemeClr val="accent3">
                    <a:lumMod val="50000"/>
                  </a:schemeClr>
                </a:solidFill>
              </a:rPr>
              <a:t> </a:t>
            </a:r>
            <a:r>
              <a:rPr lang="en-US" altLang="zh-CN" dirty="0">
                <a:solidFill>
                  <a:schemeClr val="accent3">
                    <a:lumMod val="50000"/>
                  </a:schemeClr>
                </a:solidFill>
              </a:rPr>
              <a:t>and</a:t>
            </a:r>
            <a:r>
              <a:rPr lang="zh-CN" altLang="en-US" dirty="0">
                <a:solidFill>
                  <a:schemeClr val="accent3">
                    <a:lumMod val="50000"/>
                  </a:schemeClr>
                </a:solidFill>
              </a:rPr>
              <a:t> </a:t>
            </a:r>
            <a:r>
              <a:rPr lang="en-US" dirty="0">
                <a:solidFill>
                  <a:schemeClr val="accent3">
                    <a:lumMod val="50000"/>
                  </a:schemeClr>
                </a:solidFill>
              </a:rPr>
              <a:t>method </a:t>
            </a:r>
          </a:p>
          <a:p>
            <a:pPr>
              <a:lnSpc>
                <a:spcPct val="200000"/>
              </a:lnSpc>
            </a:pPr>
            <a:r>
              <a:rPr lang="en-US" altLang="zh-CN" dirty="0">
                <a:solidFill>
                  <a:schemeClr val="accent3">
                    <a:lumMod val="50000"/>
                  </a:schemeClr>
                </a:solidFill>
              </a:rPr>
              <a:t>Preliminary</a:t>
            </a:r>
            <a:r>
              <a:rPr lang="zh-CN" altLang="en-US" dirty="0">
                <a:solidFill>
                  <a:schemeClr val="accent3">
                    <a:lumMod val="50000"/>
                  </a:schemeClr>
                </a:solidFill>
              </a:rPr>
              <a:t> </a:t>
            </a:r>
            <a:r>
              <a:rPr lang="en-US" altLang="zh-CN" dirty="0">
                <a:solidFill>
                  <a:schemeClr val="accent3">
                    <a:lumMod val="50000"/>
                  </a:schemeClr>
                </a:solidFill>
              </a:rPr>
              <a:t>r</a:t>
            </a:r>
            <a:r>
              <a:rPr lang="en-US" dirty="0">
                <a:solidFill>
                  <a:schemeClr val="accent3">
                    <a:lumMod val="50000"/>
                  </a:schemeClr>
                </a:solidFill>
              </a:rPr>
              <a:t>esults </a:t>
            </a:r>
          </a:p>
          <a:p>
            <a:pPr>
              <a:lnSpc>
                <a:spcPct val="200000"/>
              </a:lnSpc>
            </a:pPr>
            <a:r>
              <a:rPr lang="en-US" altLang="zh-CN" dirty="0">
                <a:solidFill>
                  <a:schemeClr val="accent3">
                    <a:lumMod val="50000"/>
                  </a:schemeClr>
                </a:solidFill>
              </a:rPr>
              <a:t>S</a:t>
            </a:r>
            <a:r>
              <a:rPr lang="en-US" dirty="0">
                <a:solidFill>
                  <a:schemeClr val="accent3">
                    <a:lumMod val="50000"/>
                  </a:schemeClr>
                </a:solidFill>
              </a:rPr>
              <a:t>ummary</a:t>
            </a:r>
            <a:r>
              <a:rPr lang="zh-CN" altLang="en-US" dirty="0">
                <a:solidFill>
                  <a:schemeClr val="accent3">
                    <a:lumMod val="50000"/>
                  </a:schemeClr>
                </a:solidFill>
              </a:rPr>
              <a:t> </a:t>
            </a:r>
            <a:r>
              <a:rPr lang="en-US" altLang="zh-CN" dirty="0">
                <a:solidFill>
                  <a:schemeClr val="accent3">
                    <a:lumMod val="50000"/>
                  </a:schemeClr>
                </a:solidFill>
              </a:rPr>
              <a:t>and</a:t>
            </a:r>
            <a:r>
              <a:rPr lang="zh-CN" altLang="en-US" dirty="0">
                <a:solidFill>
                  <a:schemeClr val="accent3">
                    <a:lumMod val="50000"/>
                  </a:schemeClr>
                </a:solidFill>
              </a:rPr>
              <a:t> </a:t>
            </a:r>
            <a:r>
              <a:rPr lang="en-US" altLang="zh-CN" dirty="0">
                <a:solidFill>
                  <a:schemeClr val="accent3">
                    <a:lumMod val="50000"/>
                  </a:schemeClr>
                </a:solidFill>
              </a:rPr>
              <a:t>f</a:t>
            </a:r>
            <a:r>
              <a:rPr lang="en-US" dirty="0">
                <a:solidFill>
                  <a:schemeClr val="accent3">
                    <a:lumMod val="50000"/>
                  </a:schemeClr>
                </a:solidFill>
              </a:rPr>
              <a:t>uture work</a:t>
            </a:r>
          </a:p>
          <a:p>
            <a:endParaRPr lang="en-US" altLang="zh-CN" dirty="0"/>
          </a:p>
        </p:txBody>
      </p:sp>
      <p:sp>
        <p:nvSpPr>
          <p:cNvPr id="4" name="Slide Number Placeholder 3">
            <a:extLst>
              <a:ext uri="{FF2B5EF4-FFF2-40B4-BE49-F238E27FC236}">
                <a16:creationId xmlns:a16="http://schemas.microsoft.com/office/drawing/2014/main" id="{F154A547-BD5E-7B7D-AA3F-28781EF18FE5}"/>
              </a:ext>
            </a:extLst>
          </p:cNvPr>
          <p:cNvSpPr>
            <a:spLocks noGrp="1"/>
          </p:cNvSpPr>
          <p:nvPr>
            <p:ph type="sldNum" sz="quarter" idx="11"/>
          </p:nvPr>
        </p:nvSpPr>
        <p:spPr/>
        <p:txBody>
          <a:bodyPr/>
          <a:lstStyle/>
          <a:p>
            <a:fld id="{B2B05758-BB4F-4559-81AD-225F352C8527}" type="slidenum">
              <a:rPr lang="zh-CN" altLang="en-US" smtClean="0"/>
              <a:t>6</a:t>
            </a:fld>
            <a:endParaRPr lang="zh-CN" altLang="en-US"/>
          </a:p>
        </p:txBody>
      </p:sp>
    </p:spTree>
    <p:extLst>
      <p:ext uri="{BB962C8B-B14F-4D97-AF65-F5344CB8AC3E}">
        <p14:creationId xmlns:p14="http://schemas.microsoft.com/office/powerpoint/2010/main" val="326950529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Prior</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works</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Issue</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5920828" cy="3886200"/>
          </a:xfrm>
        </p:spPr>
        <p:txBody>
          <a:bodyPr/>
          <a:lstStyle/>
          <a:p>
            <a:r>
              <a:rPr lang="en-US" altLang="zh-CN" dirty="0"/>
              <a:t>Non-</a:t>
            </a:r>
            <a:r>
              <a:rPr lang="en-US" altLang="zh-CN" dirty="0" err="1"/>
              <a:t>i.i.d</a:t>
            </a:r>
            <a:r>
              <a:rPr lang="en-US" altLang="zh-CN" dirty="0"/>
              <a:t>. definition on ML</a:t>
            </a:r>
            <a:r>
              <a:rPr lang="zh-CN" altLang="en-US" dirty="0"/>
              <a:t>（</a:t>
            </a:r>
            <a:r>
              <a:rPr lang="en-US" altLang="zh-CN" dirty="0"/>
              <a:t>Dataset shift</a:t>
            </a:r>
            <a:r>
              <a:rPr lang="zh-CN" altLang="en-US" dirty="0"/>
              <a:t>）</a:t>
            </a:r>
            <a:endParaRPr lang="en-US" altLang="zh-CN" dirty="0"/>
          </a:p>
          <a:p>
            <a:pPr lvl="1"/>
            <a:r>
              <a:rPr lang="en-US" altLang="zh-CN" dirty="0"/>
              <a:t>Non-</a:t>
            </a:r>
            <a:r>
              <a:rPr lang="en-US" altLang="zh-CN" dirty="0" err="1"/>
              <a:t>i.i.d</a:t>
            </a:r>
            <a:r>
              <a:rPr lang="en-US" altLang="zh-CN" dirty="0"/>
              <a:t>:</a:t>
            </a:r>
          </a:p>
          <a:p>
            <a:pPr lvl="1"/>
            <a:endParaRPr lang="en-US" altLang="zh-CN" dirty="0"/>
          </a:p>
          <a:p>
            <a:pPr lvl="1"/>
            <a:r>
              <a:rPr lang="en-US" altLang="zh-CN" dirty="0"/>
              <a:t>Covariate shift</a:t>
            </a:r>
          </a:p>
          <a:p>
            <a:pPr lvl="1"/>
            <a:endParaRPr lang="en-US" altLang="zh-CN" dirty="0"/>
          </a:p>
          <a:p>
            <a:pPr lvl="1"/>
            <a:r>
              <a:rPr lang="en-US" altLang="zh-CN" dirty="0"/>
              <a:t>Prior probability shift</a:t>
            </a:r>
          </a:p>
          <a:p>
            <a:pPr lvl="1"/>
            <a:endParaRPr lang="en-US" altLang="zh-CN" dirty="0"/>
          </a:p>
          <a:p>
            <a:pPr lvl="1"/>
            <a:r>
              <a:rPr lang="en-US" altLang="zh-CN" dirty="0"/>
              <a:t>Concept shift</a:t>
            </a:r>
          </a:p>
          <a:p>
            <a:pPr marL="914400" lvl="2" indent="0">
              <a:buNone/>
            </a:pPr>
            <a:endParaRPr lang="en-US" altLang="zh-CN" dirty="0"/>
          </a:p>
          <a:p>
            <a:pPr lvl="2"/>
            <a:endParaRPr lang="en-US" altLang="zh-CN" dirty="0"/>
          </a:p>
          <a:p>
            <a:pPr lvl="2"/>
            <a:endParaRPr lang="en-US" altLang="zh-CN" dirty="0"/>
          </a:p>
          <a:p>
            <a:pPr lvl="2"/>
            <a:endParaRPr lang="en-US" altLang="zh-CN" dirty="0"/>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7</a:t>
            </a:fld>
            <a:endParaRPr lang="zh-CN" altLang="en-US"/>
          </a:p>
        </p:txBody>
      </p:sp>
      <p:sp>
        <p:nvSpPr>
          <p:cNvPr id="21" name="文本框 20">
            <a:extLst>
              <a:ext uri="{FF2B5EF4-FFF2-40B4-BE49-F238E27FC236}">
                <a16:creationId xmlns:a16="http://schemas.microsoft.com/office/drawing/2014/main" id="{B08BFEDD-1428-49FD-A5DC-87F75271FC2D}"/>
              </a:ext>
            </a:extLst>
          </p:cNvPr>
          <p:cNvSpPr txBox="1"/>
          <p:nvPr/>
        </p:nvSpPr>
        <p:spPr>
          <a:xfrm>
            <a:off x="198145" y="6201247"/>
            <a:ext cx="11181055" cy="230832"/>
          </a:xfrm>
          <a:prstGeom prst="rect">
            <a:avLst/>
          </a:prstGeom>
          <a:noFill/>
        </p:spPr>
        <p:txBody>
          <a:bodyPr wrap="square" rtlCol="0">
            <a:spAutoFit/>
          </a:bodyPr>
          <a:lstStyle/>
          <a:p>
            <a:r>
              <a:rPr lang="en-US" altLang="zh-CN" sz="900" i="0" dirty="0">
                <a:latin typeface="+mn-lt"/>
                <a:ea typeface="宋体" panose="02010600030101010101" pitchFamily="2" charset="-122"/>
              </a:rPr>
              <a:t>[1]</a:t>
            </a:r>
            <a:r>
              <a:rPr lang="en-US" altLang="zh-CN" sz="900" b="0" i="0" dirty="0">
                <a:solidFill>
                  <a:srgbClr val="222222"/>
                </a:solidFill>
                <a:effectLst/>
                <a:latin typeface="Arial" panose="020B0604020202020204" pitchFamily="34" charset="0"/>
              </a:rPr>
              <a:t> </a:t>
            </a:r>
            <a:r>
              <a:rPr lang="en-US" altLang="zh-CN" sz="900" b="0" i="0" dirty="0" err="1">
                <a:solidFill>
                  <a:srgbClr val="222222"/>
                </a:solidFill>
                <a:effectLst/>
                <a:latin typeface="Arial" panose="020B0604020202020204" pitchFamily="34" charset="0"/>
              </a:rPr>
              <a:t>Kairouz</a:t>
            </a:r>
            <a:r>
              <a:rPr lang="en-US" altLang="zh-CN" sz="900" b="0" i="0" dirty="0">
                <a:solidFill>
                  <a:srgbClr val="222222"/>
                </a:solidFill>
                <a:effectLst/>
                <a:latin typeface="Arial" panose="020B0604020202020204" pitchFamily="34" charset="0"/>
              </a:rPr>
              <a:t> P, McMahan H B, Avent B, et al. Advances and open problems in federated learning[J]. Foundations and trends® in machine learning, 2021, 14(1–2): 1-210.</a:t>
            </a:r>
            <a:endParaRPr lang="zh-CN" altLang="en-US" sz="900" i="0" dirty="0">
              <a:latin typeface="+mn-lt"/>
              <a:ea typeface="宋体" panose="02010600030101010101" pitchFamily="2" charset="-122"/>
            </a:endParaRPr>
          </a:p>
        </p:txBody>
      </p:sp>
      <p:sp>
        <p:nvSpPr>
          <p:cNvPr id="6" name="内容占位符 2">
            <a:extLst>
              <a:ext uri="{FF2B5EF4-FFF2-40B4-BE49-F238E27FC236}">
                <a16:creationId xmlns:a16="http://schemas.microsoft.com/office/drawing/2014/main" id="{71B49995-2116-4FD5-BC4C-BF2AB6AD1D72}"/>
              </a:ext>
            </a:extLst>
          </p:cNvPr>
          <p:cNvSpPr txBox="1">
            <a:spLocks/>
          </p:cNvSpPr>
          <p:nvPr/>
        </p:nvSpPr>
        <p:spPr bwMode="auto">
          <a:xfrm>
            <a:off x="6096000" y="1346437"/>
            <a:ext cx="6663559" cy="47550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i="0" kern="0" dirty="0"/>
              <a:t>Non-</a:t>
            </a:r>
            <a:r>
              <a:rPr lang="en-US" altLang="zh-CN" i="0" kern="0" dirty="0" err="1"/>
              <a:t>i.i.d</a:t>
            </a:r>
            <a:r>
              <a:rPr lang="en-US" altLang="zh-CN" i="0" kern="0" dirty="0"/>
              <a:t>. definition on FL </a:t>
            </a:r>
            <a:r>
              <a:rPr lang="en-US" altLang="zh-CN" i="0" baseline="30000" dirty="0">
                <a:latin typeface="Times New Roman" panose="02020603050405020304" pitchFamily="18" charset="0"/>
                <a:cs typeface="Times New Roman" panose="02020603050405020304" pitchFamily="18" charset="0"/>
              </a:rPr>
              <a:t>[1]</a:t>
            </a:r>
            <a:endParaRPr lang="en-US" altLang="zh-CN" i="0" kern="0" dirty="0"/>
          </a:p>
          <a:p>
            <a:pPr lvl="1"/>
            <a:r>
              <a:rPr lang="en-US" altLang="zh-CN" i="0" kern="0" dirty="0"/>
              <a:t>Covariate shift (feature distribution skew)</a:t>
            </a:r>
          </a:p>
          <a:p>
            <a:pPr lvl="1"/>
            <a:endParaRPr lang="en-US" altLang="zh-CN" i="0" kern="0" dirty="0"/>
          </a:p>
          <a:p>
            <a:pPr lvl="1"/>
            <a:r>
              <a:rPr lang="en-US" altLang="zh-CN" i="0" kern="0" dirty="0"/>
              <a:t>Prior probability shift (label distribution skew)</a:t>
            </a:r>
          </a:p>
          <a:p>
            <a:pPr lvl="1"/>
            <a:endParaRPr lang="en-US" altLang="zh-CN" i="0" kern="0" dirty="0"/>
          </a:p>
          <a:p>
            <a:pPr lvl="1"/>
            <a:r>
              <a:rPr lang="en-US" altLang="zh-CN" i="0" kern="0" dirty="0"/>
              <a:t>Concept shift I (same label, different features)</a:t>
            </a:r>
          </a:p>
          <a:p>
            <a:pPr lvl="1"/>
            <a:endParaRPr lang="en-US" altLang="zh-CN" i="0" kern="0" dirty="0"/>
          </a:p>
          <a:p>
            <a:pPr lvl="1"/>
            <a:r>
              <a:rPr lang="en-US" altLang="zh-CN" i="0" kern="0" dirty="0"/>
              <a:t>Concept shift II (same feature, different labels)</a:t>
            </a:r>
          </a:p>
          <a:p>
            <a:pPr lvl="1"/>
            <a:endParaRPr lang="en-US" altLang="zh-CN" i="0" kern="0" dirty="0"/>
          </a:p>
          <a:p>
            <a:pPr lvl="1"/>
            <a:r>
              <a:rPr lang="en-US" altLang="zh-CN" i="0" kern="0" dirty="0"/>
              <a:t>Quantity skew</a:t>
            </a:r>
          </a:p>
          <a:p>
            <a:pPr marL="914400" lvl="2" indent="0">
              <a:buFont typeface="Wingdings" pitchFamily="-107" charset="2"/>
              <a:buNone/>
            </a:pPr>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p:txBody>
      </p:sp>
      <p:graphicFrame>
        <p:nvGraphicFramePr>
          <p:cNvPr id="8" name="对象 7">
            <a:extLst>
              <a:ext uri="{FF2B5EF4-FFF2-40B4-BE49-F238E27FC236}">
                <a16:creationId xmlns:a16="http://schemas.microsoft.com/office/drawing/2014/main" id="{CC7FB8E6-CCC3-47E1-8D1E-18F8BF9040EB}"/>
              </a:ext>
            </a:extLst>
          </p:cNvPr>
          <p:cNvGraphicFramePr>
            <a:graphicFrameLocks noChangeAspect="1"/>
          </p:cNvGraphicFramePr>
          <p:nvPr>
            <p:extLst>
              <p:ext uri="{D42A27DB-BD31-4B8C-83A1-F6EECF244321}">
                <p14:modId xmlns:p14="http://schemas.microsoft.com/office/powerpoint/2010/main" val="2429996965"/>
              </p:ext>
            </p:extLst>
          </p:nvPr>
        </p:nvGraphicFramePr>
        <p:xfrm>
          <a:off x="1251167" y="2962338"/>
          <a:ext cx="4349750" cy="485775"/>
        </p:xfrm>
        <a:graphic>
          <a:graphicData uri="http://schemas.openxmlformats.org/presentationml/2006/ole">
            <mc:AlternateContent xmlns:mc="http://schemas.openxmlformats.org/markup-compatibility/2006">
              <mc:Choice xmlns:v="urn:schemas-microsoft-com:vml" Requires="v">
                <p:oleObj spid="_x0000_s23790" name="Equation" r:id="rId4" imgW="2501640" imgH="279360" progId="Equation.DSMT4">
                  <p:embed/>
                </p:oleObj>
              </mc:Choice>
              <mc:Fallback>
                <p:oleObj name="Equation" r:id="rId4" imgW="2501640" imgH="279360" progId="Equation.DSMT4">
                  <p:embed/>
                  <p:pic>
                    <p:nvPicPr>
                      <p:cNvPr id="8" name="对象 7">
                        <a:extLst>
                          <a:ext uri="{FF2B5EF4-FFF2-40B4-BE49-F238E27FC236}">
                            <a16:creationId xmlns:a16="http://schemas.microsoft.com/office/drawing/2014/main" id="{CC7FB8E6-CCC3-47E1-8D1E-18F8BF9040EB}"/>
                          </a:ext>
                        </a:extLst>
                      </p:cNvPr>
                      <p:cNvPicPr/>
                      <p:nvPr/>
                    </p:nvPicPr>
                    <p:blipFill>
                      <a:blip r:embed="rId5"/>
                      <a:stretch>
                        <a:fillRect/>
                      </a:stretch>
                    </p:blipFill>
                    <p:spPr>
                      <a:xfrm>
                        <a:off x="1251167" y="2962338"/>
                        <a:ext cx="4349750" cy="4857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4A12177-2F2A-42C7-A7A8-8F68E32BD213}"/>
              </a:ext>
            </a:extLst>
          </p:cNvPr>
          <p:cNvGraphicFramePr>
            <a:graphicFrameLocks noChangeAspect="1"/>
          </p:cNvGraphicFramePr>
          <p:nvPr>
            <p:extLst>
              <p:ext uri="{D42A27DB-BD31-4B8C-83A1-F6EECF244321}">
                <p14:modId xmlns:p14="http://schemas.microsoft.com/office/powerpoint/2010/main" val="3301636568"/>
              </p:ext>
            </p:extLst>
          </p:nvPr>
        </p:nvGraphicFramePr>
        <p:xfrm>
          <a:off x="1119405" y="3711858"/>
          <a:ext cx="4371975" cy="485775"/>
        </p:xfrm>
        <a:graphic>
          <a:graphicData uri="http://schemas.openxmlformats.org/presentationml/2006/ole">
            <mc:AlternateContent xmlns:mc="http://schemas.openxmlformats.org/markup-compatibility/2006">
              <mc:Choice xmlns:v="urn:schemas-microsoft-com:vml" Requires="v">
                <p:oleObj spid="_x0000_s23791" name="Equation" r:id="rId6" imgW="2514600" imgH="279360" progId="Equation.DSMT4">
                  <p:embed/>
                </p:oleObj>
              </mc:Choice>
              <mc:Fallback>
                <p:oleObj name="Equation" r:id="rId6" imgW="2514600" imgH="279360" progId="Equation.DSMT4">
                  <p:embed/>
                  <p:pic>
                    <p:nvPicPr>
                      <p:cNvPr id="9" name="对象 8">
                        <a:extLst>
                          <a:ext uri="{FF2B5EF4-FFF2-40B4-BE49-F238E27FC236}">
                            <a16:creationId xmlns:a16="http://schemas.microsoft.com/office/drawing/2014/main" id="{94A12177-2F2A-42C7-A7A8-8F68E32BD213}"/>
                          </a:ext>
                        </a:extLst>
                      </p:cNvPr>
                      <p:cNvPicPr/>
                      <p:nvPr/>
                    </p:nvPicPr>
                    <p:blipFill>
                      <a:blip r:embed="rId7"/>
                      <a:stretch>
                        <a:fillRect/>
                      </a:stretch>
                    </p:blipFill>
                    <p:spPr>
                      <a:xfrm>
                        <a:off x="1119405" y="3711858"/>
                        <a:ext cx="4371975" cy="4857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60A529F-7EFC-4F8E-89A6-8FD893027550}"/>
              </a:ext>
            </a:extLst>
          </p:cNvPr>
          <p:cNvGraphicFramePr>
            <a:graphicFrameLocks noChangeAspect="1"/>
          </p:cNvGraphicFramePr>
          <p:nvPr>
            <p:extLst>
              <p:ext uri="{D42A27DB-BD31-4B8C-83A1-F6EECF244321}">
                <p14:modId xmlns:p14="http://schemas.microsoft.com/office/powerpoint/2010/main" val="2287066665"/>
              </p:ext>
            </p:extLst>
          </p:nvPr>
        </p:nvGraphicFramePr>
        <p:xfrm>
          <a:off x="1075943" y="4602239"/>
          <a:ext cx="4440237" cy="971550"/>
        </p:xfrm>
        <a:graphic>
          <a:graphicData uri="http://schemas.openxmlformats.org/presentationml/2006/ole">
            <mc:AlternateContent xmlns:mc="http://schemas.openxmlformats.org/markup-compatibility/2006">
              <mc:Choice xmlns:v="urn:schemas-microsoft-com:vml" Requires="v">
                <p:oleObj spid="_x0000_s23792" name="Equation" r:id="rId8" imgW="2552400" imgH="558720" progId="Equation.DSMT4">
                  <p:embed/>
                </p:oleObj>
              </mc:Choice>
              <mc:Fallback>
                <p:oleObj name="Equation" r:id="rId8" imgW="2552400" imgH="558720" progId="Equation.DSMT4">
                  <p:embed/>
                  <p:pic>
                    <p:nvPicPr>
                      <p:cNvPr id="10" name="对象 9">
                        <a:extLst>
                          <a:ext uri="{FF2B5EF4-FFF2-40B4-BE49-F238E27FC236}">
                            <a16:creationId xmlns:a16="http://schemas.microsoft.com/office/drawing/2014/main" id="{D60A529F-7EFC-4F8E-89A6-8FD893027550}"/>
                          </a:ext>
                        </a:extLst>
                      </p:cNvPr>
                      <p:cNvPicPr/>
                      <p:nvPr/>
                    </p:nvPicPr>
                    <p:blipFill>
                      <a:blip r:embed="rId9"/>
                      <a:stretch>
                        <a:fillRect/>
                      </a:stretch>
                    </p:blipFill>
                    <p:spPr>
                      <a:xfrm>
                        <a:off x="1075943" y="4602239"/>
                        <a:ext cx="4440237" cy="97155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F103A027-6D8A-404E-883C-4068B9A02AFC}"/>
              </a:ext>
            </a:extLst>
          </p:cNvPr>
          <p:cNvGraphicFramePr>
            <a:graphicFrameLocks noChangeAspect="1"/>
          </p:cNvGraphicFramePr>
          <p:nvPr/>
        </p:nvGraphicFramePr>
        <p:xfrm>
          <a:off x="8424863" y="5356225"/>
          <a:ext cx="1082675" cy="485775"/>
        </p:xfrm>
        <a:graphic>
          <a:graphicData uri="http://schemas.openxmlformats.org/presentationml/2006/ole">
            <mc:AlternateContent xmlns:mc="http://schemas.openxmlformats.org/markup-compatibility/2006">
              <mc:Choice xmlns:v="urn:schemas-microsoft-com:vml" Requires="v">
                <p:oleObj spid="_x0000_s23793" name="Equation" r:id="rId10" imgW="622080" imgH="279360" progId="Equation.DSMT4">
                  <p:embed/>
                </p:oleObj>
              </mc:Choice>
              <mc:Fallback>
                <p:oleObj name="Equation" r:id="rId10" imgW="622080" imgH="279360" progId="Equation.DSMT4">
                  <p:embed/>
                  <p:pic>
                    <p:nvPicPr>
                      <p:cNvPr id="11" name="对象 10">
                        <a:extLst>
                          <a:ext uri="{FF2B5EF4-FFF2-40B4-BE49-F238E27FC236}">
                            <a16:creationId xmlns:a16="http://schemas.microsoft.com/office/drawing/2014/main" id="{F103A027-6D8A-404E-883C-4068B9A02AFC}"/>
                          </a:ext>
                        </a:extLst>
                      </p:cNvPr>
                      <p:cNvPicPr/>
                      <p:nvPr/>
                    </p:nvPicPr>
                    <p:blipFill>
                      <a:blip r:embed="rId11"/>
                      <a:stretch>
                        <a:fillRect/>
                      </a:stretch>
                    </p:blipFill>
                    <p:spPr>
                      <a:xfrm>
                        <a:off x="8424863" y="5356225"/>
                        <a:ext cx="1082675" cy="48577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1038D7FB-E428-4001-B9F0-FF72E1B5AF1F}"/>
              </a:ext>
            </a:extLst>
          </p:cNvPr>
          <p:cNvGraphicFramePr>
            <a:graphicFrameLocks noChangeAspect="1"/>
          </p:cNvGraphicFramePr>
          <p:nvPr>
            <p:extLst>
              <p:ext uri="{D42A27DB-BD31-4B8C-83A1-F6EECF244321}">
                <p14:modId xmlns:p14="http://schemas.microsoft.com/office/powerpoint/2010/main" val="604054313"/>
              </p:ext>
            </p:extLst>
          </p:nvPr>
        </p:nvGraphicFramePr>
        <p:xfrm>
          <a:off x="7662863" y="3760788"/>
          <a:ext cx="3600450" cy="485775"/>
        </p:xfrm>
        <a:graphic>
          <a:graphicData uri="http://schemas.openxmlformats.org/presentationml/2006/ole">
            <mc:AlternateContent xmlns:mc="http://schemas.openxmlformats.org/markup-compatibility/2006">
              <mc:Choice xmlns:v="urn:schemas-microsoft-com:vml" Requires="v">
                <p:oleObj spid="_x0000_s23794" name="Equation" r:id="rId12" imgW="2070000" imgH="279360" progId="Equation.DSMT4">
                  <p:embed/>
                </p:oleObj>
              </mc:Choice>
              <mc:Fallback>
                <p:oleObj name="Equation" r:id="rId12" imgW="2070000" imgH="279360" progId="Equation.DSMT4">
                  <p:embed/>
                  <p:pic>
                    <p:nvPicPr>
                      <p:cNvPr id="10" name="对象 9">
                        <a:extLst>
                          <a:ext uri="{FF2B5EF4-FFF2-40B4-BE49-F238E27FC236}">
                            <a16:creationId xmlns:a16="http://schemas.microsoft.com/office/drawing/2014/main" id="{D60A529F-7EFC-4F8E-89A6-8FD893027550}"/>
                          </a:ext>
                        </a:extLst>
                      </p:cNvPr>
                      <p:cNvPicPr/>
                      <p:nvPr/>
                    </p:nvPicPr>
                    <p:blipFill>
                      <a:blip r:embed="rId13"/>
                      <a:stretch>
                        <a:fillRect/>
                      </a:stretch>
                    </p:blipFill>
                    <p:spPr>
                      <a:xfrm>
                        <a:off x="7662863" y="3760788"/>
                        <a:ext cx="3600450" cy="48577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833107C-7DB4-4D42-AD81-7444250FBE5D}"/>
              </a:ext>
            </a:extLst>
          </p:cNvPr>
          <p:cNvGraphicFramePr>
            <a:graphicFrameLocks noChangeAspect="1"/>
          </p:cNvGraphicFramePr>
          <p:nvPr>
            <p:extLst>
              <p:ext uri="{D42A27DB-BD31-4B8C-83A1-F6EECF244321}">
                <p14:modId xmlns:p14="http://schemas.microsoft.com/office/powerpoint/2010/main" val="3950418389"/>
              </p:ext>
            </p:extLst>
          </p:nvPr>
        </p:nvGraphicFramePr>
        <p:xfrm>
          <a:off x="7673975" y="4539045"/>
          <a:ext cx="3556000" cy="485775"/>
        </p:xfrm>
        <a:graphic>
          <a:graphicData uri="http://schemas.openxmlformats.org/presentationml/2006/ole">
            <mc:AlternateContent xmlns:mc="http://schemas.openxmlformats.org/markup-compatibility/2006">
              <mc:Choice xmlns:v="urn:schemas-microsoft-com:vml" Requires="v">
                <p:oleObj spid="_x0000_s23795" name="Equation" r:id="rId14" imgW="2044440" imgH="279360" progId="Equation.DSMT4">
                  <p:embed/>
                </p:oleObj>
              </mc:Choice>
              <mc:Fallback>
                <p:oleObj name="Equation" r:id="rId14" imgW="2044440" imgH="279360" progId="Equation.DSMT4">
                  <p:embed/>
                  <p:pic>
                    <p:nvPicPr>
                      <p:cNvPr id="10" name="对象 9">
                        <a:extLst>
                          <a:ext uri="{FF2B5EF4-FFF2-40B4-BE49-F238E27FC236}">
                            <a16:creationId xmlns:a16="http://schemas.microsoft.com/office/drawing/2014/main" id="{D60A529F-7EFC-4F8E-89A6-8FD893027550}"/>
                          </a:ext>
                        </a:extLst>
                      </p:cNvPr>
                      <p:cNvPicPr/>
                      <p:nvPr/>
                    </p:nvPicPr>
                    <p:blipFill>
                      <a:blip r:embed="rId15"/>
                      <a:stretch>
                        <a:fillRect/>
                      </a:stretch>
                    </p:blipFill>
                    <p:spPr>
                      <a:xfrm>
                        <a:off x="7673975" y="4539045"/>
                        <a:ext cx="3556000" cy="485775"/>
                      </a:xfrm>
                      <a:prstGeom prst="rect">
                        <a:avLst/>
                      </a:prstGeom>
                    </p:spPr>
                  </p:pic>
                </p:oleObj>
              </mc:Fallback>
            </mc:AlternateContent>
          </a:graphicData>
        </a:graphic>
      </p:graphicFrame>
      <p:sp>
        <p:nvSpPr>
          <p:cNvPr id="5" name="矩形 4">
            <a:extLst>
              <a:ext uri="{FF2B5EF4-FFF2-40B4-BE49-F238E27FC236}">
                <a16:creationId xmlns:a16="http://schemas.microsoft.com/office/drawing/2014/main" id="{684B28D4-B138-4FB2-A341-08DB834BD93E}"/>
              </a:ext>
            </a:extLst>
          </p:cNvPr>
          <p:cNvSpPr/>
          <p:nvPr/>
        </p:nvSpPr>
        <p:spPr bwMode="auto">
          <a:xfrm>
            <a:off x="6589985" y="2563944"/>
            <a:ext cx="5570483" cy="497486"/>
          </a:xfrm>
          <a:prstGeom prst="rect">
            <a:avLst/>
          </a:prstGeom>
          <a:noFill/>
          <a:ln w="9525" cap="flat" cmpd="sng" algn="ctr">
            <a:solidFill>
              <a:srgbClr val="FF0000"/>
            </a:solidFill>
            <a:prstDash val="lg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charset="0"/>
            </a:endParaRPr>
          </a:p>
        </p:txBody>
      </p:sp>
      <p:graphicFrame>
        <p:nvGraphicFramePr>
          <p:cNvPr id="19" name="对象 18">
            <a:extLst>
              <a:ext uri="{FF2B5EF4-FFF2-40B4-BE49-F238E27FC236}">
                <a16:creationId xmlns:a16="http://schemas.microsoft.com/office/drawing/2014/main" id="{F8BD21CE-6CF9-4598-93E3-9154CF6091F0}"/>
              </a:ext>
            </a:extLst>
          </p:cNvPr>
          <p:cNvGraphicFramePr>
            <a:graphicFrameLocks noChangeAspect="1"/>
          </p:cNvGraphicFramePr>
          <p:nvPr>
            <p:extLst>
              <p:ext uri="{D42A27DB-BD31-4B8C-83A1-F6EECF244321}">
                <p14:modId xmlns:p14="http://schemas.microsoft.com/office/powerpoint/2010/main" val="2518350421"/>
              </p:ext>
            </p:extLst>
          </p:nvPr>
        </p:nvGraphicFramePr>
        <p:xfrm>
          <a:off x="1694028" y="1797702"/>
          <a:ext cx="4149725" cy="927100"/>
        </p:xfrm>
        <a:graphic>
          <a:graphicData uri="http://schemas.openxmlformats.org/presentationml/2006/ole">
            <mc:AlternateContent xmlns:mc="http://schemas.openxmlformats.org/markup-compatibility/2006">
              <mc:Choice xmlns:v="urn:schemas-microsoft-com:vml" Requires="v">
                <p:oleObj spid="_x0000_s23796" name="Equation" r:id="rId16" imgW="2387520" imgH="533160" progId="Equation.DSMT4">
                  <p:embed/>
                </p:oleObj>
              </mc:Choice>
              <mc:Fallback>
                <p:oleObj name="Equation" r:id="rId16" imgW="2387520" imgH="533160" progId="Equation.DSMT4">
                  <p:embed/>
                  <p:pic>
                    <p:nvPicPr>
                      <p:cNvPr id="8" name="对象 7">
                        <a:extLst>
                          <a:ext uri="{FF2B5EF4-FFF2-40B4-BE49-F238E27FC236}">
                            <a16:creationId xmlns:a16="http://schemas.microsoft.com/office/drawing/2014/main" id="{CC7FB8E6-CCC3-47E1-8D1E-18F8BF9040EB}"/>
                          </a:ext>
                        </a:extLst>
                      </p:cNvPr>
                      <p:cNvPicPr/>
                      <p:nvPr/>
                    </p:nvPicPr>
                    <p:blipFill>
                      <a:blip r:embed="rId17"/>
                      <a:stretch>
                        <a:fillRect/>
                      </a:stretch>
                    </p:blipFill>
                    <p:spPr>
                      <a:xfrm>
                        <a:off x="1694028" y="1797702"/>
                        <a:ext cx="4149725" cy="927100"/>
                      </a:xfrm>
                      <a:prstGeom prst="rect">
                        <a:avLst/>
                      </a:prstGeom>
                    </p:spPr>
                  </p:pic>
                </p:oleObj>
              </mc:Fallback>
            </mc:AlternateContent>
          </a:graphicData>
        </a:graphic>
      </p:graphicFrame>
    </p:spTree>
    <p:extLst>
      <p:ext uri="{BB962C8B-B14F-4D97-AF65-F5344CB8AC3E}">
        <p14:creationId xmlns:p14="http://schemas.microsoft.com/office/powerpoint/2010/main" val="4152639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Prior</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works –</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Generation</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5763172" cy="3886200"/>
          </a:xfrm>
        </p:spPr>
        <p:txBody>
          <a:bodyPr/>
          <a:lstStyle/>
          <a:p>
            <a:r>
              <a:rPr lang="en-US" altLang="zh-CN" dirty="0"/>
              <a:t>Data sampling: Dirichlet distribution</a:t>
            </a:r>
            <a:r>
              <a:rPr lang="en-US" altLang="zh-CN" i="0" baseline="30000" dirty="0">
                <a:latin typeface="Times New Roman" panose="02020603050405020304" pitchFamily="18" charset="0"/>
                <a:cs typeface="Times New Roman" panose="02020603050405020304" pitchFamily="18" charset="0"/>
              </a:rPr>
              <a:t>[1]</a:t>
            </a:r>
            <a:endParaRPr lang="en-US" altLang="zh-CN" dirty="0"/>
          </a:p>
          <a:p>
            <a:pPr lvl="2"/>
            <a:endParaRPr lang="en-US" altLang="zh-CN" dirty="0"/>
          </a:p>
          <a:p>
            <a:pPr lvl="2"/>
            <a:endParaRPr lang="en-US" altLang="zh-CN" dirty="0"/>
          </a:p>
          <a:p>
            <a:pPr lvl="2"/>
            <a:endParaRPr lang="en-US" altLang="zh-CN" dirty="0"/>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8</a:t>
            </a:fld>
            <a:endParaRPr lang="zh-CN" altLang="en-US"/>
          </a:p>
        </p:txBody>
      </p:sp>
      <p:sp>
        <p:nvSpPr>
          <p:cNvPr id="21" name="文本框 20">
            <a:extLst>
              <a:ext uri="{FF2B5EF4-FFF2-40B4-BE49-F238E27FC236}">
                <a16:creationId xmlns:a16="http://schemas.microsoft.com/office/drawing/2014/main" id="{B08BFEDD-1428-49FD-A5DC-87F75271FC2D}"/>
              </a:ext>
            </a:extLst>
          </p:cNvPr>
          <p:cNvSpPr txBox="1"/>
          <p:nvPr/>
        </p:nvSpPr>
        <p:spPr>
          <a:xfrm>
            <a:off x="198145" y="6285384"/>
            <a:ext cx="11181055" cy="369332"/>
          </a:xfrm>
          <a:prstGeom prst="rect">
            <a:avLst/>
          </a:prstGeom>
          <a:noFill/>
        </p:spPr>
        <p:txBody>
          <a:bodyPr wrap="square" rtlCol="0">
            <a:spAutoFit/>
          </a:bodyPr>
          <a:lstStyle/>
          <a:p>
            <a:r>
              <a:rPr lang="en-US" altLang="zh-CN" sz="900" i="0" dirty="0">
                <a:latin typeface="+mn-lt"/>
                <a:ea typeface="宋体" panose="02010600030101010101" pitchFamily="2" charset="-122"/>
              </a:rPr>
              <a:t>[1] Hsu T M H, Qi H, Brown M. Measuring the effects of non-identical data distribution for federated visual classification[J]. </a:t>
            </a:r>
            <a:r>
              <a:rPr lang="en-US" altLang="zh-CN" sz="900" i="0" dirty="0" err="1">
                <a:latin typeface="+mn-lt"/>
                <a:ea typeface="宋体" panose="02010600030101010101" pitchFamily="2" charset="-122"/>
              </a:rPr>
              <a:t>arXiv</a:t>
            </a:r>
            <a:r>
              <a:rPr lang="en-US" altLang="zh-CN" sz="900" i="0" dirty="0">
                <a:latin typeface="+mn-lt"/>
                <a:ea typeface="宋体" panose="02010600030101010101" pitchFamily="2" charset="-122"/>
              </a:rPr>
              <a:t> preprint arXiv:1909.06335, 2019.</a:t>
            </a:r>
          </a:p>
          <a:p>
            <a:r>
              <a:rPr lang="en-US" altLang="zh-CN" sz="900" i="0" dirty="0">
                <a:latin typeface="+mn-lt"/>
                <a:ea typeface="宋体" panose="02010600030101010101" pitchFamily="2" charset="-122"/>
              </a:rPr>
              <a:t>[2] McMahan B, Moore E, Ramage D, et al. Communication-efficient learning of deep networks from decentralized data[C]//Artificial intelligence and statistics. PMLR, 2017: 1273-1282.</a:t>
            </a:r>
            <a:endParaRPr lang="zh-CN" altLang="en-US" sz="900" i="0" dirty="0">
              <a:latin typeface="+mn-lt"/>
              <a:ea typeface="宋体" panose="02010600030101010101" pitchFamily="2" charset="-122"/>
            </a:endParaRPr>
          </a:p>
        </p:txBody>
      </p:sp>
      <p:sp>
        <p:nvSpPr>
          <p:cNvPr id="6" name="内容占位符 2">
            <a:extLst>
              <a:ext uri="{FF2B5EF4-FFF2-40B4-BE49-F238E27FC236}">
                <a16:creationId xmlns:a16="http://schemas.microsoft.com/office/drawing/2014/main" id="{71B49995-2116-4FD5-BC4C-BF2AB6AD1D72}"/>
              </a:ext>
            </a:extLst>
          </p:cNvPr>
          <p:cNvSpPr txBox="1">
            <a:spLocks/>
          </p:cNvSpPr>
          <p:nvPr/>
        </p:nvSpPr>
        <p:spPr bwMode="auto">
          <a:xfrm>
            <a:off x="6575972" y="1330457"/>
            <a:ext cx="5174593" cy="47550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i="0" kern="0" dirty="0"/>
              <a:t>Pathological non-</a:t>
            </a:r>
            <a:r>
              <a:rPr lang="en-US" altLang="zh-CN" i="0" kern="0" dirty="0" err="1"/>
              <a:t>i.i.d</a:t>
            </a:r>
            <a:r>
              <a:rPr lang="en-US" altLang="zh-CN" i="0" kern="0" dirty="0"/>
              <a:t>. datasets</a:t>
            </a:r>
            <a:r>
              <a:rPr lang="en-US" altLang="zh-CN" i="0" baseline="30000" dirty="0">
                <a:latin typeface="Times New Roman" panose="02020603050405020304" pitchFamily="18" charset="0"/>
                <a:cs typeface="Times New Roman" panose="02020603050405020304" pitchFamily="18" charset="0"/>
              </a:rPr>
              <a:t>[2]</a:t>
            </a:r>
            <a:endParaRPr lang="en-US" altLang="zh-CN" i="0" kern="0" dirty="0"/>
          </a:p>
          <a:p>
            <a:pPr lvl="1"/>
            <a:r>
              <a:rPr lang="en-US" altLang="zh-CN" i="0" kern="0" dirty="0"/>
              <a:t>Digit label sorting</a:t>
            </a:r>
          </a:p>
          <a:p>
            <a:pPr lvl="1"/>
            <a:r>
              <a:rPr lang="en-US" altLang="zh-CN" i="0" kern="0" dirty="0"/>
              <a:t>200 shards with 300 samples</a:t>
            </a:r>
          </a:p>
          <a:p>
            <a:pPr lvl="1"/>
            <a:r>
              <a:rPr lang="en-US" altLang="zh-CN" i="0" kern="0" dirty="0"/>
              <a:t>Each client randomly select 2 shards</a:t>
            </a:r>
          </a:p>
          <a:p>
            <a:pPr lvl="1"/>
            <a:endParaRPr lang="en-US" altLang="zh-CN" i="0" kern="0" dirty="0"/>
          </a:p>
          <a:p>
            <a:pPr marL="914400" lvl="2" indent="0">
              <a:buFont typeface="Wingdings" pitchFamily="-107" charset="2"/>
              <a:buNone/>
            </a:pPr>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p:txBody>
      </p:sp>
      <p:graphicFrame>
        <p:nvGraphicFramePr>
          <p:cNvPr id="12" name="对象 11">
            <a:extLst>
              <a:ext uri="{FF2B5EF4-FFF2-40B4-BE49-F238E27FC236}">
                <a16:creationId xmlns:a16="http://schemas.microsoft.com/office/drawing/2014/main" id="{10CE7538-0030-4913-9F0A-75D7FB2A54B6}"/>
              </a:ext>
            </a:extLst>
          </p:cNvPr>
          <p:cNvGraphicFramePr>
            <a:graphicFrameLocks noChangeAspect="1"/>
          </p:cNvGraphicFramePr>
          <p:nvPr>
            <p:extLst>
              <p:ext uri="{D42A27DB-BD31-4B8C-83A1-F6EECF244321}">
                <p14:modId xmlns:p14="http://schemas.microsoft.com/office/powerpoint/2010/main" val="2207741226"/>
              </p:ext>
            </p:extLst>
          </p:nvPr>
        </p:nvGraphicFramePr>
        <p:xfrm>
          <a:off x="1900238" y="1727149"/>
          <a:ext cx="2395537" cy="492125"/>
        </p:xfrm>
        <a:graphic>
          <a:graphicData uri="http://schemas.openxmlformats.org/presentationml/2006/ole">
            <mc:AlternateContent xmlns:mc="http://schemas.openxmlformats.org/markup-compatibility/2006">
              <mc:Choice xmlns:v="urn:schemas-microsoft-com:vml" Requires="v">
                <p:oleObj spid="_x0000_s22563" name="Equation" r:id="rId4" imgW="1358640" imgH="279360" progId="Equation.DSMT4">
                  <p:embed/>
                </p:oleObj>
              </mc:Choice>
              <mc:Fallback>
                <p:oleObj name="Equation" r:id="rId4" imgW="1358640" imgH="279360" progId="Equation.DSMT4">
                  <p:embed/>
                  <p:pic>
                    <p:nvPicPr>
                      <p:cNvPr id="11" name="对象 10">
                        <a:extLst>
                          <a:ext uri="{FF2B5EF4-FFF2-40B4-BE49-F238E27FC236}">
                            <a16:creationId xmlns:a16="http://schemas.microsoft.com/office/drawing/2014/main" id="{9B6B64C3-E02B-40BB-9CCB-AED63D17740E}"/>
                          </a:ext>
                        </a:extLst>
                      </p:cNvPr>
                      <p:cNvPicPr/>
                      <p:nvPr/>
                    </p:nvPicPr>
                    <p:blipFill>
                      <a:blip r:embed="rId5"/>
                      <a:stretch>
                        <a:fillRect/>
                      </a:stretch>
                    </p:blipFill>
                    <p:spPr>
                      <a:xfrm>
                        <a:off x="1900238" y="1727149"/>
                        <a:ext cx="2395537" cy="492125"/>
                      </a:xfrm>
                      <a:prstGeom prst="rect">
                        <a:avLst/>
                      </a:prstGeom>
                    </p:spPr>
                  </p:pic>
                </p:oleObj>
              </mc:Fallback>
            </mc:AlternateContent>
          </a:graphicData>
        </a:graphic>
      </p:graphicFrame>
      <p:pic>
        <p:nvPicPr>
          <p:cNvPr id="13" name="图片 12">
            <a:extLst>
              <a:ext uri="{FF2B5EF4-FFF2-40B4-BE49-F238E27FC236}">
                <a16:creationId xmlns:a16="http://schemas.microsoft.com/office/drawing/2014/main" id="{431C7088-7E88-4AB7-A1E6-E5B6FE7621CA}"/>
              </a:ext>
            </a:extLst>
          </p:cNvPr>
          <p:cNvPicPr>
            <a:picLocks noChangeAspect="1"/>
          </p:cNvPicPr>
          <p:nvPr/>
        </p:nvPicPr>
        <p:blipFill>
          <a:blip r:embed="rId6"/>
          <a:stretch>
            <a:fillRect/>
          </a:stretch>
        </p:blipFill>
        <p:spPr>
          <a:xfrm>
            <a:off x="198145" y="2292835"/>
            <a:ext cx="6684579" cy="1395183"/>
          </a:xfrm>
          <a:prstGeom prst="rect">
            <a:avLst/>
          </a:prstGeom>
        </p:spPr>
      </p:pic>
      <p:pic>
        <p:nvPicPr>
          <p:cNvPr id="14" name="图片 13">
            <a:extLst>
              <a:ext uri="{FF2B5EF4-FFF2-40B4-BE49-F238E27FC236}">
                <a16:creationId xmlns:a16="http://schemas.microsoft.com/office/drawing/2014/main" id="{BDDCF30D-AB0D-461E-BF90-01B656097860}"/>
              </a:ext>
            </a:extLst>
          </p:cNvPr>
          <p:cNvPicPr>
            <a:picLocks noChangeAspect="1"/>
          </p:cNvPicPr>
          <p:nvPr/>
        </p:nvPicPr>
        <p:blipFill>
          <a:blip r:embed="rId7"/>
          <a:stretch>
            <a:fillRect/>
          </a:stretch>
        </p:blipFill>
        <p:spPr>
          <a:xfrm>
            <a:off x="1711638" y="3717759"/>
            <a:ext cx="3152696" cy="2567625"/>
          </a:xfrm>
          <a:prstGeom prst="rect">
            <a:avLst/>
          </a:prstGeom>
        </p:spPr>
      </p:pic>
      <p:pic>
        <p:nvPicPr>
          <p:cNvPr id="16" name="图片 15">
            <a:extLst>
              <a:ext uri="{FF2B5EF4-FFF2-40B4-BE49-F238E27FC236}">
                <a16:creationId xmlns:a16="http://schemas.microsoft.com/office/drawing/2014/main" id="{92E358DA-1026-4AB5-A13F-18767CC1CD6B}"/>
              </a:ext>
            </a:extLst>
          </p:cNvPr>
          <p:cNvPicPr>
            <a:picLocks noChangeAspect="1"/>
          </p:cNvPicPr>
          <p:nvPr/>
        </p:nvPicPr>
        <p:blipFill>
          <a:blip r:embed="rId8"/>
          <a:stretch>
            <a:fillRect/>
          </a:stretch>
        </p:blipFill>
        <p:spPr>
          <a:xfrm>
            <a:off x="6882029" y="3273557"/>
            <a:ext cx="4868536" cy="2511077"/>
          </a:xfrm>
          <a:prstGeom prst="rect">
            <a:avLst/>
          </a:prstGeom>
        </p:spPr>
      </p:pic>
    </p:spTree>
    <p:extLst>
      <p:ext uri="{BB962C8B-B14F-4D97-AF65-F5344CB8AC3E}">
        <p14:creationId xmlns:p14="http://schemas.microsoft.com/office/powerpoint/2010/main" val="136101378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Prior</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works –</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Metrics</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5332248" cy="3886200"/>
          </a:xfrm>
        </p:spPr>
        <p:txBody>
          <a:bodyPr/>
          <a:lstStyle/>
          <a:p>
            <a:r>
              <a:rPr lang="en-US" altLang="zh-CN" dirty="0"/>
              <a:t>Model-based</a:t>
            </a:r>
          </a:p>
          <a:p>
            <a:pPr lvl="1"/>
            <a:r>
              <a:rPr lang="en-US" altLang="zh-CN" dirty="0"/>
              <a:t>Wight divergence</a:t>
            </a:r>
            <a:r>
              <a:rPr lang="en-US" altLang="zh-CN" i="0" baseline="30000" dirty="0">
                <a:latin typeface="Times New Roman" panose="02020603050405020304" pitchFamily="18" charset="0"/>
                <a:cs typeface="Times New Roman" panose="02020603050405020304" pitchFamily="18" charset="0"/>
              </a:rPr>
              <a:t>[1]</a:t>
            </a:r>
            <a:endParaRPr lang="en-US" altLang="zh-CN" dirty="0"/>
          </a:p>
          <a:p>
            <a:pPr lvl="1"/>
            <a:endParaRPr lang="en-US" altLang="zh-CN" dirty="0"/>
          </a:p>
          <a:p>
            <a:pPr lvl="1"/>
            <a:endParaRPr lang="en-US" altLang="zh-CN" dirty="0"/>
          </a:p>
          <a:p>
            <a:pPr lvl="1"/>
            <a:r>
              <a:rPr lang="en-US" altLang="zh-CN" dirty="0"/>
              <a:t>Data skew</a:t>
            </a:r>
            <a:r>
              <a:rPr lang="en-US" altLang="zh-CN" i="0" baseline="30000" dirty="0">
                <a:latin typeface="Times New Roman" panose="02020603050405020304" pitchFamily="18" charset="0"/>
                <a:cs typeface="Times New Roman" panose="02020603050405020304" pitchFamily="18" charset="0"/>
              </a:rPr>
              <a:t>[2]</a:t>
            </a:r>
            <a:endParaRPr lang="en-US" altLang="zh-CN" dirty="0"/>
          </a:p>
          <a:p>
            <a:pPr lvl="1"/>
            <a:endParaRPr lang="en-US" altLang="zh-CN" dirty="0"/>
          </a:p>
          <a:p>
            <a:pPr lvl="1"/>
            <a:endParaRPr lang="en-US" altLang="zh-CN" dirty="0"/>
          </a:p>
          <a:p>
            <a:pPr lvl="1"/>
            <a:endParaRPr lang="en-US" altLang="zh-CN" dirty="0"/>
          </a:p>
          <a:p>
            <a:pPr lvl="1"/>
            <a:r>
              <a:rPr lang="en-US" altLang="zh-CN" dirty="0"/>
              <a:t>Client-Wise Non-IID Index</a:t>
            </a:r>
            <a:r>
              <a:rPr lang="en-US" altLang="zh-CN" i="0" baseline="30000" dirty="0">
                <a:latin typeface="Times New Roman" panose="02020603050405020304" pitchFamily="18" charset="0"/>
                <a:cs typeface="Times New Roman" panose="02020603050405020304" pitchFamily="18" charset="0"/>
              </a:rPr>
              <a:t>[3]</a:t>
            </a:r>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9</a:t>
            </a:fld>
            <a:endParaRPr lang="zh-CN" altLang="en-US" dirty="0"/>
          </a:p>
        </p:txBody>
      </p:sp>
      <p:sp>
        <p:nvSpPr>
          <p:cNvPr id="21" name="文本框 20">
            <a:extLst>
              <a:ext uri="{FF2B5EF4-FFF2-40B4-BE49-F238E27FC236}">
                <a16:creationId xmlns:a16="http://schemas.microsoft.com/office/drawing/2014/main" id="{B08BFEDD-1428-49FD-A5DC-87F75271FC2D}"/>
              </a:ext>
            </a:extLst>
          </p:cNvPr>
          <p:cNvSpPr txBox="1"/>
          <p:nvPr/>
        </p:nvSpPr>
        <p:spPr>
          <a:xfrm>
            <a:off x="198145" y="6201247"/>
            <a:ext cx="11181055" cy="1061829"/>
          </a:xfrm>
          <a:prstGeom prst="rect">
            <a:avLst/>
          </a:prstGeom>
          <a:noFill/>
        </p:spPr>
        <p:txBody>
          <a:bodyPr wrap="square" rtlCol="0">
            <a:spAutoFit/>
          </a:bodyPr>
          <a:lstStyle/>
          <a:p>
            <a:r>
              <a:rPr lang="en-US" altLang="zh-CN" sz="900" i="0" dirty="0">
                <a:latin typeface="+mn-lt"/>
                <a:ea typeface="宋体" panose="02010600030101010101" pitchFamily="2" charset="-122"/>
              </a:rPr>
              <a:t>[1] Zhao Y, Li M, Lai L, et al. Federated learning with non-</a:t>
            </a:r>
            <a:r>
              <a:rPr lang="en-US" altLang="zh-CN" sz="900" i="0" dirty="0" err="1">
                <a:latin typeface="+mn-lt"/>
                <a:ea typeface="宋体" panose="02010600030101010101" pitchFamily="2" charset="-122"/>
              </a:rPr>
              <a:t>iid</a:t>
            </a:r>
            <a:r>
              <a:rPr lang="en-US" altLang="zh-CN" sz="900" i="0" dirty="0">
                <a:latin typeface="+mn-lt"/>
                <a:ea typeface="宋体" panose="02010600030101010101" pitchFamily="2" charset="-122"/>
              </a:rPr>
              <a:t> data[J]. </a:t>
            </a:r>
            <a:r>
              <a:rPr lang="en-US" altLang="zh-CN" sz="900" i="0" dirty="0" err="1">
                <a:latin typeface="+mn-lt"/>
                <a:ea typeface="宋体" panose="02010600030101010101" pitchFamily="2" charset="-122"/>
              </a:rPr>
              <a:t>arXiv</a:t>
            </a:r>
            <a:r>
              <a:rPr lang="en-US" altLang="zh-CN" sz="900" i="0" dirty="0">
                <a:latin typeface="+mn-lt"/>
                <a:ea typeface="宋体" panose="02010600030101010101" pitchFamily="2" charset="-122"/>
              </a:rPr>
              <a:t> preprint arXiv:1806.00582, 2018.</a:t>
            </a:r>
          </a:p>
          <a:p>
            <a:r>
              <a:rPr lang="en-US" altLang="zh-CN" sz="900" i="0" dirty="0">
                <a:latin typeface="+mn-lt"/>
                <a:ea typeface="宋体" panose="02010600030101010101" pitchFamily="2" charset="-122"/>
              </a:rPr>
              <a:t>[2]</a:t>
            </a:r>
            <a:r>
              <a:rPr lang="en-US" altLang="zh-CN" sz="900" b="0" i="0" dirty="0">
                <a:solidFill>
                  <a:srgbClr val="222222"/>
                </a:solidFill>
                <a:effectLst/>
                <a:latin typeface="Arial" panose="020B0604020202020204" pitchFamily="34" charset="0"/>
              </a:rPr>
              <a:t> Haller M, Lenz C, </a:t>
            </a:r>
            <a:r>
              <a:rPr lang="en-US" altLang="zh-CN" sz="900" b="0" i="0" dirty="0" err="1">
                <a:solidFill>
                  <a:srgbClr val="222222"/>
                </a:solidFill>
                <a:effectLst/>
                <a:latin typeface="Arial" panose="020B0604020202020204" pitchFamily="34" charset="0"/>
              </a:rPr>
              <a:t>Nachtigall</a:t>
            </a:r>
            <a:r>
              <a:rPr lang="en-US" altLang="zh-CN" sz="900" b="0" i="0" dirty="0">
                <a:solidFill>
                  <a:srgbClr val="222222"/>
                </a:solidFill>
                <a:effectLst/>
                <a:latin typeface="Arial" panose="020B0604020202020204" pitchFamily="34" charset="0"/>
              </a:rPr>
              <a:t> R, et al. Handling non-</a:t>
            </a:r>
            <a:r>
              <a:rPr lang="en-US" altLang="zh-CN" sz="900" b="0" i="0" dirty="0" err="1">
                <a:solidFill>
                  <a:srgbClr val="222222"/>
                </a:solidFill>
                <a:effectLst/>
                <a:latin typeface="Arial" panose="020B0604020202020204" pitchFamily="34" charset="0"/>
              </a:rPr>
              <a:t>iid</a:t>
            </a:r>
            <a:r>
              <a:rPr lang="en-US" altLang="zh-CN" sz="900" b="0" i="0" dirty="0">
                <a:solidFill>
                  <a:srgbClr val="222222"/>
                </a:solidFill>
                <a:effectLst/>
                <a:latin typeface="Arial" panose="020B0604020202020204" pitchFamily="34" charset="0"/>
              </a:rPr>
              <a:t> data in federated learning: An experimental evaluation towards unified metrics[C]//2023 IEEE Intl Conf on Dependable, Autonomic and Secure Computing, Intl Conf on Pervasive Intelligence and Computing, Intl Conf on Cloud and Big Data Computing, Intl Conf on Cyber Science and Technology Congress (DASC/</a:t>
            </a:r>
            <a:r>
              <a:rPr lang="en-US" altLang="zh-CN" sz="900" b="0" i="0" dirty="0" err="1">
                <a:solidFill>
                  <a:srgbClr val="222222"/>
                </a:solidFill>
                <a:effectLst/>
                <a:latin typeface="Arial" panose="020B0604020202020204" pitchFamily="34" charset="0"/>
              </a:rPr>
              <a:t>PiCom</a:t>
            </a:r>
            <a:r>
              <a:rPr lang="en-US" altLang="zh-CN" sz="900" b="0" i="0" dirty="0">
                <a:solidFill>
                  <a:srgbClr val="222222"/>
                </a:solidFill>
                <a:effectLst/>
                <a:latin typeface="Arial" panose="020B0604020202020204" pitchFamily="34" charset="0"/>
              </a:rPr>
              <a:t>/</a:t>
            </a:r>
            <a:r>
              <a:rPr lang="en-US" altLang="zh-CN" sz="900" b="0" i="0" dirty="0" err="1">
                <a:solidFill>
                  <a:srgbClr val="222222"/>
                </a:solidFill>
                <a:effectLst/>
                <a:latin typeface="Arial" panose="020B0604020202020204" pitchFamily="34" charset="0"/>
              </a:rPr>
              <a:t>CBDCom</a:t>
            </a:r>
            <a:r>
              <a:rPr lang="en-US" altLang="zh-CN" sz="900" b="0" i="0" dirty="0">
                <a:solidFill>
                  <a:srgbClr val="222222"/>
                </a:solidFill>
                <a:effectLst/>
                <a:latin typeface="Arial" panose="020B0604020202020204" pitchFamily="34" charset="0"/>
              </a:rPr>
              <a:t>/</a:t>
            </a:r>
            <a:r>
              <a:rPr lang="en-US" altLang="zh-CN" sz="900" b="0" i="0" dirty="0" err="1">
                <a:solidFill>
                  <a:srgbClr val="222222"/>
                </a:solidFill>
                <a:effectLst/>
                <a:latin typeface="Arial" panose="020B0604020202020204" pitchFamily="34" charset="0"/>
              </a:rPr>
              <a:t>CyberSciTech</a:t>
            </a:r>
            <a:r>
              <a:rPr lang="en-US" altLang="zh-CN" sz="900" b="0" i="0" dirty="0">
                <a:solidFill>
                  <a:srgbClr val="222222"/>
                </a:solidFill>
                <a:effectLst/>
                <a:latin typeface="Arial" panose="020B0604020202020204" pitchFamily="34" charset="0"/>
              </a:rPr>
              <a:t>). IEEE, 2023: 0762-0770.</a:t>
            </a:r>
          </a:p>
          <a:p>
            <a:r>
              <a:rPr lang="en-US" altLang="zh-CN" sz="900" i="0" dirty="0">
                <a:solidFill>
                  <a:srgbClr val="222222"/>
                </a:solidFill>
                <a:latin typeface="Arial" panose="020B0604020202020204" pitchFamily="34" charset="0"/>
                <a:ea typeface="宋体" panose="02010600030101010101" pitchFamily="2" charset="-122"/>
              </a:rPr>
              <a:t>[3] Li A, Sun J, Wang B, et al. </a:t>
            </a:r>
            <a:r>
              <a:rPr lang="en-US" altLang="zh-CN" sz="900" i="0" dirty="0" err="1">
                <a:solidFill>
                  <a:srgbClr val="222222"/>
                </a:solidFill>
                <a:latin typeface="Arial" panose="020B0604020202020204" pitchFamily="34" charset="0"/>
                <a:ea typeface="宋体" panose="02010600030101010101" pitchFamily="2" charset="-122"/>
              </a:rPr>
              <a:t>Lotteryfl</a:t>
            </a:r>
            <a:r>
              <a:rPr lang="en-US" altLang="zh-CN" sz="900" i="0" dirty="0">
                <a:solidFill>
                  <a:srgbClr val="222222"/>
                </a:solidFill>
                <a:latin typeface="Arial" panose="020B0604020202020204" pitchFamily="34" charset="0"/>
                <a:ea typeface="宋体" panose="02010600030101010101" pitchFamily="2" charset="-122"/>
              </a:rPr>
              <a:t>: Personalized and communication-efficient federated learning with lottery ticket hypothesis on non-</a:t>
            </a:r>
            <a:r>
              <a:rPr lang="en-US" altLang="zh-CN" sz="900" i="0" dirty="0" err="1">
                <a:solidFill>
                  <a:srgbClr val="222222"/>
                </a:solidFill>
                <a:latin typeface="Arial" panose="020B0604020202020204" pitchFamily="34" charset="0"/>
                <a:ea typeface="宋体" panose="02010600030101010101" pitchFamily="2" charset="-122"/>
              </a:rPr>
              <a:t>iid</a:t>
            </a:r>
            <a:r>
              <a:rPr lang="en-US" altLang="zh-CN" sz="900" i="0" dirty="0">
                <a:solidFill>
                  <a:srgbClr val="222222"/>
                </a:solidFill>
                <a:latin typeface="Arial" panose="020B0604020202020204" pitchFamily="34" charset="0"/>
                <a:ea typeface="宋体" panose="02010600030101010101" pitchFamily="2" charset="-122"/>
              </a:rPr>
              <a:t> datasets[J]. </a:t>
            </a:r>
            <a:r>
              <a:rPr lang="en-US" altLang="zh-CN" sz="900" i="0" dirty="0" err="1">
                <a:solidFill>
                  <a:srgbClr val="222222"/>
                </a:solidFill>
                <a:latin typeface="Arial" panose="020B0604020202020204" pitchFamily="34" charset="0"/>
                <a:ea typeface="宋体" panose="02010600030101010101" pitchFamily="2" charset="-122"/>
              </a:rPr>
              <a:t>arXiv</a:t>
            </a:r>
            <a:r>
              <a:rPr lang="en-US" altLang="zh-CN" sz="900" i="0" dirty="0">
                <a:solidFill>
                  <a:srgbClr val="222222"/>
                </a:solidFill>
                <a:latin typeface="Arial" panose="020B0604020202020204" pitchFamily="34" charset="0"/>
                <a:ea typeface="宋体" panose="02010600030101010101" pitchFamily="2" charset="-122"/>
              </a:rPr>
              <a:t> preprint arXiv:2008.03371, 2020.</a:t>
            </a:r>
          </a:p>
          <a:p>
            <a:r>
              <a:rPr lang="en-US" altLang="zh-CN" sz="900" i="0" dirty="0">
                <a:solidFill>
                  <a:srgbClr val="222222"/>
                </a:solidFill>
                <a:latin typeface="Arial" panose="020B0604020202020204" pitchFamily="34" charset="0"/>
                <a:ea typeface="宋体" panose="02010600030101010101" pitchFamily="2" charset="-122"/>
              </a:rPr>
              <a:t>[4] Zawad S, Ali A, Chen P Y, et al. Curse or redemption? how data heterogeneity affects the robustness of federated learning[C]//Proceedings of the AAAI conference on artificial intelligence. 2021, 35(12): 10807-10814.</a:t>
            </a:r>
          </a:p>
          <a:p>
            <a:r>
              <a:rPr lang="en-US" altLang="zh-CN" sz="900" i="0" dirty="0">
                <a:solidFill>
                  <a:srgbClr val="222222"/>
                </a:solidFill>
                <a:latin typeface="Arial" panose="020B0604020202020204" pitchFamily="34" charset="0"/>
                <a:ea typeface="宋体" panose="02010600030101010101" pitchFamily="2" charset="-122"/>
              </a:rPr>
              <a:t>[5] Wen H, Wu Y, Hu J, et al. Communication-efficient federated learning on non-IID data using two-step knowledge distillation[J]. IEEE Internet of Things Journal, 2023, 10(19): 17307-17322.</a:t>
            </a:r>
            <a:endParaRPr lang="zh-CN" altLang="en-US" sz="900" i="0" dirty="0">
              <a:latin typeface="+mn-lt"/>
              <a:ea typeface="宋体" panose="02010600030101010101" pitchFamily="2" charset="-122"/>
            </a:endParaRPr>
          </a:p>
        </p:txBody>
      </p:sp>
      <p:sp>
        <p:nvSpPr>
          <p:cNvPr id="13" name="内容占位符 2">
            <a:extLst>
              <a:ext uri="{FF2B5EF4-FFF2-40B4-BE49-F238E27FC236}">
                <a16:creationId xmlns:a16="http://schemas.microsoft.com/office/drawing/2014/main" id="{E57E346A-CDB7-4F77-9697-72E27E7E4D50}"/>
              </a:ext>
            </a:extLst>
          </p:cNvPr>
          <p:cNvSpPr txBox="1">
            <a:spLocks/>
          </p:cNvSpPr>
          <p:nvPr/>
        </p:nvSpPr>
        <p:spPr bwMode="auto">
          <a:xfrm>
            <a:off x="5700386" y="1330457"/>
            <a:ext cx="5332248"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i="0" kern="0" dirty="0"/>
              <a:t>Data-based</a:t>
            </a:r>
          </a:p>
          <a:p>
            <a:pPr lvl="1"/>
            <a:r>
              <a:rPr lang="en-US" altLang="zh-CN" i="0" kern="0" dirty="0"/>
              <a:t>Heterogeneity Index</a:t>
            </a:r>
            <a:r>
              <a:rPr lang="en-US" altLang="zh-CN" i="0" baseline="30000" dirty="0">
                <a:latin typeface="Times New Roman" panose="02020603050405020304" pitchFamily="18" charset="0"/>
                <a:cs typeface="Times New Roman" panose="02020603050405020304" pitchFamily="18" charset="0"/>
              </a:rPr>
              <a:t>[4]</a:t>
            </a:r>
            <a:endParaRPr lang="en-US" altLang="zh-CN" i="0" kern="0" dirty="0"/>
          </a:p>
          <a:p>
            <a:pPr lvl="1"/>
            <a:endParaRPr lang="en-US" altLang="zh-CN" i="0" kern="0" dirty="0"/>
          </a:p>
          <a:p>
            <a:pPr lvl="1"/>
            <a:endParaRPr lang="en-US" altLang="zh-CN" i="0" kern="0" dirty="0"/>
          </a:p>
          <a:p>
            <a:pPr lvl="1"/>
            <a:r>
              <a:rPr lang="en-US" altLang="zh-CN" i="0" kern="0" dirty="0"/>
              <a:t>Imbalance Ratio</a:t>
            </a:r>
            <a:r>
              <a:rPr lang="en-US" altLang="zh-CN" i="0" baseline="30000" dirty="0">
                <a:latin typeface="Times New Roman" panose="02020603050405020304" pitchFamily="18" charset="0"/>
                <a:cs typeface="Times New Roman" panose="02020603050405020304" pitchFamily="18" charset="0"/>
              </a:rPr>
              <a:t>[5]</a:t>
            </a:r>
            <a:endParaRPr lang="en-US" altLang="zh-CN" i="0" kern="0" dirty="0"/>
          </a:p>
          <a:p>
            <a:pPr lvl="1"/>
            <a:endParaRPr lang="en-US" altLang="zh-CN" i="0" kern="0" dirty="0"/>
          </a:p>
          <a:p>
            <a:pPr lvl="1"/>
            <a:endParaRPr lang="en-US" altLang="zh-CN" i="0" kern="0" dirty="0"/>
          </a:p>
          <a:p>
            <a:pPr lvl="1"/>
            <a:endParaRPr lang="en-US" altLang="zh-CN" i="0" kern="0" dirty="0"/>
          </a:p>
          <a:p>
            <a:pPr marL="914400" lvl="2" indent="0">
              <a:buFont typeface="Wingdings" pitchFamily="-107" charset="2"/>
              <a:buNone/>
            </a:pPr>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p:txBody>
      </p:sp>
      <p:graphicFrame>
        <p:nvGraphicFramePr>
          <p:cNvPr id="14" name="对象 13">
            <a:extLst>
              <a:ext uri="{FF2B5EF4-FFF2-40B4-BE49-F238E27FC236}">
                <a16:creationId xmlns:a16="http://schemas.microsoft.com/office/drawing/2014/main" id="{B7BC7FFE-C634-44E2-A217-5C93280F62CA}"/>
              </a:ext>
            </a:extLst>
          </p:cNvPr>
          <p:cNvGraphicFramePr>
            <a:graphicFrameLocks noChangeAspect="1"/>
          </p:cNvGraphicFramePr>
          <p:nvPr>
            <p:extLst>
              <p:ext uri="{D42A27DB-BD31-4B8C-83A1-F6EECF244321}">
                <p14:modId xmlns:p14="http://schemas.microsoft.com/office/powerpoint/2010/main" val="1934946066"/>
              </p:ext>
            </p:extLst>
          </p:nvPr>
        </p:nvGraphicFramePr>
        <p:xfrm>
          <a:off x="1706179" y="2271948"/>
          <a:ext cx="2119313" cy="882650"/>
        </p:xfrm>
        <a:graphic>
          <a:graphicData uri="http://schemas.openxmlformats.org/presentationml/2006/ole">
            <mc:AlternateContent xmlns:mc="http://schemas.openxmlformats.org/markup-compatibility/2006">
              <mc:Choice xmlns:v="urn:schemas-microsoft-com:vml" Requires="v">
                <p:oleObj spid="_x0000_s15587" name="Equation" r:id="rId4" imgW="1218960" imgH="507960" progId="Equation.DSMT4">
                  <p:embed/>
                </p:oleObj>
              </mc:Choice>
              <mc:Fallback>
                <p:oleObj name="Equation" r:id="rId4" imgW="1218960" imgH="507960" progId="Equation.DSMT4">
                  <p:embed/>
                  <p:pic>
                    <p:nvPicPr>
                      <p:cNvPr id="8" name="对象 7">
                        <a:extLst>
                          <a:ext uri="{FF2B5EF4-FFF2-40B4-BE49-F238E27FC236}">
                            <a16:creationId xmlns:a16="http://schemas.microsoft.com/office/drawing/2014/main" id="{CC7FB8E6-CCC3-47E1-8D1E-18F8BF9040EB}"/>
                          </a:ext>
                        </a:extLst>
                      </p:cNvPr>
                      <p:cNvPicPr/>
                      <p:nvPr/>
                    </p:nvPicPr>
                    <p:blipFill>
                      <a:blip r:embed="rId5"/>
                      <a:stretch>
                        <a:fillRect/>
                      </a:stretch>
                    </p:blipFill>
                    <p:spPr>
                      <a:xfrm>
                        <a:off x="1706179" y="2271948"/>
                        <a:ext cx="2119313" cy="88265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3654BFE3-F8CB-430B-9B6F-1ED2BC500598}"/>
              </a:ext>
            </a:extLst>
          </p:cNvPr>
          <p:cNvGraphicFramePr>
            <a:graphicFrameLocks noChangeAspect="1"/>
          </p:cNvGraphicFramePr>
          <p:nvPr>
            <p:extLst>
              <p:ext uri="{D42A27DB-BD31-4B8C-83A1-F6EECF244321}">
                <p14:modId xmlns:p14="http://schemas.microsoft.com/office/powerpoint/2010/main" val="3886067246"/>
              </p:ext>
            </p:extLst>
          </p:nvPr>
        </p:nvGraphicFramePr>
        <p:xfrm>
          <a:off x="1294415" y="3429000"/>
          <a:ext cx="2716213" cy="1214437"/>
        </p:xfrm>
        <a:graphic>
          <a:graphicData uri="http://schemas.openxmlformats.org/presentationml/2006/ole">
            <mc:AlternateContent xmlns:mc="http://schemas.openxmlformats.org/markup-compatibility/2006">
              <mc:Choice xmlns:v="urn:schemas-microsoft-com:vml" Requires="v">
                <p:oleObj spid="_x0000_s15588" name="Equation" r:id="rId6" imgW="1562040" imgH="698400" progId="Equation.DSMT4">
                  <p:embed/>
                </p:oleObj>
              </mc:Choice>
              <mc:Fallback>
                <p:oleObj name="Equation" r:id="rId6" imgW="1562040" imgH="698400" progId="Equation.DSMT4">
                  <p:embed/>
                  <p:pic>
                    <p:nvPicPr>
                      <p:cNvPr id="14" name="对象 13">
                        <a:extLst>
                          <a:ext uri="{FF2B5EF4-FFF2-40B4-BE49-F238E27FC236}">
                            <a16:creationId xmlns:a16="http://schemas.microsoft.com/office/drawing/2014/main" id="{B7BC7FFE-C634-44E2-A217-5C93280F62CA}"/>
                          </a:ext>
                        </a:extLst>
                      </p:cNvPr>
                      <p:cNvPicPr/>
                      <p:nvPr/>
                    </p:nvPicPr>
                    <p:blipFill>
                      <a:blip r:embed="rId7"/>
                      <a:stretch>
                        <a:fillRect/>
                      </a:stretch>
                    </p:blipFill>
                    <p:spPr>
                      <a:xfrm>
                        <a:off x="1294415" y="3429000"/>
                        <a:ext cx="2716213" cy="1214437"/>
                      </a:xfrm>
                      <a:prstGeom prst="rect">
                        <a:avLst/>
                      </a:prstGeom>
                    </p:spPr>
                  </p:pic>
                </p:oleObj>
              </mc:Fallback>
            </mc:AlternateContent>
          </a:graphicData>
        </a:graphic>
      </p:graphicFrame>
      <p:pic>
        <p:nvPicPr>
          <p:cNvPr id="8" name="图片 7">
            <a:extLst>
              <a:ext uri="{FF2B5EF4-FFF2-40B4-BE49-F238E27FC236}">
                <a16:creationId xmlns:a16="http://schemas.microsoft.com/office/drawing/2014/main" id="{AFF0BC54-EB52-432B-8F86-1602AF7F871C}"/>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716101" y="5017866"/>
            <a:ext cx="4674585" cy="1077296"/>
          </a:xfrm>
          <a:prstGeom prst="rect">
            <a:avLst/>
          </a:prstGeom>
        </p:spPr>
      </p:pic>
      <p:graphicFrame>
        <p:nvGraphicFramePr>
          <p:cNvPr id="17" name="对象 16">
            <a:extLst>
              <a:ext uri="{FF2B5EF4-FFF2-40B4-BE49-F238E27FC236}">
                <a16:creationId xmlns:a16="http://schemas.microsoft.com/office/drawing/2014/main" id="{3ECE81A5-07E4-4CDB-BF9A-F3A4E2894DAB}"/>
              </a:ext>
            </a:extLst>
          </p:cNvPr>
          <p:cNvGraphicFramePr>
            <a:graphicFrameLocks noChangeAspect="1"/>
          </p:cNvGraphicFramePr>
          <p:nvPr>
            <p:extLst>
              <p:ext uri="{D42A27DB-BD31-4B8C-83A1-F6EECF244321}">
                <p14:modId xmlns:p14="http://schemas.microsoft.com/office/powerpoint/2010/main" val="2851837985"/>
              </p:ext>
            </p:extLst>
          </p:nvPr>
        </p:nvGraphicFramePr>
        <p:xfrm>
          <a:off x="6826250" y="2136335"/>
          <a:ext cx="2252663" cy="684213"/>
        </p:xfrm>
        <a:graphic>
          <a:graphicData uri="http://schemas.openxmlformats.org/presentationml/2006/ole">
            <mc:AlternateContent xmlns:mc="http://schemas.openxmlformats.org/markup-compatibility/2006">
              <mc:Choice xmlns:v="urn:schemas-microsoft-com:vml" Requires="v">
                <p:oleObj spid="_x0000_s15589" name="Equation" r:id="rId9" imgW="1295280" imgH="393480" progId="Equation.DSMT4">
                  <p:embed/>
                </p:oleObj>
              </mc:Choice>
              <mc:Fallback>
                <p:oleObj name="Equation" r:id="rId9" imgW="1295280" imgH="393480" progId="Equation.DSMT4">
                  <p:embed/>
                  <p:pic>
                    <p:nvPicPr>
                      <p:cNvPr id="14" name="对象 13">
                        <a:extLst>
                          <a:ext uri="{FF2B5EF4-FFF2-40B4-BE49-F238E27FC236}">
                            <a16:creationId xmlns:a16="http://schemas.microsoft.com/office/drawing/2014/main" id="{B7BC7FFE-C634-44E2-A217-5C93280F62CA}"/>
                          </a:ext>
                        </a:extLst>
                      </p:cNvPr>
                      <p:cNvPicPr/>
                      <p:nvPr/>
                    </p:nvPicPr>
                    <p:blipFill>
                      <a:blip r:embed="rId10"/>
                      <a:stretch>
                        <a:fillRect/>
                      </a:stretch>
                    </p:blipFill>
                    <p:spPr>
                      <a:xfrm>
                        <a:off x="6826250" y="2136335"/>
                        <a:ext cx="2252663" cy="68421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736BB9CC-C47E-40B7-85C5-3B42D983ECB9}"/>
              </a:ext>
            </a:extLst>
          </p:cNvPr>
          <p:cNvGraphicFramePr>
            <a:graphicFrameLocks noChangeAspect="1"/>
          </p:cNvGraphicFramePr>
          <p:nvPr>
            <p:extLst>
              <p:ext uri="{D42A27DB-BD31-4B8C-83A1-F6EECF244321}">
                <p14:modId xmlns:p14="http://schemas.microsoft.com/office/powerpoint/2010/main" val="1422108274"/>
              </p:ext>
            </p:extLst>
          </p:nvPr>
        </p:nvGraphicFramePr>
        <p:xfrm>
          <a:off x="7186612" y="3366333"/>
          <a:ext cx="1347788" cy="949325"/>
        </p:xfrm>
        <a:graphic>
          <a:graphicData uri="http://schemas.openxmlformats.org/presentationml/2006/ole">
            <mc:AlternateContent xmlns:mc="http://schemas.openxmlformats.org/markup-compatibility/2006">
              <mc:Choice xmlns:v="urn:schemas-microsoft-com:vml" Requires="v">
                <p:oleObj spid="_x0000_s15590" name="Equation" r:id="rId11" imgW="774360" imgH="545760" progId="Equation.DSMT4">
                  <p:embed/>
                </p:oleObj>
              </mc:Choice>
              <mc:Fallback>
                <p:oleObj name="Equation" r:id="rId11" imgW="774360" imgH="545760" progId="Equation.DSMT4">
                  <p:embed/>
                  <p:pic>
                    <p:nvPicPr>
                      <p:cNvPr id="17" name="对象 16">
                        <a:extLst>
                          <a:ext uri="{FF2B5EF4-FFF2-40B4-BE49-F238E27FC236}">
                            <a16:creationId xmlns:a16="http://schemas.microsoft.com/office/drawing/2014/main" id="{3ECE81A5-07E4-4CDB-BF9A-F3A4E2894DAB}"/>
                          </a:ext>
                        </a:extLst>
                      </p:cNvPr>
                      <p:cNvPicPr/>
                      <p:nvPr/>
                    </p:nvPicPr>
                    <p:blipFill>
                      <a:blip r:embed="rId12"/>
                      <a:stretch>
                        <a:fillRect/>
                      </a:stretch>
                    </p:blipFill>
                    <p:spPr>
                      <a:xfrm>
                        <a:off x="7186612" y="3366333"/>
                        <a:ext cx="1347788" cy="949325"/>
                      </a:xfrm>
                      <a:prstGeom prst="rect">
                        <a:avLst/>
                      </a:prstGeom>
                    </p:spPr>
                  </p:pic>
                </p:oleObj>
              </mc:Fallback>
            </mc:AlternateContent>
          </a:graphicData>
        </a:graphic>
      </p:graphicFrame>
    </p:spTree>
    <p:extLst>
      <p:ext uri="{BB962C8B-B14F-4D97-AF65-F5344CB8AC3E}">
        <p14:creationId xmlns:p14="http://schemas.microsoft.com/office/powerpoint/2010/main" val="348120858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Prior</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works –</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FL</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10972800" cy="3886200"/>
          </a:xfrm>
        </p:spPr>
        <p:txBody>
          <a:bodyPr/>
          <a:lstStyle/>
          <a:p>
            <a:r>
              <a:rPr lang="en-US" altLang="zh-CN" dirty="0"/>
              <a:t>Solutions: Data sharing &amp;</a:t>
            </a:r>
            <a:r>
              <a:rPr lang="zh-CN" altLang="en-US" dirty="0"/>
              <a:t> </a:t>
            </a:r>
            <a:r>
              <a:rPr lang="en-US" altLang="zh-CN" dirty="0"/>
              <a:t>enhancement.</a:t>
            </a:r>
          </a:p>
          <a:p>
            <a:pPr lvl="1"/>
            <a:r>
              <a:rPr lang="en-US" altLang="zh-CN" dirty="0"/>
              <a:t>The accuracy can be increased by 30% with only 5% globally shared data.</a:t>
            </a:r>
            <a:r>
              <a:rPr lang="en-US" altLang="zh-CN" i="0" baseline="30000" dirty="0">
                <a:latin typeface="Times New Roman" panose="02020603050405020304" pitchFamily="18" charset="0"/>
                <a:cs typeface="Times New Roman" panose="02020603050405020304" pitchFamily="18" charset="0"/>
              </a:rPr>
              <a:t> [1]</a:t>
            </a: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endParaRPr lang="en-US" altLang="zh-CN" baseline="30000" dirty="0">
              <a:latin typeface="Times New Roman" panose="02020603050405020304" pitchFamily="18" charset="0"/>
              <a:cs typeface="Times New Roman" panose="02020603050405020304" pitchFamily="18" charset="0"/>
            </a:endParaRPr>
          </a:p>
          <a:p>
            <a:pPr lvl="1"/>
            <a:r>
              <a:rPr lang="en-US" altLang="zh-CN" dirty="0"/>
              <a:t>GANs can release the privacy concern of sharing data</a:t>
            </a:r>
            <a:r>
              <a:rPr lang="en-US" altLang="zh-CN" i="0" baseline="30000" dirty="0">
                <a:latin typeface="Times New Roman" panose="02020603050405020304" pitchFamily="18" charset="0"/>
                <a:cs typeface="Times New Roman" panose="02020603050405020304" pitchFamily="18" charset="0"/>
              </a:rPr>
              <a:t>[2]</a:t>
            </a:r>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10</a:t>
            </a:fld>
            <a:endParaRPr lang="zh-CN" altLang="en-US"/>
          </a:p>
        </p:txBody>
      </p:sp>
      <p:sp>
        <p:nvSpPr>
          <p:cNvPr id="21" name="文本框 20">
            <a:extLst>
              <a:ext uri="{FF2B5EF4-FFF2-40B4-BE49-F238E27FC236}">
                <a16:creationId xmlns:a16="http://schemas.microsoft.com/office/drawing/2014/main" id="{B08BFEDD-1428-49FD-A5DC-87F75271FC2D}"/>
              </a:ext>
            </a:extLst>
          </p:cNvPr>
          <p:cNvSpPr txBox="1"/>
          <p:nvPr/>
        </p:nvSpPr>
        <p:spPr>
          <a:xfrm>
            <a:off x="198145" y="6201247"/>
            <a:ext cx="11181055" cy="507831"/>
          </a:xfrm>
          <a:prstGeom prst="rect">
            <a:avLst/>
          </a:prstGeom>
          <a:noFill/>
        </p:spPr>
        <p:txBody>
          <a:bodyPr wrap="square" rtlCol="0">
            <a:spAutoFit/>
          </a:bodyPr>
          <a:lstStyle/>
          <a:p>
            <a:r>
              <a:rPr lang="en-US" altLang="zh-CN" sz="900" i="0" dirty="0">
                <a:latin typeface="+mn-lt"/>
                <a:ea typeface="宋体" panose="02010600030101010101" pitchFamily="2" charset="-122"/>
              </a:rPr>
              <a:t>[1]</a:t>
            </a:r>
            <a:r>
              <a:rPr lang="en-US" altLang="zh-CN" sz="900" b="0" i="0" dirty="0">
                <a:solidFill>
                  <a:srgbClr val="222222"/>
                </a:solidFill>
                <a:effectLst/>
                <a:latin typeface="Arial" panose="020B0604020202020204" pitchFamily="34" charset="0"/>
              </a:rPr>
              <a:t> Zhao Y, Li M, Lai L, et al. Federated learning with non-</a:t>
            </a:r>
            <a:r>
              <a:rPr lang="en-US" altLang="zh-CN" sz="900" b="0" i="0" dirty="0" err="1">
                <a:solidFill>
                  <a:srgbClr val="222222"/>
                </a:solidFill>
                <a:effectLst/>
                <a:latin typeface="Arial" panose="020B0604020202020204" pitchFamily="34" charset="0"/>
              </a:rPr>
              <a:t>iid</a:t>
            </a:r>
            <a:r>
              <a:rPr lang="en-US" altLang="zh-CN" sz="900" b="0" i="0" dirty="0">
                <a:solidFill>
                  <a:srgbClr val="222222"/>
                </a:solidFill>
                <a:effectLst/>
                <a:latin typeface="Arial" panose="020B0604020202020204" pitchFamily="34" charset="0"/>
              </a:rPr>
              <a:t> data[J]. </a:t>
            </a:r>
            <a:r>
              <a:rPr lang="en-US" altLang="zh-CN" sz="900" b="0" i="0" dirty="0" err="1">
                <a:solidFill>
                  <a:srgbClr val="222222"/>
                </a:solidFill>
                <a:effectLst/>
                <a:latin typeface="Arial" panose="020B0604020202020204" pitchFamily="34" charset="0"/>
              </a:rPr>
              <a:t>arXiv</a:t>
            </a:r>
            <a:r>
              <a:rPr lang="en-US" altLang="zh-CN" sz="900" b="0" i="0" dirty="0">
                <a:solidFill>
                  <a:srgbClr val="222222"/>
                </a:solidFill>
                <a:effectLst/>
                <a:latin typeface="Arial" panose="020B0604020202020204" pitchFamily="34" charset="0"/>
              </a:rPr>
              <a:t> preprint arXiv:1806.00582, 2018.</a:t>
            </a:r>
          </a:p>
          <a:p>
            <a:r>
              <a:rPr lang="en-US" altLang="zh-CN" sz="900" b="0" i="0" dirty="0">
                <a:solidFill>
                  <a:srgbClr val="222222"/>
                </a:solidFill>
                <a:effectLst/>
                <a:latin typeface="Arial" panose="020B0604020202020204" pitchFamily="34" charset="0"/>
              </a:rPr>
              <a:t>[2] Ma Z, Liu Y, Miao Y, et al. </a:t>
            </a:r>
            <a:r>
              <a:rPr lang="en-US" altLang="zh-CN" sz="900" b="0" i="0" dirty="0" err="1">
                <a:solidFill>
                  <a:srgbClr val="222222"/>
                </a:solidFill>
                <a:effectLst/>
                <a:latin typeface="Arial" panose="020B0604020202020204" pitchFamily="34" charset="0"/>
              </a:rPr>
              <a:t>Flgan</a:t>
            </a:r>
            <a:r>
              <a:rPr lang="en-US" altLang="zh-CN" sz="900" b="0" i="0" dirty="0">
                <a:solidFill>
                  <a:srgbClr val="222222"/>
                </a:solidFill>
                <a:effectLst/>
                <a:latin typeface="Arial" panose="020B0604020202020204" pitchFamily="34" charset="0"/>
              </a:rPr>
              <a:t>: Gan-based unbiased federated learning under non-</a:t>
            </a:r>
            <a:r>
              <a:rPr lang="en-US" altLang="zh-CN" sz="900" b="0" i="0" dirty="0" err="1">
                <a:solidFill>
                  <a:srgbClr val="222222"/>
                </a:solidFill>
                <a:effectLst/>
                <a:latin typeface="Arial" panose="020B0604020202020204" pitchFamily="34" charset="0"/>
              </a:rPr>
              <a:t>iid</a:t>
            </a:r>
            <a:r>
              <a:rPr lang="en-US" altLang="zh-CN" sz="900" b="0" i="0" dirty="0">
                <a:solidFill>
                  <a:srgbClr val="222222"/>
                </a:solidFill>
                <a:effectLst/>
                <a:latin typeface="Arial" panose="020B0604020202020204" pitchFamily="34" charset="0"/>
              </a:rPr>
              <a:t> settings[J]. IEEE Transactions on Knowledge and Data Engineering, 2023, 36(4): 1566-1581.</a:t>
            </a:r>
          </a:p>
          <a:p>
            <a:endParaRPr lang="zh-CN" altLang="en-US" sz="900" i="0" dirty="0">
              <a:latin typeface="+mn-lt"/>
              <a:ea typeface="宋体" panose="02010600030101010101" pitchFamily="2" charset="-122"/>
            </a:endParaRPr>
          </a:p>
        </p:txBody>
      </p:sp>
      <p:pic>
        <p:nvPicPr>
          <p:cNvPr id="6" name="图片 5">
            <a:extLst>
              <a:ext uri="{FF2B5EF4-FFF2-40B4-BE49-F238E27FC236}">
                <a16:creationId xmlns:a16="http://schemas.microsoft.com/office/drawing/2014/main" id="{0EDE92DC-7648-4EE3-834D-EBAC2FC2D497}"/>
              </a:ext>
            </a:extLst>
          </p:cNvPr>
          <p:cNvPicPr>
            <a:picLocks noChangeAspect="1"/>
          </p:cNvPicPr>
          <p:nvPr/>
        </p:nvPicPr>
        <p:blipFill>
          <a:blip r:embed="rId3"/>
          <a:stretch>
            <a:fillRect/>
          </a:stretch>
        </p:blipFill>
        <p:spPr>
          <a:xfrm>
            <a:off x="928414" y="2141842"/>
            <a:ext cx="9340193" cy="1911853"/>
          </a:xfrm>
          <a:prstGeom prst="rect">
            <a:avLst/>
          </a:prstGeom>
        </p:spPr>
      </p:pic>
      <p:pic>
        <p:nvPicPr>
          <p:cNvPr id="10" name="图片 9">
            <a:extLst>
              <a:ext uri="{FF2B5EF4-FFF2-40B4-BE49-F238E27FC236}">
                <a16:creationId xmlns:a16="http://schemas.microsoft.com/office/drawing/2014/main" id="{D6C2DB03-596C-42ED-BDCF-B4BCB99DB540}"/>
              </a:ext>
            </a:extLst>
          </p:cNvPr>
          <p:cNvPicPr>
            <a:picLocks noChangeAspect="1"/>
          </p:cNvPicPr>
          <p:nvPr/>
        </p:nvPicPr>
        <p:blipFill>
          <a:blip r:embed="rId4"/>
          <a:stretch>
            <a:fillRect/>
          </a:stretch>
        </p:blipFill>
        <p:spPr>
          <a:xfrm>
            <a:off x="7490202" y="4053695"/>
            <a:ext cx="3692805" cy="2133090"/>
          </a:xfrm>
          <a:prstGeom prst="rect">
            <a:avLst/>
          </a:prstGeom>
        </p:spPr>
      </p:pic>
    </p:spTree>
    <p:extLst>
      <p:ext uri="{BB962C8B-B14F-4D97-AF65-F5344CB8AC3E}">
        <p14:creationId xmlns:p14="http://schemas.microsoft.com/office/powerpoint/2010/main" val="108446921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Existing</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research</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FL</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10972800" cy="3886200"/>
          </a:xfrm>
        </p:spPr>
        <p:txBody>
          <a:bodyPr/>
          <a:lstStyle/>
          <a:p>
            <a:r>
              <a:rPr lang="en-US" altLang="zh-CN" dirty="0"/>
              <a:t>Solutions: Clustering clients</a:t>
            </a:r>
          </a:p>
          <a:p>
            <a:pPr lvl="1"/>
            <a:r>
              <a:rPr lang="en-US" altLang="zh-CN" dirty="0" err="1"/>
              <a:t>Cominer</a:t>
            </a:r>
            <a:r>
              <a:rPr lang="en-US" altLang="zh-CN" dirty="0"/>
              <a:t> FL</a:t>
            </a:r>
            <a:r>
              <a:rPr lang="en-US" altLang="zh-CN" i="0" baseline="30000" dirty="0">
                <a:latin typeface="Times New Roman" panose="02020603050405020304" pitchFamily="18" charset="0"/>
                <a:cs typeface="Times New Roman" panose="02020603050405020304" pitchFamily="18" charset="0"/>
              </a:rPr>
              <a:t>[1]</a:t>
            </a:r>
            <a:r>
              <a:rPr lang="en-US" altLang="zh-CN" dirty="0"/>
              <a:t>: Label Cluster + Vertical Comparison </a:t>
            </a:r>
          </a:p>
          <a:p>
            <a:pPr lvl="2"/>
            <a:r>
              <a:rPr lang="en-US" altLang="zh-CN" dirty="0"/>
              <a:t>Data similarity  </a:t>
            </a:r>
          </a:p>
          <a:p>
            <a:pPr marL="914400" lvl="2" indent="0">
              <a:buNone/>
            </a:pPr>
            <a:r>
              <a:rPr lang="en-US" altLang="zh-CN" dirty="0"/>
              <a:t>	</a:t>
            </a:r>
          </a:p>
          <a:p>
            <a:pPr lvl="2"/>
            <a:endParaRPr lang="en-US" altLang="zh-CN" dirty="0"/>
          </a:p>
          <a:p>
            <a:pPr lvl="2"/>
            <a:r>
              <a:rPr lang="en-US" altLang="zh-CN" dirty="0"/>
              <a:t>Threshold   :based on Datasets.</a:t>
            </a:r>
          </a:p>
          <a:p>
            <a:pPr lvl="2"/>
            <a:endParaRPr lang="en-US" altLang="zh-CN" dirty="0"/>
          </a:p>
          <a:p>
            <a:pPr lvl="2"/>
            <a:endParaRPr lang="en-US" altLang="zh-CN" dirty="0"/>
          </a:p>
          <a:p>
            <a:pPr lvl="2"/>
            <a:endParaRPr lang="en-US" altLang="zh-CN" dirty="0"/>
          </a:p>
          <a:p>
            <a:pPr lvl="2"/>
            <a:endParaRPr lang="en-US" altLang="zh-CN" dirty="0"/>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11</a:t>
            </a:fld>
            <a:endParaRPr lang="zh-CN" altLang="en-US"/>
          </a:p>
        </p:txBody>
      </p:sp>
      <p:sp>
        <p:nvSpPr>
          <p:cNvPr id="21" name="文本框 20">
            <a:extLst>
              <a:ext uri="{FF2B5EF4-FFF2-40B4-BE49-F238E27FC236}">
                <a16:creationId xmlns:a16="http://schemas.microsoft.com/office/drawing/2014/main" id="{B08BFEDD-1428-49FD-A5DC-87F75271FC2D}"/>
              </a:ext>
            </a:extLst>
          </p:cNvPr>
          <p:cNvSpPr txBox="1"/>
          <p:nvPr/>
        </p:nvSpPr>
        <p:spPr>
          <a:xfrm>
            <a:off x="198145" y="6201247"/>
            <a:ext cx="11181055" cy="369332"/>
          </a:xfrm>
          <a:prstGeom prst="rect">
            <a:avLst/>
          </a:prstGeom>
          <a:noFill/>
        </p:spPr>
        <p:txBody>
          <a:bodyPr wrap="square" rtlCol="0">
            <a:spAutoFit/>
          </a:bodyPr>
          <a:lstStyle/>
          <a:p>
            <a:r>
              <a:rPr lang="en-US" altLang="zh-CN" sz="900" i="0" dirty="0">
                <a:latin typeface="+mn-lt"/>
                <a:ea typeface="宋体" panose="02010600030101010101" pitchFamily="2" charset="-122"/>
              </a:rPr>
              <a:t>[1]</a:t>
            </a:r>
            <a:r>
              <a:rPr lang="en-US" altLang="zh-CN" sz="900" b="0" i="0" dirty="0">
                <a:solidFill>
                  <a:srgbClr val="222222"/>
                </a:solidFill>
                <a:effectLst/>
                <a:latin typeface="Arial" panose="020B0604020202020204" pitchFamily="34" charset="0"/>
              </a:rPr>
              <a:t> Zou H, Zhang Y, Que X, et al. Efficient federated learning under non-IID conditions with attackers[C]//Proceedings of the 1st ACM Workshop on Data Privacy and Federated Learning Technologies for Mobile Edge Network. 2022: 13-18.</a:t>
            </a:r>
            <a:endParaRPr lang="zh-CN" altLang="en-US" sz="900" i="0" dirty="0">
              <a:latin typeface="+mn-lt"/>
              <a:ea typeface="宋体" panose="02010600030101010101" pitchFamily="2" charset="-122"/>
            </a:endParaRPr>
          </a:p>
        </p:txBody>
      </p:sp>
      <p:pic>
        <p:nvPicPr>
          <p:cNvPr id="7" name="图片 6">
            <a:extLst>
              <a:ext uri="{FF2B5EF4-FFF2-40B4-BE49-F238E27FC236}">
                <a16:creationId xmlns:a16="http://schemas.microsoft.com/office/drawing/2014/main" id="{07C7A84B-EFC1-4491-BC3C-E1E926CFC29F}"/>
              </a:ext>
            </a:extLst>
          </p:cNvPr>
          <p:cNvPicPr>
            <a:picLocks noChangeAspect="1"/>
          </p:cNvPicPr>
          <p:nvPr/>
        </p:nvPicPr>
        <p:blipFill>
          <a:blip r:embed="rId4"/>
          <a:stretch>
            <a:fillRect/>
          </a:stretch>
        </p:blipFill>
        <p:spPr>
          <a:xfrm>
            <a:off x="6243145" y="2433804"/>
            <a:ext cx="5400363" cy="2926564"/>
          </a:xfrm>
          <a:prstGeom prst="rect">
            <a:avLst/>
          </a:prstGeom>
        </p:spPr>
      </p:pic>
      <p:pic>
        <p:nvPicPr>
          <p:cNvPr id="9" name="图片 8">
            <a:extLst>
              <a:ext uri="{FF2B5EF4-FFF2-40B4-BE49-F238E27FC236}">
                <a16:creationId xmlns:a16="http://schemas.microsoft.com/office/drawing/2014/main" id="{AF2EBAC7-A361-47F7-811A-F7E6FBB43304}"/>
              </a:ext>
            </a:extLst>
          </p:cNvPr>
          <p:cNvPicPr>
            <a:picLocks noChangeAspect="1"/>
          </p:cNvPicPr>
          <p:nvPr/>
        </p:nvPicPr>
        <p:blipFill>
          <a:blip r:embed="rId5"/>
          <a:stretch>
            <a:fillRect/>
          </a:stretch>
        </p:blipFill>
        <p:spPr>
          <a:xfrm>
            <a:off x="1671955" y="2516714"/>
            <a:ext cx="3305636" cy="685896"/>
          </a:xfrm>
          <a:prstGeom prst="rect">
            <a:avLst/>
          </a:prstGeom>
        </p:spPr>
      </p:pic>
      <p:pic>
        <p:nvPicPr>
          <p:cNvPr id="11" name="图片 10">
            <a:extLst>
              <a:ext uri="{FF2B5EF4-FFF2-40B4-BE49-F238E27FC236}">
                <a16:creationId xmlns:a16="http://schemas.microsoft.com/office/drawing/2014/main" id="{E2EDBA69-8DA9-4E8E-B3EE-8CC67358BCEC}"/>
              </a:ext>
            </a:extLst>
          </p:cNvPr>
          <p:cNvPicPr>
            <a:picLocks noChangeAspect="1"/>
          </p:cNvPicPr>
          <p:nvPr/>
        </p:nvPicPr>
        <p:blipFill>
          <a:blip r:embed="rId6"/>
          <a:stretch>
            <a:fillRect/>
          </a:stretch>
        </p:blipFill>
        <p:spPr>
          <a:xfrm>
            <a:off x="7464756" y="1831479"/>
            <a:ext cx="3413450" cy="532044"/>
          </a:xfrm>
          <a:prstGeom prst="rect">
            <a:avLst/>
          </a:prstGeom>
        </p:spPr>
      </p:pic>
      <p:graphicFrame>
        <p:nvGraphicFramePr>
          <p:cNvPr id="13" name="对象 12">
            <a:extLst>
              <a:ext uri="{FF2B5EF4-FFF2-40B4-BE49-F238E27FC236}">
                <a16:creationId xmlns:a16="http://schemas.microsoft.com/office/drawing/2014/main" id="{828A4E2B-5915-45B8-AD19-3DBE9DB67AF7}"/>
              </a:ext>
            </a:extLst>
          </p:cNvPr>
          <p:cNvGraphicFramePr>
            <a:graphicFrameLocks noChangeAspect="1"/>
          </p:cNvGraphicFramePr>
          <p:nvPr>
            <p:extLst>
              <p:ext uri="{D42A27DB-BD31-4B8C-83A1-F6EECF244321}">
                <p14:modId xmlns:p14="http://schemas.microsoft.com/office/powerpoint/2010/main" val="898881374"/>
              </p:ext>
            </p:extLst>
          </p:nvPr>
        </p:nvGraphicFramePr>
        <p:xfrm>
          <a:off x="2645103" y="3290123"/>
          <a:ext cx="220663" cy="309562"/>
        </p:xfrm>
        <a:graphic>
          <a:graphicData uri="http://schemas.openxmlformats.org/presentationml/2006/ole">
            <mc:AlternateContent xmlns:mc="http://schemas.openxmlformats.org/markup-compatibility/2006">
              <mc:Choice xmlns:v="urn:schemas-microsoft-com:vml" Requires="v">
                <p:oleObj spid="_x0000_s26662" name="Equation" r:id="rId7" imgW="126720" imgH="177480" progId="Equation.DSMT4">
                  <p:embed/>
                </p:oleObj>
              </mc:Choice>
              <mc:Fallback>
                <p:oleObj name="Equation" r:id="rId7" imgW="126720" imgH="177480" progId="Equation.DSMT4">
                  <p:embed/>
                  <p:pic>
                    <p:nvPicPr>
                      <p:cNvPr id="18" name="对象 17">
                        <a:extLst>
                          <a:ext uri="{FF2B5EF4-FFF2-40B4-BE49-F238E27FC236}">
                            <a16:creationId xmlns:a16="http://schemas.microsoft.com/office/drawing/2014/main" id="{736BB9CC-C47E-40B7-85C5-3B42D983ECB9}"/>
                          </a:ext>
                        </a:extLst>
                      </p:cNvPr>
                      <p:cNvPicPr/>
                      <p:nvPr/>
                    </p:nvPicPr>
                    <p:blipFill>
                      <a:blip r:embed="rId8"/>
                      <a:stretch>
                        <a:fillRect/>
                      </a:stretch>
                    </p:blipFill>
                    <p:spPr>
                      <a:xfrm>
                        <a:off x="2645103" y="3290123"/>
                        <a:ext cx="220663" cy="30956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22B15A7D-2B00-4183-A12B-CF10627FA3EB}"/>
              </a:ext>
            </a:extLst>
          </p:cNvPr>
          <p:cNvGraphicFramePr>
            <a:graphicFrameLocks noChangeAspect="1"/>
          </p:cNvGraphicFramePr>
          <p:nvPr>
            <p:extLst>
              <p:ext uri="{D42A27DB-BD31-4B8C-83A1-F6EECF244321}">
                <p14:modId xmlns:p14="http://schemas.microsoft.com/office/powerpoint/2010/main" val="2759299960"/>
              </p:ext>
            </p:extLst>
          </p:nvPr>
        </p:nvGraphicFramePr>
        <p:xfrm>
          <a:off x="7199644" y="1840066"/>
          <a:ext cx="265112" cy="396875"/>
        </p:xfrm>
        <a:graphic>
          <a:graphicData uri="http://schemas.openxmlformats.org/presentationml/2006/ole">
            <mc:AlternateContent xmlns:mc="http://schemas.openxmlformats.org/markup-compatibility/2006">
              <mc:Choice xmlns:v="urn:schemas-microsoft-com:vml" Requires="v">
                <p:oleObj spid="_x0000_s26663" name="Equation" r:id="rId9" imgW="152280" imgH="228600" progId="Equation.DSMT4">
                  <p:embed/>
                </p:oleObj>
              </mc:Choice>
              <mc:Fallback>
                <p:oleObj name="Equation" r:id="rId9" imgW="152280" imgH="228600" progId="Equation.DSMT4">
                  <p:embed/>
                  <p:pic>
                    <p:nvPicPr>
                      <p:cNvPr id="13" name="对象 12">
                        <a:extLst>
                          <a:ext uri="{FF2B5EF4-FFF2-40B4-BE49-F238E27FC236}">
                            <a16:creationId xmlns:a16="http://schemas.microsoft.com/office/drawing/2014/main" id="{828A4E2B-5915-45B8-AD19-3DBE9DB67AF7}"/>
                          </a:ext>
                        </a:extLst>
                      </p:cNvPr>
                      <p:cNvPicPr/>
                      <p:nvPr/>
                    </p:nvPicPr>
                    <p:blipFill>
                      <a:blip r:embed="rId10"/>
                      <a:stretch>
                        <a:fillRect/>
                      </a:stretch>
                    </p:blipFill>
                    <p:spPr>
                      <a:xfrm>
                        <a:off x="7199644" y="1840066"/>
                        <a:ext cx="265112" cy="396875"/>
                      </a:xfrm>
                      <a:prstGeom prst="rect">
                        <a:avLst/>
                      </a:prstGeom>
                    </p:spPr>
                  </p:pic>
                </p:oleObj>
              </mc:Fallback>
            </mc:AlternateContent>
          </a:graphicData>
        </a:graphic>
      </p:graphicFrame>
      <p:pic>
        <p:nvPicPr>
          <p:cNvPr id="15" name="图片 14">
            <a:extLst>
              <a:ext uri="{FF2B5EF4-FFF2-40B4-BE49-F238E27FC236}">
                <a16:creationId xmlns:a16="http://schemas.microsoft.com/office/drawing/2014/main" id="{D2048125-BAD9-40E5-8998-34C89E2B62AE}"/>
              </a:ext>
            </a:extLst>
          </p:cNvPr>
          <p:cNvPicPr>
            <a:picLocks noChangeAspect="1"/>
          </p:cNvPicPr>
          <p:nvPr/>
        </p:nvPicPr>
        <p:blipFill>
          <a:blip r:embed="rId11"/>
          <a:stretch>
            <a:fillRect/>
          </a:stretch>
        </p:blipFill>
        <p:spPr>
          <a:xfrm>
            <a:off x="1487081" y="3599685"/>
            <a:ext cx="3473308" cy="2645581"/>
          </a:xfrm>
          <a:prstGeom prst="rect">
            <a:avLst/>
          </a:prstGeom>
        </p:spPr>
      </p:pic>
    </p:spTree>
    <p:extLst>
      <p:ext uri="{BB962C8B-B14F-4D97-AF65-F5344CB8AC3E}">
        <p14:creationId xmlns:p14="http://schemas.microsoft.com/office/powerpoint/2010/main" val="92399997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CA5F64AC-E4A3-4F22-8ABB-565C39B70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0122" y="2174743"/>
            <a:ext cx="3279150" cy="3886201"/>
          </a:xfrm>
          <a:prstGeom prst="rect">
            <a:avLst/>
          </a:prstGeom>
        </p:spPr>
      </p:pic>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Prior</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works –</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DSL</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10972800" cy="3886200"/>
          </a:xfrm>
        </p:spPr>
        <p:txBody>
          <a:bodyPr/>
          <a:lstStyle/>
          <a:p>
            <a:r>
              <a:rPr lang="en-US" altLang="zh-CN" dirty="0"/>
              <a:t>Solutions: Distributed Swarm Learning</a:t>
            </a:r>
            <a:r>
              <a:rPr lang="en-US" altLang="zh-CN" sz="2400" i="0" kern="0" baseline="30000" dirty="0">
                <a:latin typeface="+mj-lt"/>
              </a:rPr>
              <a:t>[1]</a:t>
            </a:r>
            <a:r>
              <a:rPr lang="en-US" altLang="zh-CN" dirty="0"/>
              <a:t> =SGD + PSO</a:t>
            </a:r>
          </a:p>
          <a:p>
            <a:pPr marL="0" indent="0">
              <a:buNone/>
            </a:pPr>
            <a:r>
              <a:rPr lang="en-US" altLang="zh-CN" b="1" dirty="0">
                <a:solidFill>
                  <a:schemeClr val="tx1"/>
                </a:solidFill>
              </a:rPr>
              <a:t>     </a:t>
            </a:r>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12</a:t>
            </a:fld>
            <a:endParaRPr lang="zh-CN" altLang="en-US"/>
          </a:p>
        </p:txBody>
      </p:sp>
      <p:sp>
        <p:nvSpPr>
          <p:cNvPr id="48" name="TextBox 47">
            <a:extLst>
              <a:ext uri="{FF2B5EF4-FFF2-40B4-BE49-F238E27FC236}">
                <a16:creationId xmlns:a16="http://schemas.microsoft.com/office/drawing/2014/main" id="{36F45AA1-B3E4-73FF-837E-693FFDC4064D}"/>
              </a:ext>
            </a:extLst>
          </p:cNvPr>
          <p:cNvSpPr txBox="1"/>
          <p:nvPr/>
        </p:nvSpPr>
        <p:spPr>
          <a:xfrm>
            <a:off x="9311176" y="6095738"/>
            <a:ext cx="1653017" cy="369332"/>
          </a:xfrm>
          <a:prstGeom prst="rect">
            <a:avLst/>
          </a:prstGeom>
          <a:noFill/>
        </p:spPr>
        <p:txBody>
          <a:bodyPr wrap="none" rtlCol="0">
            <a:spAutoFit/>
          </a:bodyPr>
          <a:lstStyle/>
          <a:p>
            <a:r>
              <a:rPr lang="en-US" i="0" dirty="0">
                <a:latin typeface="Times New Roman" panose="02020603050405020304" pitchFamily="18" charset="0"/>
                <a:cs typeface="Times New Roman" panose="02020603050405020304" pitchFamily="18" charset="0"/>
              </a:rPr>
              <a:t>Model structure</a:t>
            </a:r>
          </a:p>
        </p:txBody>
      </p:sp>
      <p:sp>
        <p:nvSpPr>
          <p:cNvPr id="21" name="文本框 20">
            <a:extLst>
              <a:ext uri="{FF2B5EF4-FFF2-40B4-BE49-F238E27FC236}">
                <a16:creationId xmlns:a16="http://schemas.microsoft.com/office/drawing/2014/main" id="{B08BFEDD-1428-49FD-A5DC-87F75271FC2D}"/>
              </a:ext>
            </a:extLst>
          </p:cNvPr>
          <p:cNvSpPr txBox="1"/>
          <p:nvPr/>
        </p:nvSpPr>
        <p:spPr>
          <a:xfrm>
            <a:off x="117565" y="6212988"/>
            <a:ext cx="11181055" cy="230832"/>
          </a:xfrm>
          <a:prstGeom prst="rect">
            <a:avLst/>
          </a:prstGeom>
          <a:noFill/>
        </p:spPr>
        <p:txBody>
          <a:bodyPr wrap="square" rtlCol="0">
            <a:spAutoFit/>
          </a:bodyPr>
          <a:lstStyle/>
          <a:p>
            <a:r>
              <a:rPr lang="en-US" altLang="zh-CN" sz="900" i="0" dirty="0">
                <a:latin typeface="+mn-lt"/>
                <a:ea typeface="宋体" panose="02010600030101010101" pitchFamily="2" charset="-122"/>
              </a:rPr>
              <a:t>[1]Wang Y, Tian Z, Fan X, Cai</a:t>
            </a:r>
            <a:r>
              <a:rPr lang="zh-CN" altLang="en-US" sz="900" i="0" dirty="0">
                <a:latin typeface="+mn-lt"/>
                <a:ea typeface="宋体" panose="02010600030101010101" pitchFamily="2" charset="-122"/>
              </a:rPr>
              <a:t> </a:t>
            </a:r>
            <a:r>
              <a:rPr lang="en-US" altLang="zh-CN" sz="900" i="0" dirty="0">
                <a:latin typeface="+mn-lt"/>
                <a:ea typeface="宋体" panose="02010600030101010101" pitchFamily="2" charset="-122"/>
              </a:rPr>
              <a:t>Z.,</a:t>
            </a:r>
            <a:r>
              <a:rPr lang="zh-CN" altLang="en-US" sz="900" i="0" dirty="0">
                <a:latin typeface="+mn-lt"/>
                <a:ea typeface="宋体" panose="02010600030101010101" pitchFamily="2" charset="-122"/>
              </a:rPr>
              <a:t> </a:t>
            </a:r>
            <a:r>
              <a:rPr lang="en-US" altLang="zh-CN" sz="900" i="0" dirty="0">
                <a:latin typeface="+mn-lt"/>
                <a:ea typeface="宋体" panose="02010600030101010101" pitchFamily="2" charset="-122"/>
              </a:rPr>
              <a:t>et</a:t>
            </a:r>
            <a:r>
              <a:rPr lang="zh-CN" altLang="en-US" sz="900" i="0" dirty="0">
                <a:latin typeface="+mn-lt"/>
                <a:ea typeface="宋体" panose="02010600030101010101" pitchFamily="2" charset="-122"/>
              </a:rPr>
              <a:t> </a:t>
            </a:r>
            <a:r>
              <a:rPr lang="en-US" altLang="zh-CN" sz="900" i="0" dirty="0">
                <a:latin typeface="+mn-lt"/>
                <a:ea typeface="宋体" panose="02010600030101010101" pitchFamily="2" charset="-122"/>
              </a:rPr>
              <a:t>al. Distributed swarm learning for edge internet of things[M]. IEEE Communications Magazine, 2024.</a:t>
            </a:r>
            <a:endParaRPr lang="zh-CN" altLang="en-US" sz="900" i="0" dirty="0">
              <a:latin typeface="+mn-lt"/>
              <a:ea typeface="宋体" panose="02010600030101010101" pitchFamily="2" charset="-122"/>
            </a:endParaRPr>
          </a:p>
        </p:txBody>
      </p:sp>
      <p:graphicFrame>
        <p:nvGraphicFramePr>
          <p:cNvPr id="30" name="表格 29">
            <a:extLst>
              <a:ext uri="{FF2B5EF4-FFF2-40B4-BE49-F238E27FC236}">
                <a16:creationId xmlns:a16="http://schemas.microsoft.com/office/drawing/2014/main" id="{C15FBB96-FAFA-425E-92D5-ADFDA819C9FB}"/>
              </a:ext>
            </a:extLst>
          </p:cNvPr>
          <p:cNvGraphicFramePr>
            <a:graphicFrameLocks noGrp="1"/>
          </p:cNvGraphicFramePr>
          <p:nvPr>
            <p:extLst>
              <p:ext uri="{D42A27DB-BD31-4B8C-83A1-F6EECF244321}">
                <p14:modId xmlns:p14="http://schemas.microsoft.com/office/powerpoint/2010/main" val="1346751012"/>
              </p:ext>
            </p:extLst>
          </p:nvPr>
        </p:nvGraphicFramePr>
        <p:xfrm>
          <a:off x="482604" y="3183085"/>
          <a:ext cx="7795073" cy="268224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20000"/>
                    </a:ext>
                  </a:extLst>
                </a:gridCol>
                <a:gridCol w="2228254">
                  <a:extLst>
                    <a:ext uri="{9D8B030D-6E8A-4147-A177-3AD203B41FA5}">
                      <a16:colId xmlns:a16="http://schemas.microsoft.com/office/drawing/2014/main" val="20001"/>
                    </a:ext>
                  </a:extLst>
                </a:gridCol>
                <a:gridCol w="2001240">
                  <a:extLst>
                    <a:ext uri="{9D8B030D-6E8A-4147-A177-3AD203B41FA5}">
                      <a16:colId xmlns:a16="http://schemas.microsoft.com/office/drawing/2014/main" val="20002"/>
                    </a:ext>
                  </a:extLst>
                </a:gridCol>
                <a:gridCol w="191457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pPr algn="ctr"/>
                      <a:r>
                        <a:rPr lang="en-US" sz="2300" dirty="0"/>
                        <a:t>PSO</a:t>
                      </a:r>
                    </a:p>
                  </a:txBody>
                  <a:tcPr/>
                </a:tc>
                <a:tc>
                  <a:txBody>
                    <a:bodyPr/>
                    <a:lstStyle/>
                    <a:p>
                      <a:pPr algn="ctr"/>
                      <a:r>
                        <a:rPr lang="en-US" sz="2300" dirty="0"/>
                        <a:t>DSL</a:t>
                      </a:r>
                    </a:p>
                  </a:txBody>
                  <a:tcPr/>
                </a:tc>
                <a:tc>
                  <a:txBody>
                    <a:bodyPr/>
                    <a:lstStyle/>
                    <a:p>
                      <a:pPr algn="ctr"/>
                      <a:r>
                        <a:rPr lang="en-US" sz="2300" dirty="0"/>
                        <a:t>FL</a:t>
                      </a:r>
                    </a:p>
                  </a:txBody>
                  <a:tcPr/>
                </a:tc>
                <a:extLst>
                  <a:ext uri="{0D108BD9-81ED-4DB2-BD59-A6C34878D82A}">
                    <a16:rowId xmlns:a16="http://schemas.microsoft.com/office/drawing/2014/main" val="10000"/>
                  </a:ext>
                </a:extLst>
              </a:tr>
              <a:tr h="370840">
                <a:tc>
                  <a:txBody>
                    <a:bodyPr/>
                    <a:lstStyle/>
                    <a:p>
                      <a:pPr algn="r"/>
                      <a:r>
                        <a:rPr lang="en-US" sz="2100" dirty="0" err="1"/>
                        <a:t>Commun</a:t>
                      </a:r>
                      <a:r>
                        <a:rPr lang="en-US" altLang="zh-CN" sz="2100" dirty="0"/>
                        <a:t>.</a:t>
                      </a:r>
                      <a:endParaRPr lang="en-US" sz="2100" dirty="0"/>
                    </a:p>
                  </a:txBody>
                  <a:tcPr/>
                </a:tc>
                <a:tc>
                  <a:txBody>
                    <a:bodyPr/>
                    <a:lstStyle/>
                    <a:p>
                      <a:pPr algn="ctr"/>
                      <a:r>
                        <a:rPr lang="en-US" sz="2000" dirty="0"/>
                        <a:t>low (</a:t>
                      </a:r>
                      <a:r>
                        <a:rPr lang="en-US" sz="2000" i="1" dirty="0"/>
                        <a:t>U</a:t>
                      </a:r>
                      <a:r>
                        <a:rPr lang="en-US" sz="2000" dirty="0"/>
                        <a:t> </a:t>
                      </a:r>
                      <a:r>
                        <a:rPr lang="en-US" sz="2000" dirty="0" err="1"/>
                        <a:t>func</a:t>
                      </a:r>
                      <a:r>
                        <a:rPr lang="en-US" sz="2000" dirty="0"/>
                        <a:t>.</a:t>
                      </a:r>
                      <a:r>
                        <a:rPr lang="en-US" sz="2000" baseline="0" dirty="0"/>
                        <a:t> values + 1 model</a:t>
                      </a:r>
                      <a:r>
                        <a:rPr lang="en-US" sz="200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low (</a:t>
                      </a:r>
                      <a:r>
                        <a:rPr lang="en-US" sz="2000" i="1" dirty="0"/>
                        <a:t>U</a:t>
                      </a:r>
                      <a:r>
                        <a:rPr lang="en-US" sz="2000" dirty="0"/>
                        <a:t> </a:t>
                      </a:r>
                      <a:r>
                        <a:rPr lang="en-US" sz="2000" dirty="0" err="1"/>
                        <a:t>func</a:t>
                      </a:r>
                      <a:r>
                        <a:rPr lang="en-US" sz="2000" dirty="0"/>
                        <a:t>.</a:t>
                      </a:r>
                      <a:r>
                        <a:rPr lang="en-US" sz="2000" baseline="0" dirty="0"/>
                        <a:t> values + </a:t>
                      </a:r>
                      <a:r>
                        <a:rPr lang="en-US" sz="2000" i="1" baseline="0" dirty="0"/>
                        <a:t>S</a:t>
                      </a:r>
                      <a:r>
                        <a:rPr lang="en-US" sz="2000" baseline="0" dirty="0"/>
                        <a:t> model</a:t>
                      </a:r>
                      <a:r>
                        <a:rPr lang="en-US" sz="2000" dirty="0"/>
                        <a:t>)</a:t>
                      </a:r>
                    </a:p>
                  </a:txBody>
                  <a:tcPr/>
                </a:tc>
                <a:tc>
                  <a:txBody>
                    <a:bodyPr/>
                    <a:lstStyle/>
                    <a:p>
                      <a:pPr algn="ctr"/>
                      <a:r>
                        <a:rPr lang="en-US" sz="2000" dirty="0"/>
                        <a:t>High (</a:t>
                      </a:r>
                      <a:r>
                        <a:rPr lang="en-US" sz="2000" i="1" dirty="0"/>
                        <a:t>U</a:t>
                      </a:r>
                      <a:r>
                        <a:rPr lang="en-US" sz="2000" dirty="0"/>
                        <a:t> </a:t>
                      </a:r>
                      <a:r>
                        <a:rPr lang="en-US" sz="2000" baseline="0" dirty="0"/>
                        <a:t>models</a:t>
                      </a:r>
                      <a:r>
                        <a:rPr lang="en-US" sz="2000" dirty="0"/>
                        <a:t>)</a:t>
                      </a:r>
                    </a:p>
                  </a:txBody>
                  <a:tcPr/>
                </a:tc>
                <a:extLst>
                  <a:ext uri="{0D108BD9-81ED-4DB2-BD59-A6C34878D82A}">
                    <a16:rowId xmlns:a16="http://schemas.microsoft.com/office/drawing/2014/main" val="10001"/>
                  </a:ext>
                </a:extLst>
              </a:tr>
              <a:tr h="370840">
                <a:tc>
                  <a:txBody>
                    <a:bodyPr/>
                    <a:lstStyle/>
                    <a:p>
                      <a:pPr algn="r"/>
                      <a:r>
                        <a:rPr lang="en-US" sz="2100" dirty="0"/>
                        <a:t>Computation</a:t>
                      </a:r>
                      <a:r>
                        <a:rPr lang="en-US" sz="2100" baseline="0" dirty="0"/>
                        <a:t> </a:t>
                      </a:r>
                      <a:endParaRPr lang="en-US" sz="2100" dirty="0"/>
                    </a:p>
                  </a:txBody>
                  <a:tcPr/>
                </a:tc>
                <a:tc>
                  <a:txBody>
                    <a:bodyPr/>
                    <a:lstStyle/>
                    <a:p>
                      <a:pPr algn="ctr"/>
                      <a:r>
                        <a:rPr lang="en-US" sz="2000" dirty="0"/>
                        <a:t>zero-</a:t>
                      </a:r>
                      <a:r>
                        <a:rPr lang="en-US" sz="2000" dirty="0" err="1"/>
                        <a:t>th</a:t>
                      </a:r>
                      <a:r>
                        <a:rPr lang="en-US" sz="2000" dirty="0"/>
                        <a:t> order</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first order</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first order</a:t>
                      </a:r>
                    </a:p>
                  </a:txBody>
                  <a:tcPr/>
                </a:tc>
                <a:extLst>
                  <a:ext uri="{0D108BD9-81ED-4DB2-BD59-A6C34878D82A}">
                    <a16:rowId xmlns:a16="http://schemas.microsoft.com/office/drawing/2014/main" val="10002"/>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100" dirty="0"/>
                        <a:t>Convergence</a:t>
                      </a:r>
                    </a:p>
                  </a:txBody>
                  <a:tcPr/>
                </a:tc>
                <a:tc>
                  <a:txBody>
                    <a:bodyPr/>
                    <a:lstStyle/>
                    <a:p>
                      <a:pPr algn="ctr"/>
                      <a:r>
                        <a:rPr lang="en-US" sz="2000" dirty="0"/>
                        <a:t>slow</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fast</a:t>
                      </a:r>
                    </a:p>
                  </a:txBody>
                  <a:tcPr/>
                </a:tc>
                <a:tc>
                  <a:txBody>
                    <a:bodyPr/>
                    <a:lstStyle/>
                    <a:p>
                      <a:pPr algn="ctr"/>
                      <a:r>
                        <a:rPr lang="en-US" sz="2000" dirty="0"/>
                        <a:t>fast</a:t>
                      </a:r>
                    </a:p>
                  </a:txBody>
                  <a:tcPr/>
                </a:tc>
                <a:extLst>
                  <a:ext uri="{0D108BD9-81ED-4DB2-BD59-A6C34878D82A}">
                    <a16:rowId xmlns:a16="http://schemas.microsoft.com/office/drawing/2014/main" val="1000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100" dirty="0"/>
                        <a:t>T</a:t>
                      </a:r>
                      <a:r>
                        <a:rPr lang="en-US" sz="2100" dirty="0"/>
                        <a:t>rap escape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capable</a:t>
                      </a:r>
                    </a:p>
                  </a:txBody>
                  <a:tcPr/>
                </a:tc>
                <a:tc>
                  <a:txBody>
                    <a:bodyPr/>
                    <a:lstStyle/>
                    <a:p>
                      <a:pPr algn="ctr"/>
                      <a:r>
                        <a:rPr lang="en-US" sz="2000" dirty="0"/>
                        <a:t>capable</a:t>
                      </a:r>
                    </a:p>
                  </a:txBody>
                  <a:tcPr/>
                </a:tc>
                <a:tc>
                  <a:txBody>
                    <a:bodyPr/>
                    <a:lstStyle/>
                    <a:p>
                      <a:pPr algn="ctr"/>
                      <a:r>
                        <a:rPr lang="en-US" sz="2000" dirty="0"/>
                        <a:t>unable</a:t>
                      </a:r>
                    </a:p>
                  </a:txBody>
                  <a:tcPr/>
                </a:tc>
                <a:extLst>
                  <a:ext uri="{0D108BD9-81ED-4DB2-BD59-A6C34878D82A}">
                    <a16:rowId xmlns:a16="http://schemas.microsoft.com/office/drawing/2014/main" val="10004"/>
                  </a:ext>
                </a:extLst>
              </a:tr>
            </a:tbl>
          </a:graphicData>
        </a:graphic>
      </p:graphicFrame>
      <p:sp>
        <p:nvSpPr>
          <p:cNvPr id="31" name="矩形 30">
            <a:extLst>
              <a:ext uri="{FF2B5EF4-FFF2-40B4-BE49-F238E27FC236}">
                <a16:creationId xmlns:a16="http://schemas.microsoft.com/office/drawing/2014/main" id="{749C6B0C-C486-4125-B0CD-C2BCCAE3FC19}"/>
              </a:ext>
            </a:extLst>
          </p:cNvPr>
          <p:cNvSpPr/>
          <p:nvPr/>
        </p:nvSpPr>
        <p:spPr bwMode="auto">
          <a:xfrm>
            <a:off x="2214335" y="3671805"/>
            <a:ext cx="4083050" cy="590505"/>
          </a:xfrm>
          <a:prstGeom prst="rect">
            <a:avLst/>
          </a:prstGeom>
          <a:solidFill>
            <a:srgbClr val="00B050">
              <a:alpha val="1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dirty="0">
              <a:ln>
                <a:noFill/>
              </a:ln>
              <a:solidFill>
                <a:schemeClr val="tx1"/>
              </a:solidFill>
              <a:effectLst/>
              <a:latin typeface="Arial" charset="0"/>
            </a:endParaRPr>
          </a:p>
        </p:txBody>
      </p:sp>
      <p:sp>
        <p:nvSpPr>
          <p:cNvPr id="32" name="矩形 31">
            <a:extLst>
              <a:ext uri="{FF2B5EF4-FFF2-40B4-BE49-F238E27FC236}">
                <a16:creationId xmlns:a16="http://schemas.microsoft.com/office/drawing/2014/main" id="{5D523898-AC58-4E72-8740-861B4BFC5763}"/>
              </a:ext>
            </a:extLst>
          </p:cNvPr>
          <p:cNvSpPr/>
          <p:nvPr/>
        </p:nvSpPr>
        <p:spPr bwMode="auto">
          <a:xfrm>
            <a:off x="4325645" y="4276041"/>
            <a:ext cx="3943477" cy="345595"/>
          </a:xfrm>
          <a:prstGeom prst="rect">
            <a:avLst/>
          </a:prstGeom>
          <a:solidFill>
            <a:srgbClr val="C00000">
              <a:alpha val="12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sp>
        <p:nvSpPr>
          <p:cNvPr id="33" name="矩形 32">
            <a:extLst>
              <a:ext uri="{FF2B5EF4-FFF2-40B4-BE49-F238E27FC236}">
                <a16:creationId xmlns:a16="http://schemas.microsoft.com/office/drawing/2014/main" id="{0A5C3A9B-331A-4DEB-8895-9AF2F00EB048}"/>
              </a:ext>
            </a:extLst>
          </p:cNvPr>
          <p:cNvSpPr/>
          <p:nvPr/>
        </p:nvSpPr>
        <p:spPr bwMode="auto">
          <a:xfrm>
            <a:off x="2222888" y="5106109"/>
            <a:ext cx="4083050" cy="317749"/>
          </a:xfrm>
          <a:prstGeom prst="rect">
            <a:avLst/>
          </a:prstGeom>
          <a:solidFill>
            <a:srgbClr val="00B050">
              <a:alpha val="1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sp>
        <p:nvSpPr>
          <p:cNvPr id="34" name="矩形 33">
            <a:extLst>
              <a:ext uri="{FF2B5EF4-FFF2-40B4-BE49-F238E27FC236}">
                <a16:creationId xmlns:a16="http://schemas.microsoft.com/office/drawing/2014/main" id="{E0590B87-867E-4959-929B-2A12654BB010}"/>
              </a:ext>
            </a:extLst>
          </p:cNvPr>
          <p:cNvSpPr/>
          <p:nvPr/>
        </p:nvSpPr>
        <p:spPr bwMode="auto">
          <a:xfrm>
            <a:off x="4334199" y="4714689"/>
            <a:ext cx="3943478" cy="312306"/>
          </a:xfrm>
          <a:prstGeom prst="rect">
            <a:avLst/>
          </a:prstGeom>
          <a:solidFill>
            <a:srgbClr val="00B050">
              <a:alpha val="12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pic>
        <p:nvPicPr>
          <p:cNvPr id="13" name="图片 12">
            <a:extLst>
              <a:ext uri="{FF2B5EF4-FFF2-40B4-BE49-F238E27FC236}">
                <a16:creationId xmlns:a16="http://schemas.microsoft.com/office/drawing/2014/main" id="{CA8C6643-BB37-4936-9AB3-91EB5466F2F0}"/>
              </a:ext>
            </a:extLst>
          </p:cNvPr>
          <p:cNvPicPr>
            <a:picLocks noChangeAspect="1"/>
          </p:cNvPicPr>
          <p:nvPr/>
        </p:nvPicPr>
        <p:blipFill>
          <a:blip r:embed="rId4"/>
          <a:stretch>
            <a:fillRect/>
          </a:stretch>
        </p:blipFill>
        <p:spPr>
          <a:xfrm>
            <a:off x="406400" y="1826204"/>
            <a:ext cx="8704331" cy="1122690"/>
          </a:xfrm>
          <a:prstGeom prst="rect">
            <a:avLst/>
          </a:prstGeom>
        </p:spPr>
      </p:pic>
    </p:spTree>
    <p:extLst>
      <p:ext uri="{BB962C8B-B14F-4D97-AF65-F5344CB8AC3E}">
        <p14:creationId xmlns:p14="http://schemas.microsoft.com/office/powerpoint/2010/main" val="99320521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D643C-B0B1-FEFB-1A7A-C504EE6823B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F21B45-7B06-FABC-6A8B-9841DA8A108C}"/>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9A7E70C7-1D63-A0F1-3702-EBCF951FBF39}"/>
              </a:ext>
            </a:extLst>
          </p:cNvPr>
          <p:cNvSpPr>
            <a:spLocks noGrp="1"/>
          </p:cNvSpPr>
          <p:nvPr>
            <p:ph idx="1"/>
          </p:nvPr>
        </p:nvSpPr>
        <p:spPr>
          <a:xfrm>
            <a:off x="1503829" y="1346200"/>
            <a:ext cx="6464300" cy="3886200"/>
          </a:xfrm>
        </p:spPr>
        <p:txBody>
          <a:bodyPr/>
          <a:lstStyle/>
          <a:p>
            <a:pPr>
              <a:lnSpc>
                <a:spcPct val="200000"/>
              </a:lnSpc>
            </a:pPr>
            <a:r>
              <a:rPr lang="en-US" dirty="0">
                <a:solidFill>
                  <a:schemeClr val="accent3">
                    <a:lumMod val="50000"/>
                  </a:schemeClr>
                </a:solidFill>
              </a:rPr>
              <a:t>Introduction</a:t>
            </a:r>
          </a:p>
          <a:p>
            <a:pPr>
              <a:lnSpc>
                <a:spcPct val="200000"/>
              </a:lnSpc>
            </a:pPr>
            <a:r>
              <a:rPr lang="en-US" altLang="zh-CN" dirty="0">
                <a:solidFill>
                  <a:schemeClr val="accent3">
                    <a:lumMod val="50000"/>
                  </a:schemeClr>
                </a:solidFill>
                <a:latin typeface="Times New Roman" panose="02020603050405020304" pitchFamily="18" charset="0"/>
                <a:cs typeface="Times New Roman" panose="02020603050405020304" pitchFamily="18" charset="0"/>
              </a:rPr>
              <a:t>Existing research</a:t>
            </a:r>
            <a:endParaRPr lang="en-US" dirty="0">
              <a:solidFill>
                <a:schemeClr val="accent3">
                  <a:lumMod val="50000"/>
                </a:schemeClr>
              </a:solidFill>
            </a:endParaRPr>
          </a:p>
          <a:p>
            <a:pPr>
              <a:lnSpc>
                <a:spcPct val="200000"/>
              </a:lnSpc>
            </a:pPr>
            <a:r>
              <a:rPr lang="en-US" dirty="0">
                <a:solidFill>
                  <a:srgbClr val="3333FF"/>
                </a:solidFill>
              </a:rPr>
              <a:t>Proposed design</a:t>
            </a:r>
            <a:r>
              <a:rPr lang="zh-CN" altLang="en-US" dirty="0">
                <a:solidFill>
                  <a:srgbClr val="3333FF"/>
                </a:solidFill>
              </a:rPr>
              <a:t> </a:t>
            </a:r>
            <a:r>
              <a:rPr lang="en-US" altLang="zh-CN" dirty="0">
                <a:solidFill>
                  <a:srgbClr val="3333FF"/>
                </a:solidFill>
              </a:rPr>
              <a:t>and</a:t>
            </a:r>
            <a:r>
              <a:rPr lang="zh-CN" altLang="en-US" dirty="0">
                <a:solidFill>
                  <a:srgbClr val="3333FF"/>
                </a:solidFill>
              </a:rPr>
              <a:t> </a:t>
            </a:r>
            <a:r>
              <a:rPr lang="en-US" dirty="0">
                <a:solidFill>
                  <a:srgbClr val="3333FF"/>
                </a:solidFill>
              </a:rPr>
              <a:t>method </a:t>
            </a:r>
          </a:p>
          <a:p>
            <a:pPr>
              <a:lnSpc>
                <a:spcPct val="200000"/>
              </a:lnSpc>
            </a:pPr>
            <a:r>
              <a:rPr lang="en-US" altLang="zh-CN" dirty="0">
                <a:solidFill>
                  <a:schemeClr val="accent3">
                    <a:lumMod val="50000"/>
                  </a:schemeClr>
                </a:solidFill>
              </a:rPr>
              <a:t>Preliminary</a:t>
            </a:r>
            <a:r>
              <a:rPr lang="zh-CN" altLang="en-US" dirty="0">
                <a:solidFill>
                  <a:schemeClr val="accent3">
                    <a:lumMod val="50000"/>
                  </a:schemeClr>
                </a:solidFill>
              </a:rPr>
              <a:t> </a:t>
            </a:r>
            <a:r>
              <a:rPr lang="en-US" altLang="zh-CN" dirty="0">
                <a:solidFill>
                  <a:schemeClr val="accent3">
                    <a:lumMod val="50000"/>
                  </a:schemeClr>
                </a:solidFill>
              </a:rPr>
              <a:t>r</a:t>
            </a:r>
            <a:r>
              <a:rPr lang="en-US" dirty="0">
                <a:solidFill>
                  <a:schemeClr val="accent3">
                    <a:lumMod val="50000"/>
                  </a:schemeClr>
                </a:solidFill>
              </a:rPr>
              <a:t>esults </a:t>
            </a:r>
          </a:p>
          <a:p>
            <a:pPr>
              <a:lnSpc>
                <a:spcPct val="200000"/>
              </a:lnSpc>
            </a:pPr>
            <a:r>
              <a:rPr lang="en-US" altLang="zh-CN" dirty="0">
                <a:solidFill>
                  <a:schemeClr val="accent3">
                    <a:lumMod val="50000"/>
                  </a:schemeClr>
                </a:solidFill>
              </a:rPr>
              <a:t>S</a:t>
            </a:r>
            <a:r>
              <a:rPr lang="en-US" dirty="0">
                <a:solidFill>
                  <a:schemeClr val="accent3">
                    <a:lumMod val="50000"/>
                  </a:schemeClr>
                </a:solidFill>
              </a:rPr>
              <a:t>ummary</a:t>
            </a:r>
            <a:r>
              <a:rPr lang="zh-CN" altLang="en-US" dirty="0">
                <a:solidFill>
                  <a:schemeClr val="accent3">
                    <a:lumMod val="50000"/>
                  </a:schemeClr>
                </a:solidFill>
              </a:rPr>
              <a:t> </a:t>
            </a:r>
            <a:r>
              <a:rPr lang="en-US" altLang="zh-CN" dirty="0">
                <a:solidFill>
                  <a:schemeClr val="accent3">
                    <a:lumMod val="50000"/>
                  </a:schemeClr>
                </a:solidFill>
              </a:rPr>
              <a:t>and</a:t>
            </a:r>
            <a:r>
              <a:rPr lang="zh-CN" altLang="en-US" dirty="0">
                <a:solidFill>
                  <a:schemeClr val="accent3">
                    <a:lumMod val="50000"/>
                  </a:schemeClr>
                </a:solidFill>
              </a:rPr>
              <a:t> </a:t>
            </a:r>
            <a:r>
              <a:rPr lang="en-US" altLang="zh-CN" dirty="0">
                <a:solidFill>
                  <a:schemeClr val="accent3">
                    <a:lumMod val="50000"/>
                  </a:schemeClr>
                </a:solidFill>
              </a:rPr>
              <a:t>f</a:t>
            </a:r>
            <a:r>
              <a:rPr lang="en-US" dirty="0">
                <a:solidFill>
                  <a:schemeClr val="accent3">
                    <a:lumMod val="50000"/>
                  </a:schemeClr>
                </a:solidFill>
              </a:rPr>
              <a:t>uture work</a:t>
            </a:r>
          </a:p>
          <a:p>
            <a:endParaRPr lang="en-US" altLang="zh-CN" dirty="0"/>
          </a:p>
        </p:txBody>
      </p:sp>
      <p:sp>
        <p:nvSpPr>
          <p:cNvPr id="4" name="Slide Number Placeholder 3">
            <a:extLst>
              <a:ext uri="{FF2B5EF4-FFF2-40B4-BE49-F238E27FC236}">
                <a16:creationId xmlns:a16="http://schemas.microsoft.com/office/drawing/2014/main" id="{7627476D-5606-8508-D3D2-25933D2BBD67}"/>
              </a:ext>
            </a:extLst>
          </p:cNvPr>
          <p:cNvSpPr>
            <a:spLocks noGrp="1"/>
          </p:cNvSpPr>
          <p:nvPr>
            <p:ph type="sldNum" sz="quarter" idx="11"/>
          </p:nvPr>
        </p:nvSpPr>
        <p:spPr/>
        <p:txBody>
          <a:bodyPr/>
          <a:lstStyle/>
          <a:p>
            <a:fld id="{B2B05758-BB4F-4559-81AD-225F352C8527}" type="slidenum">
              <a:rPr lang="zh-CN" altLang="en-US" smtClean="0"/>
              <a:t>13</a:t>
            </a:fld>
            <a:endParaRPr lang="zh-CN" altLang="en-US"/>
          </a:p>
        </p:txBody>
      </p:sp>
    </p:spTree>
    <p:extLst>
      <p:ext uri="{BB962C8B-B14F-4D97-AF65-F5344CB8AC3E}">
        <p14:creationId xmlns:p14="http://schemas.microsoft.com/office/powerpoint/2010/main" val="340160570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3B861-A924-2E3A-D70E-EFCB4D9E108B}"/>
              </a:ext>
            </a:extLst>
          </p:cNvPr>
          <p:cNvSpPr>
            <a:spLocks noGrp="1"/>
          </p:cNvSpPr>
          <p:nvPr>
            <p:ph type="title"/>
          </p:nvPr>
        </p:nvSpPr>
        <p:spPr/>
        <p:txBody>
          <a:bodyPr/>
          <a:lstStyle/>
          <a:p>
            <a:r>
              <a:rPr lang="en-US" dirty="0"/>
              <a:t>Challenges</a:t>
            </a:r>
            <a:r>
              <a:rPr lang="zh-CN" altLang="en-US" dirty="0"/>
              <a:t> </a:t>
            </a:r>
            <a:r>
              <a:rPr lang="en-US" altLang="zh-CN" dirty="0"/>
              <a:t>and</a:t>
            </a:r>
            <a:r>
              <a:rPr lang="zh-CN" altLang="en-US" dirty="0"/>
              <a:t> </a:t>
            </a:r>
            <a:r>
              <a:rPr lang="en-US" altLang="zh-CN" dirty="0"/>
              <a:t>Motivation</a:t>
            </a:r>
            <a:r>
              <a:rPr lang="en-US" dirty="0"/>
              <a:t> </a:t>
            </a:r>
          </a:p>
        </p:txBody>
      </p:sp>
      <p:sp>
        <p:nvSpPr>
          <p:cNvPr id="3" name="Content Placeholder 2">
            <a:extLst>
              <a:ext uri="{FF2B5EF4-FFF2-40B4-BE49-F238E27FC236}">
                <a16:creationId xmlns:a16="http://schemas.microsoft.com/office/drawing/2014/main" id="{BF84ED5F-A432-252E-94C0-D720FE76DFF5}"/>
              </a:ext>
            </a:extLst>
          </p:cNvPr>
          <p:cNvSpPr>
            <a:spLocks noGrp="1"/>
          </p:cNvSpPr>
          <p:nvPr>
            <p:ph idx="1"/>
          </p:nvPr>
        </p:nvSpPr>
        <p:spPr>
          <a:xfrm>
            <a:off x="408304" y="1022348"/>
            <a:ext cx="10972800" cy="1562100"/>
          </a:xfrm>
        </p:spPr>
        <p:txBody>
          <a:bodyPr/>
          <a:lstStyle/>
          <a:p>
            <a:r>
              <a:rPr lang="en-US" sz="2800" dirty="0"/>
              <a:t>Problems in </a:t>
            </a:r>
            <a:r>
              <a:rPr lang="en-US" altLang="zh-CN" sz="2800" dirty="0"/>
              <a:t>existing</a:t>
            </a:r>
            <a:r>
              <a:rPr lang="en-US" sz="2800" dirty="0"/>
              <a:t> distributed swarm learning framework</a:t>
            </a:r>
          </a:p>
          <a:p>
            <a:pPr lvl="1"/>
            <a:r>
              <a:rPr lang="en-US" altLang="zh-CN" sz="2400" dirty="0"/>
              <a:t>Lack of non-</a:t>
            </a:r>
            <a:r>
              <a:rPr lang="en-US" altLang="zh-CN" sz="2400" dirty="0" err="1"/>
              <a:t>i.i.d</a:t>
            </a:r>
            <a:r>
              <a:rPr lang="en-US" altLang="zh-CN" sz="2400" dirty="0"/>
              <a:t>. metrics</a:t>
            </a:r>
          </a:p>
          <a:p>
            <a:pPr lvl="1"/>
            <a:r>
              <a:rPr lang="en-US" altLang="zh-CN" sz="2400" dirty="0"/>
              <a:t>Best worker selection mechanism</a:t>
            </a:r>
            <a:br>
              <a:rPr lang="en-US" altLang="zh-CN" sz="2400" dirty="0"/>
            </a:br>
            <a:r>
              <a:rPr lang="en-US" altLang="zh-CN" sz="2400" dirty="0"/>
              <a:t>Ideal Comm. Env.</a:t>
            </a:r>
          </a:p>
          <a:p>
            <a:pPr lvl="1"/>
            <a:r>
              <a:rPr lang="en-US" altLang="zh-CN" sz="2400" dirty="0"/>
              <a:t>Q:</a:t>
            </a:r>
            <a:r>
              <a:rPr lang="zh-CN" altLang="en-US" sz="2400" dirty="0"/>
              <a:t> </a:t>
            </a:r>
            <a:r>
              <a:rPr lang="en-US" altLang="zh-CN" sz="2400" dirty="0"/>
              <a:t>How to make DSL more communication efficient and more non-</a:t>
            </a:r>
            <a:r>
              <a:rPr lang="en-US" altLang="zh-CN" sz="2400" dirty="0" err="1"/>
              <a:t>i.i.d</a:t>
            </a:r>
            <a:r>
              <a:rPr lang="en-US" altLang="zh-CN" sz="2400" dirty="0"/>
              <a:t>. tolerant?</a:t>
            </a:r>
          </a:p>
          <a:p>
            <a:endParaRPr lang="en-US" sz="2800" dirty="0"/>
          </a:p>
        </p:txBody>
      </p:sp>
      <p:sp>
        <p:nvSpPr>
          <p:cNvPr id="4" name="Slide Number Placeholder 3">
            <a:extLst>
              <a:ext uri="{FF2B5EF4-FFF2-40B4-BE49-F238E27FC236}">
                <a16:creationId xmlns:a16="http://schemas.microsoft.com/office/drawing/2014/main" id="{F6C7E7ED-1523-94D6-2C05-905272608192}"/>
              </a:ext>
            </a:extLst>
          </p:cNvPr>
          <p:cNvSpPr>
            <a:spLocks noGrp="1"/>
          </p:cNvSpPr>
          <p:nvPr>
            <p:ph type="sldNum" sz="quarter" idx="11"/>
          </p:nvPr>
        </p:nvSpPr>
        <p:spPr/>
        <p:txBody>
          <a:bodyPr/>
          <a:lstStyle/>
          <a:p>
            <a:fld id="{B2B05758-BB4F-4559-81AD-225F352C8527}" type="slidenum">
              <a:rPr lang="zh-CN" altLang="en-US" smtClean="0"/>
              <a:t>14</a:t>
            </a:fld>
            <a:endParaRPr lang="zh-CN" altLang="en-US"/>
          </a:p>
        </p:txBody>
      </p:sp>
      <p:sp>
        <p:nvSpPr>
          <p:cNvPr id="6" name="Rectangle 5">
            <a:extLst>
              <a:ext uri="{FF2B5EF4-FFF2-40B4-BE49-F238E27FC236}">
                <a16:creationId xmlns:a16="http://schemas.microsoft.com/office/drawing/2014/main" id="{A2DE5FEB-E474-AEFE-CA20-2C154594C241}"/>
              </a:ext>
            </a:extLst>
          </p:cNvPr>
          <p:cNvSpPr/>
          <p:nvPr/>
        </p:nvSpPr>
        <p:spPr bwMode="auto">
          <a:xfrm>
            <a:off x="643898" y="3688827"/>
            <a:ext cx="10904203" cy="3016773"/>
          </a:xfrm>
          <a:prstGeom prst="rect">
            <a:avLst/>
          </a:prstGeom>
          <a:solidFill>
            <a:schemeClr val="accent6">
              <a:lumMod val="20000"/>
              <a:lumOff val="80000"/>
            </a:schemeClr>
          </a:solidFill>
          <a:ln w="9525" cap="flat" cmpd="sng" algn="ctr">
            <a:no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34F96BBE-8EEC-8FD8-127F-5F5600AE6905}"/>
              </a:ext>
            </a:extLst>
          </p:cNvPr>
          <p:cNvSpPr/>
          <p:nvPr/>
        </p:nvSpPr>
        <p:spPr bwMode="auto">
          <a:xfrm>
            <a:off x="4885509" y="4011099"/>
            <a:ext cx="2566851" cy="1056037"/>
          </a:xfrm>
          <a:prstGeom prst="rect">
            <a:avLst/>
          </a:prstGeom>
          <a:solidFill>
            <a:srgbClr val="B2B2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i="0" dirty="0">
                <a:solidFill>
                  <a:srgbClr val="000000"/>
                </a:solidFill>
              </a:rPr>
              <a:t>How to transmit model?  </a:t>
            </a:r>
          </a:p>
        </p:txBody>
      </p:sp>
      <p:cxnSp>
        <p:nvCxnSpPr>
          <p:cNvPr id="8" name="Straight Arrow Connector 7">
            <a:extLst>
              <a:ext uri="{FF2B5EF4-FFF2-40B4-BE49-F238E27FC236}">
                <a16:creationId xmlns:a16="http://schemas.microsoft.com/office/drawing/2014/main" id="{9DD2E18A-F373-58D0-6B48-FA82B9E95A26}"/>
              </a:ext>
            </a:extLst>
          </p:cNvPr>
          <p:cNvCxnSpPr>
            <a:cxnSpLocks/>
            <a:stCxn id="7" idx="3"/>
            <a:endCxn id="10" idx="1"/>
          </p:cNvCxnSpPr>
          <p:nvPr/>
        </p:nvCxnSpPr>
        <p:spPr bwMode="auto">
          <a:xfrm flipV="1">
            <a:off x="7452360" y="4539117"/>
            <a:ext cx="916703" cy="1"/>
          </a:xfrm>
          <a:prstGeom prst="straightConnector1">
            <a:avLst/>
          </a:prstGeom>
          <a:ln w="28575" cap="flat" cmpd="sng" algn="ctr">
            <a:solidFill>
              <a:srgbClr val="3C3C77"/>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21A7F17-6D9E-9388-E0AD-79C9323EA993}"/>
              </a:ext>
            </a:extLst>
          </p:cNvPr>
          <p:cNvSpPr/>
          <p:nvPr/>
        </p:nvSpPr>
        <p:spPr bwMode="auto">
          <a:xfrm>
            <a:off x="1137970" y="4011099"/>
            <a:ext cx="2937401" cy="1056037"/>
          </a:xfrm>
          <a:prstGeom prst="rect">
            <a:avLst/>
          </a:prstGeom>
          <a:solidFill>
            <a:srgbClr val="B2B2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i="0" dirty="0">
                <a:solidFill>
                  <a:srgbClr val="000000"/>
                </a:solidFill>
              </a:rPr>
              <a:t>How to measure the non-</a:t>
            </a:r>
            <a:r>
              <a:rPr lang="en-US" altLang="zh-CN" sz="2000" i="0" dirty="0" err="1">
                <a:solidFill>
                  <a:srgbClr val="000000"/>
                </a:solidFill>
              </a:rPr>
              <a:t>i.i.d</a:t>
            </a:r>
            <a:r>
              <a:rPr lang="en-US" altLang="zh-CN" sz="2000" i="0" dirty="0">
                <a:solidFill>
                  <a:srgbClr val="000000"/>
                </a:solidFill>
              </a:rPr>
              <a:t>. degree of datasets</a:t>
            </a:r>
            <a:endParaRPr lang="en-US" sz="2000" i="0" dirty="0">
              <a:solidFill>
                <a:srgbClr val="000000"/>
              </a:solidFill>
            </a:endParaRPr>
          </a:p>
        </p:txBody>
      </p:sp>
      <p:sp>
        <p:nvSpPr>
          <p:cNvPr id="10" name="Rectangle 9">
            <a:extLst>
              <a:ext uri="{FF2B5EF4-FFF2-40B4-BE49-F238E27FC236}">
                <a16:creationId xmlns:a16="http://schemas.microsoft.com/office/drawing/2014/main" id="{F5DABE5D-6F1C-9076-DEC2-B5F112E91B1C}"/>
              </a:ext>
            </a:extLst>
          </p:cNvPr>
          <p:cNvSpPr/>
          <p:nvPr/>
        </p:nvSpPr>
        <p:spPr bwMode="auto">
          <a:xfrm>
            <a:off x="8369063" y="4011098"/>
            <a:ext cx="2684967" cy="1056037"/>
          </a:xfrm>
          <a:prstGeom prst="rect">
            <a:avLst/>
          </a:prstGeom>
          <a:solidFill>
            <a:srgbClr val="B2B2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i="0" dirty="0">
                <a:solidFill>
                  <a:srgbClr val="000000"/>
                </a:solidFill>
              </a:rPr>
              <a:t>How to select better workers?</a:t>
            </a:r>
          </a:p>
        </p:txBody>
      </p:sp>
      <p:cxnSp>
        <p:nvCxnSpPr>
          <p:cNvPr id="11" name="Straight Arrow Connector 10">
            <a:extLst>
              <a:ext uri="{FF2B5EF4-FFF2-40B4-BE49-F238E27FC236}">
                <a16:creationId xmlns:a16="http://schemas.microsoft.com/office/drawing/2014/main" id="{EEB5BD1D-57C4-B094-5A81-794D3739A8EF}"/>
              </a:ext>
            </a:extLst>
          </p:cNvPr>
          <p:cNvCxnSpPr>
            <a:cxnSpLocks/>
            <a:stCxn id="9" idx="3"/>
            <a:endCxn id="7" idx="1"/>
          </p:cNvCxnSpPr>
          <p:nvPr/>
        </p:nvCxnSpPr>
        <p:spPr bwMode="auto">
          <a:xfrm>
            <a:off x="4075371" y="4539118"/>
            <a:ext cx="810138" cy="0"/>
          </a:xfrm>
          <a:prstGeom prst="straightConnector1">
            <a:avLst/>
          </a:prstGeom>
          <a:ln w="28575" cap="flat" cmpd="sng" algn="ctr">
            <a:solidFill>
              <a:srgbClr val="3C3C77"/>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7CBFF02-25DF-5597-85E4-3D45DCD9BF56}"/>
              </a:ext>
            </a:extLst>
          </p:cNvPr>
          <p:cNvSpPr txBox="1"/>
          <p:nvPr/>
        </p:nvSpPr>
        <p:spPr>
          <a:xfrm>
            <a:off x="406400" y="3179353"/>
            <a:ext cx="11056257" cy="523220"/>
          </a:xfrm>
          <a:prstGeom prst="rect">
            <a:avLst/>
          </a:prstGeom>
          <a:noFill/>
        </p:spPr>
        <p:txBody>
          <a:bodyPr wrap="square">
            <a:spAutoFit/>
          </a:bodyPr>
          <a:lstStyle/>
          <a:p>
            <a:pPr algn="ctr"/>
            <a:r>
              <a:rPr lang="en-US" altLang="zh-CN" sz="2800" dirty="0">
                <a:solidFill>
                  <a:srgbClr val="0000DA"/>
                </a:solidFill>
                <a:latin typeface="+mn-lt"/>
                <a:ea typeface="ＭＳ Ｐゴシック" pitchFamily="-112" charset="-128"/>
                <a:cs typeface="Arial"/>
              </a:rPr>
              <a:t>Solutions</a:t>
            </a:r>
            <a:r>
              <a:rPr lang="en-US" altLang="zh-CN" sz="2800" i="0" dirty="0">
                <a:solidFill>
                  <a:schemeClr val="bg2">
                    <a:lumMod val="60000"/>
                    <a:lumOff val="40000"/>
                  </a:schemeClr>
                </a:solidFill>
                <a:latin typeface="Times New Roman" panose="02020603050405020304" pitchFamily="18" charset="0"/>
                <a:cs typeface="Times New Roman" panose="02020603050405020304" pitchFamily="18" charset="0"/>
              </a:rPr>
              <a:t>: Distributed Swarm Learning with Over-the-air (DSL-OTA)</a:t>
            </a:r>
          </a:p>
        </p:txBody>
      </p:sp>
      <p:sp>
        <p:nvSpPr>
          <p:cNvPr id="21" name="Rectangle 6">
            <a:extLst>
              <a:ext uri="{FF2B5EF4-FFF2-40B4-BE49-F238E27FC236}">
                <a16:creationId xmlns:a16="http://schemas.microsoft.com/office/drawing/2014/main" id="{2D6B0F2C-3363-475B-B352-1A570D4C7DBE}"/>
              </a:ext>
            </a:extLst>
          </p:cNvPr>
          <p:cNvSpPr/>
          <p:nvPr/>
        </p:nvSpPr>
        <p:spPr bwMode="auto">
          <a:xfrm>
            <a:off x="4885509" y="5389407"/>
            <a:ext cx="2566851" cy="105603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i="0" dirty="0">
                <a:solidFill>
                  <a:srgbClr val="000000"/>
                </a:solidFill>
              </a:rPr>
              <a:t>Over-the-air Aggregation</a:t>
            </a:r>
          </a:p>
        </p:txBody>
      </p:sp>
      <p:cxnSp>
        <p:nvCxnSpPr>
          <p:cNvPr id="22" name="Straight Arrow Connector 7">
            <a:extLst>
              <a:ext uri="{FF2B5EF4-FFF2-40B4-BE49-F238E27FC236}">
                <a16:creationId xmlns:a16="http://schemas.microsoft.com/office/drawing/2014/main" id="{8FDAEE2A-64F1-4DFA-943F-35B0DD204C4B}"/>
              </a:ext>
            </a:extLst>
          </p:cNvPr>
          <p:cNvCxnSpPr>
            <a:cxnSpLocks/>
            <a:stCxn id="21" idx="3"/>
            <a:endCxn id="24" idx="1"/>
          </p:cNvCxnSpPr>
          <p:nvPr/>
        </p:nvCxnSpPr>
        <p:spPr bwMode="auto">
          <a:xfrm flipV="1">
            <a:off x="7452360" y="5917425"/>
            <a:ext cx="916703" cy="1"/>
          </a:xfrm>
          <a:prstGeom prst="straightConnector1">
            <a:avLst/>
          </a:prstGeom>
          <a:ln w="28575" cap="flat" cmpd="sng" algn="ctr">
            <a:solidFill>
              <a:srgbClr val="3C3C77"/>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Rectangle 8">
            <a:extLst>
              <a:ext uri="{FF2B5EF4-FFF2-40B4-BE49-F238E27FC236}">
                <a16:creationId xmlns:a16="http://schemas.microsoft.com/office/drawing/2014/main" id="{76FA4730-A65C-46D8-BB0B-CFCBB8E4ED72}"/>
              </a:ext>
            </a:extLst>
          </p:cNvPr>
          <p:cNvSpPr/>
          <p:nvPr/>
        </p:nvSpPr>
        <p:spPr bwMode="auto">
          <a:xfrm>
            <a:off x="1137970" y="5389407"/>
            <a:ext cx="2937401" cy="105603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i="0" kern="0" dirty="0">
                <a:solidFill>
                  <a:schemeClr val="tx1"/>
                </a:solidFill>
              </a:rPr>
              <a:t>Weighted Wasserstein Distance </a:t>
            </a:r>
          </a:p>
        </p:txBody>
      </p:sp>
      <p:sp>
        <p:nvSpPr>
          <p:cNvPr id="24" name="Rectangle 9">
            <a:extLst>
              <a:ext uri="{FF2B5EF4-FFF2-40B4-BE49-F238E27FC236}">
                <a16:creationId xmlns:a16="http://schemas.microsoft.com/office/drawing/2014/main" id="{7FDD8C41-B359-4A90-80A9-520811DB5BD7}"/>
              </a:ext>
            </a:extLst>
          </p:cNvPr>
          <p:cNvSpPr/>
          <p:nvPr/>
        </p:nvSpPr>
        <p:spPr bwMode="auto">
          <a:xfrm>
            <a:off x="8369063" y="5389406"/>
            <a:ext cx="2684967" cy="1056037"/>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i="0" kern="0" dirty="0">
                <a:solidFill>
                  <a:schemeClr val="tx1"/>
                </a:solidFill>
              </a:rPr>
              <a:t>Joint Optimization</a:t>
            </a:r>
            <a:endParaRPr lang="en-US" altLang="zh-CN" sz="2000" i="0" dirty="0">
              <a:solidFill>
                <a:schemeClr val="tx1"/>
              </a:solidFill>
            </a:endParaRPr>
          </a:p>
        </p:txBody>
      </p:sp>
      <p:cxnSp>
        <p:nvCxnSpPr>
          <p:cNvPr id="25" name="Straight Arrow Connector 10">
            <a:extLst>
              <a:ext uri="{FF2B5EF4-FFF2-40B4-BE49-F238E27FC236}">
                <a16:creationId xmlns:a16="http://schemas.microsoft.com/office/drawing/2014/main" id="{E44E92C3-2E3A-4A01-B242-89AE80111A35}"/>
              </a:ext>
            </a:extLst>
          </p:cNvPr>
          <p:cNvCxnSpPr>
            <a:cxnSpLocks/>
            <a:endCxn id="21" idx="1"/>
          </p:cNvCxnSpPr>
          <p:nvPr/>
        </p:nvCxnSpPr>
        <p:spPr bwMode="auto">
          <a:xfrm>
            <a:off x="4075371" y="5917426"/>
            <a:ext cx="810138" cy="0"/>
          </a:xfrm>
          <a:prstGeom prst="straightConnector1">
            <a:avLst/>
          </a:prstGeom>
          <a:ln w="28575" cap="flat" cmpd="sng" algn="ctr">
            <a:solidFill>
              <a:srgbClr val="3C3C77"/>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359505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1287B351-401A-4F9A-9346-3417381FB3F4}"/>
              </a:ext>
            </a:extLst>
          </p:cNvPr>
          <p:cNvSpPr txBox="1">
            <a:spLocks/>
          </p:cNvSpPr>
          <p:nvPr/>
        </p:nvSpPr>
        <p:spPr bwMode="auto">
          <a:xfrm>
            <a:off x="553067" y="1166404"/>
            <a:ext cx="10761169"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i="0" kern="0" dirty="0">
                <a:latin typeface="+mj-lt"/>
              </a:rPr>
              <a:t>Wasserstein distance (Earth Mover’s Distance)</a:t>
            </a:r>
          </a:p>
          <a:p>
            <a:pPr lvl="1"/>
            <a:r>
              <a:rPr lang="en-US" i="0" kern="0" dirty="0">
                <a:latin typeface="+mj-lt"/>
              </a:rPr>
              <a:t>The minimal cost of transforming one distribution to the other.</a:t>
            </a:r>
          </a:p>
          <a:p>
            <a:pPr lvl="1"/>
            <a:endParaRPr lang="en-US" i="0" kern="0" dirty="0">
              <a:latin typeface="+mj-lt"/>
            </a:endParaRPr>
          </a:p>
          <a:p>
            <a:pPr lvl="1"/>
            <a:endParaRPr lang="en-US" i="0" kern="0" dirty="0">
              <a:latin typeface="+mj-lt"/>
            </a:endParaRPr>
          </a:p>
          <a:p>
            <a:pPr lvl="1"/>
            <a:endParaRPr lang="en-US" i="0" kern="0" dirty="0">
              <a:latin typeface="+mj-lt"/>
            </a:endParaRPr>
          </a:p>
          <a:p>
            <a:pPr lvl="1"/>
            <a:endParaRPr lang="en-US" i="0" kern="0" dirty="0">
              <a:latin typeface="+mj-lt"/>
            </a:endParaRPr>
          </a:p>
          <a:p>
            <a:pPr lvl="1"/>
            <a:endParaRPr lang="en-US" i="0" kern="0" dirty="0">
              <a:latin typeface="+mj-lt"/>
            </a:endParaRPr>
          </a:p>
          <a:p>
            <a:pPr lvl="1"/>
            <a:endParaRPr lang="en-US" i="0" kern="0" dirty="0">
              <a:latin typeface="+mj-lt"/>
            </a:endParaRPr>
          </a:p>
          <a:p>
            <a:pPr lvl="1"/>
            <a:endParaRPr lang="en-US" i="0" kern="0" dirty="0">
              <a:latin typeface="+mj-lt"/>
            </a:endParaRPr>
          </a:p>
          <a:p>
            <a:pPr lvl="1"/>
            <a:r>
              <a:rPr lang="en-US" i="0" kern="0" dirty="0">
                <a:latin typeface="+mj-lt"/>
              </a:rPr>
              <a:t>Why Wasserstein distance? Why not </a:t>
            </a:r>
            <a:r>
              <a:rPr lang="en-US" altLang="zh-CN" i="0" kern="0" dirty="0">
                <a:latin typeface="+mj-lt"/>
              </a:rPr>
              <a:t>KL, JS distance?</a:t>
            </a:r>
          </a:p>
          <a:p>
            <a:pPr lvl="2"/>
            <a:r>
              <a:rPr lang="en-US" sz="2200" i="0" kern="0" dirty="0">
                <a:latin typeface="+mj-lt"/>
              </a:rPr>
              <a:t>Provide smoother for parameter updating.</a:t>
            </a:r>
          </a:p>
          <a:p>
            <a:pPr lvl="2"/>
            <a:r>
              <a:rPr lang="en-US" sz="2200" i="0" kern="0" dirty="0">
                <a:latin typeface="+mj-lt"/>
              </a:rPr>
              <a:t>Can solve non-overleaping distribution problems.</a:t>
            </a:r>
          </a:p>
        </p:txBody>
      </p:sp>
      <p:sp>
        <p:nvSpPr>
          <p:cNvPr id="2" name="Title 1">
            <a:extLst>
              <a:ext uri="{FF2B5EF4-FFF2-40B4-BE49-F238E27FC236}">
                <a16:creationId xmlns:a16="http://schemas.microsoft.com/office/drawing/2014/main" id="{16BC3C57-E873-72A4-7924-C4644AA95781}"/>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Proposed Method: </a:t>
            </a:r>
            <a:r>
              <a:rPr lang="en-US" altLang="zh-CN" dirty="0">
                <a:latin typeface="Times New Roman" panose="02020603050405020304" pitchFamily="18" charset="0"/>
                <a:cs typeface="Times New Roman" panose="02020603050405020304" pitchFamily="18" charset="0"/>
              </a:rPr>
              <a:t>Non-</a:t>
            </a:r>
            <a:r>
              <a:rPr lang="en-US" altLang="zh-CN" dirty="0" err="1">
                <a:latin typeface="Times New Roman" panose="02020603050405020304" pitchFamily="18" charset="0"/>
                <a:cs typeface="Times New Roman" panose="02020603050405020304" pitchFamily="18" charset="0"/>
              </a:rPr>
              <a:t>i.i.d</a:t>
            </a:r>
            <a:r>
              <a:rPr lang="en-US" altLang="zh-CN" dirty="0">
                <a:latin typeface="Times New Roman" panose="02020603050405020304" pitchFamily="18" charset="0"/>
                <a:cs typeface="Times New Roman" panose="02020603050405020304" pitchFamily="18" charset="0"/>
              </a:rPr>
              <a:t>. Metric</a:t>
            </a:r>
            <a:endParaRPr lang="en-US" dirty="0"/>
          </a:p>
        </p:txBody>
      </p:sp>
      <p:sp>
        <p:nvSpPr>
          <p:cNvPr id="4" name="Slide Number Placeholder 3">
            <a:extLst>
              <a:ext uri="{FF2B5EF4-FFF2-40B4-BE49-F238E27FC236}">
                <a16:creationId xmlns:a16="http://schemas.microsoft.com/office/drawing/2014/main" id="{C213F85E-DC2D-9B24-0CDB-5400EE3B8AC5}"/>
              </a:ext>
            </a:extLst>
          </p:cNvPr>
          <p:cNvSpPr>
            <a:spLocks noGrp="1"/>
          </p:cNvSpPr>
          <p:nvPr>
            <p:ph type="sldNum" sz="quarter" idx="11"/>
          </p:nvPr>
        </p:nvSpPr>
        <p:spPr/>
        <p:txBody>
          <a:bodyPr/>
          <a:lstStyle/>
          <a:p>
            <a:fld id="{B2B05758-BB4F-4559-81AD-225F352C8527}" type="slidenum">
              <a:rPr lang="zh-CN" altLang="en-US" smtClean="0"/>
              <a:t>15</a:t>
            </a:fld>
            <a:endParaRPr lang="zh-CN" altLang="en-US"/>
          </a:p>
        </p:txBody>
      </p:sp>
      <p:pic>
        <p:nvPicPr>
          <p:cNvPr id="5" name="图片 4">
            <a:extLst>
              <a:ext uri="{FF2B5EF4-FFF2-40B4-BE49-F238E27FC236}">
                <a16:creationId xmlns:a16="http://schemas.microsoft.com/office/drawing/2014/main" id="{37D80655-F81D-4D67-A1AA-C6074C4F6460}"/>
              </a:ext>
            </a:extLst>
          </p:cNvPr>
          <p:cNvPicPr>
            <a:picLocks noChangeAspect="1"/>
          </p:cNvPicPr>
          <p:nvPr/>
        </p:nvPicPr>
        <p:blipFill>
          <a:blip r:embed="rId3"/>
          <a:stretch>
            <a:fillRect/>
          </a:stretch>
        </p:blipFill>
        <p:spPr>
          <a:xfrm>
            <a:off x="2060027" y="2105775"/>
            <a:ext cx="6316718" cy="2785834"/>
          </a:xfrm>
          <a:prstGeom prst="rect">
            <a:avLst/>
          </a:prstGeom>
        </p:spPr>
      </p:pic>
      <p:sp>
        <p:nvSpPr>
          <p:cNvPr id="12" name="文本框 11">
            <a:extLst>
              <a:ext uri="{FF2B5EF4-FFF2-40B4-BE49-F238E27FC236}">
                <a16:creationId xmlns:a16="http://schemas.microsoft.com/office/drawing/2014/main" id="{ADB165AC-FECC-4C14-850E-97890D3BE516}"/>
              </a:ext>
            </a:extLst>
          </p:cNvPr>
          <p:cNvSpPr txBox="1"/>
          <p:nvPr/>
        </p:nvSpPr>
        <p:spPr>
          <a:xfrm>
            <a:off x="117565" y="6212988"/>
            <a:ext cx="11181055" cy="369332"/>
          </a:xfrm>
          <a:prstGeom prst="rect">
            <a:avLst/>
          </a:prstGeom>
          <a:noFill/>
        </p:spPr>
        <p:txBody>
          <a:bodyPr wrap="square" rtlCol="0">
            <a:spAutoFit/>
          </a:bodyPr>
          <a:lstStyle/>
          <a:p>
            <a:r>
              <a:rPr lang="en-US" altLang="zh-CN" sz="900" i="0" dirty="0">
                <a:latin typeface="+mn-lt"/>
                <a:ea typeface="宋体" panose="02010600030101010101" pitchFamily="2" charset="-122"/>
              </a:rPr>
              <a:t>[1] </a:t>
            </a:r>
            <a:r>
              <a:rPr lang="en-US" altLang="zh-CN" sz="900" b="0" i="0" dirty="0">
                <a:solidFill>
                  <a:srgbClr val="222222"/>
                </a:solidFill>
                <a:effectLst/>
                <a:latin typeface="Arial" panose="020B0604020202020204" pitchFamily="34" charset="0"/>
              </a:rPr>
              <a:t>Weng L. From </a:t>
            </a:r>
            <a:r>
              <a:rPr lang="en-US" altLang="zh-CN" sz="900" b="0" i="0" dirty="0" err="1">
                <a:solidFill>
                  <a:srgbClr val="222222"/>
                </a:solidFill>
                <a:effectLst/>
                <a:latin typeface="Arial" panose="020B0604020202020204" pitchFamily="34" charset="0"/>
              </a:rPr>
              <a:t>gan</a:t>
            </a:r>
            <a:r>
              <a:rPr lang="en-US" altLang="zh-CN" sz="900" b="0" i="0" dirty="0">
                <a:solidFill>
                  <a:srgbClr val="222222"/>
                </a:solidFill>
                <a:effectLst/>
                <a:latin typeface="Arial" panose="020B0604020202020204" pitchFamily="34" charset="0"/>
              </a:rPr>
              <a:t> to </a:t>
            </a:r>
            <a:r>
              <a:rPr lang="en-US" altLang="zh-CN" sz="900" b="0" i="0" dirty="0" err="1">
                <a:solidFill>
                  <a:srgbClr val="222222"/>
                </a:solidFill>
                <a:effectLst/>
                <a:latin typeface="Arial" panose="020B0604020202020204" pitchFamily="34" charset="0"/>
              </a:rPr>
              <a:t>wgan</a:t>
            </a:r>
            <a:r>
              <a:rPr lang="en-US" altLang="zh-CN" sz="900" b="0" i="0" dirty="0">
                <a:solidFill>
                  <a:srgbClr val="222222"/>
                </a:solidFill>
                <a:effectLst/>
                <a:latin typeface="Arial" panose="020B0604020202020204" pitchFamily="34" charset="0"/>
              </a:rPr>
              <a:t>[J]. </a:t>
            </a:r>
            <a:r>
              <a:rPr lang="en-US" altLang="zh-CN" sz="900" b="0" i="0" dirty="0" err="1">
                <a:solidFill>
                  <a:srgbClr val="222222"/>
                </a:solidFill>
                <a:effectLst/>
                <a:latin typeface="Arial" panose="020B0604020202020204" pitchFamily="34" charset="0"/>
              </a:rPr>
              <a:t>arXiv</a:t>
            </a:r>
            <a:r>
              <a:rPr lang="en-US" altLang="zh-CN" sz="900" b="0" i="0" dirty="0">
                <a:solidFill>
                  <a:srgbClr val="222222"/>
                </a:solidFill>
                <a:effectLst/>
                <a:latin typeface="Arial" panose="020B0604020202020204" pitchFamily="34" charset="0"/>
              </a:rPr>
              <a:t> preprint arXiv:1904.08994, 2019.</a:t>
            </a:r>
          </a:p>
          <a:p>
            <a:r>
              <a:rPr lang="en-US" altLang="zh-CN" sz="900" i="0" dirty="0">
                <a:solidFill>
                  <a:srgbClr val="222222"/>
                </a:solidFill>
                <a:latin typeface="Arial" panose="020B0604020202020204" pitchFamily="34" charset="0"/>
              </a:rPr>
              <a:t>[2] </a:t>
            </a:r>
            <a:r>
              <a:rPr lang="en-US" altLang="zh-CN" sz="900" i="0" dirty="0" err="1">
                <a:solidFill>
                  <a:srgbClr val="222222"/>
                </a:solidFill>
                <a:latin typeface="Arial" panose="020B0604020202020204" pitchFamily="34" charset="0"/>
              </a:rPr>
              <a:t>Lv</a:t>
            </a:r>
            <a:r>
              <a:rPr lang="en-US" altLang="zh-CN" sz="900" i="0" dirty="0">
                <a:solidFill>
                  <a:srgbClr val="222222"/>
                </a:solidFill>
                <a:latin typeface="Arial" panose="020B0604020202020204" pitchFamily="34" charset="0"/>
              </a:rPr>
              <a:t> J, Yang H, Li P. Wasserstein Distance Rivals </a:t>
            </a:r>
            <a:r>
              <a:rPr lang="en-US" altLang="zh-CN" sz="900" i="0" dirty="0" err="1">
                <a:solidFill>
                  <a:srgbClr val="222222"/>
                </a:solidFill>
                <a:latin typeface="Arial" panose="020B0604020202020204" pitchFamily="34" charset="0"/>
              </a:rPr>
              <a:t>Kullback-Leibler</a:t>
            </a:r>
            <a:r>
              <a:rPr lang="en-US" altLang="zh-CN" sz="900" i="0" dirty="0">
                <a:solidFill>
                  <a:srgbClr val="222222"/>
                </a:solidFill>
                <a:latin typeface="Arial" panose="020B0604020202020204" pitchFamily="34" charset="0"/>
              </a:rPr>
              <a:t> Divergence for Knowledge Distillation[J]. Advances in Neural Information Processing Systems, 2025, 37: 65445-65475.</a:t>
            </a:r>
            <a:endParaRPr lang="en-US" altLang="zh-CN" sz="900" b="0" i="0" dirty="0">
              <a:solidFill>
                <a:srgbClr val="222222"/>
              </a:solidFill>
              <a:effectLst/>
              <a:latin typeface="Arial" panose="020B0604020202020204" pitchFamily="34" charset="0"/>
            </a:endParaRPr>
          </a:p>
        </p:txBody>
      </p:sp>
      <p:pic>
        <p:nvPicPr>
          <p:cNvPr id="7" name="图片 6">
            <a:extLst>
              <a:ext uri="{FF2B5EF4-FFF2-40B4-BE49-F238E27FC236}">
                <a16:creationId xmlns:a16="http://schemas.microsoft.com/office/drawing/2014/main" id="{731E3971-9C52-4EC7-9555-F09BD25141DC}"/>
              </a:ext>
            </a:extLst>
          </p:cNvPr>
          <p:cNvPicPr>
            <a:picLocks noChangeAspect="1"/>
          </p:cNvPicPr>
          <p:nvPr/>
        </p:nvPicPr>
        <p:blipFill>
          <a:blip r:embed="rId4"/>
          <a:stretch>
            <a:fillRect/>
          </a:stretch>
        </p:blipFill>
        <p:spPr>
          <a:xfrm>
            <a:off x="7385509" y="5205909"/>
            <a:ext cx="4806491" cy="1111798"/>
          </a:xfrm>
          <a:prstGeom prst="rect">
            <a:avLst/>
          </a:prstGeom>
        </p:spPr>
      </p:pic>
    </p:spTree>
    <p:extLst>
      <p:ext uri="{BB962C8B-B14F-4D97-AF65-F5344CB8AC3E}">
        <p14:creationId xmlns:p14="http://schemas.microsoft.com/office/powerpoint/2010/main" val="172972676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8C90D2C-3A48-4C7F-A957-7C9B4951A7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6468" y="1756966"/>
            <a:ext cx="4891347" cy="3668511"/>
          </a:xfrm>
          <a:prstGeom prst="rect">
            <a:avLst/>
          </a:prstGeom>
        </p:spPr>
      </p:pic>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1287B351-401A-4F9A-9346-3417381FB3F4}"/>
                  </a:ext>
                </a:extLst>
              </p:cNvPr>
              <p:cNvSpPr txBox="1">
                <a:spLocks/>
              </p:cNvSpPr>
              <p:nvPr/>
            </p:nvSpPr>
            <p:spPr bwMode="auto">
              <a:xfrm>
                <a:off x="553067" y="1166404"/>
                <a:ext cx="744530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sz="2800" i="0" kern="0" dirty="0">
                    <a:latin typeface="+mj-lt"/>
                  </a:rPr>
                  <a:t>Data-based metric: Non-</a:t>
                </a:r>
                <a:r>
                  <a:rPr lang="en-US" altLang="zh-CN" sz="2800" i="0" kern="0" dirty="0" err="1">
                    <a:latin typeface="+mj-lt"/>
                  </a:rPr>
                  <a:t>i.i.d</a:t>
                </a:r>
                <a:r>
                  <a:rPr lang="en-US" altLang="zh-CN" sz="2800" i="0" kern="0" dirty="0">
                    <a:latin typeface="+mj-lt"/>
                  </a:rPr>
                  <a:t>. degree</a:t>
                </a:r>
              </a:p>
              <a:p>
                <a:pPr lvl="1"/>
                <a:r>
                  <a:rPr lang="en-US" i="0" kern="0" dirty="0">
                    <a:latin typeface="+mj-lt"/>
                  </a:rPr>
                  <a:t>Definition: FL with classification problem</a:t>
                </a:r>
              </a:p>
              <a:p>
                <a:pPr lvl="1"/>
                <a:endParaRPr lang="en-US" i="0" kern="0" dirty="0">
                  <a:latin typeface="+mj-lt"/>
                </a:endParaRPr>
              </a:p>
              <a:p>
                <a:pPr lvl="1"/>
                <a:endParaRPr lang="en-US" i="0" kern="0" dirty="0">
                  <a:latin typeface="+mj-lt"/>
                </a:endParaRPr>
              </a:p>
              <a:p>
                <a:pPr lvl="1"/>
                <a:r>
                  <a:rPr lang="en-US" i="0" kern="0" dirty="0">
                    <a:latin typeface="+mj-lt"/>
                  </a:rPr>
                  <a:t>WD of </a:t>
                </a:r>
                <a:r>
                  <a:rPr lang="en-US" i="0" kern="0" dirty="0" err="1">
                    <a:latin typeface="+mj-lt"/>
                  </a:rPr>
                  <a:t>i-th</a:t>
                </a:r>
                <a:r>
                  <a:rPr lang="en-US" i="0" kern="0" dirty="0">
                    <a:latin typeface="+mj-lt"/>
                  </a:rPr>
                  <a:t> dataset to global dataset</a:t>
                </a:r>
              </a:p>
              <a:p>
                <a:pPr lvl="1"/>
                <a:endParaRPr lang="en-US" i="0" kern="0" dirty="0">
                  <a:latin typeface="+mj-lt"/>
                </a:endParaRPr>
              </a:p>
              <a:p>
                <a:pPr marL="457200" lvl="1" indent="0">
                  <a:buNone/>
                </a:pPr>
                <a:endParaRPr lang="en-US" i="0" kern="0" dirty="0">
                  <a:latin typeface="+mj-lt"/>
                </a:endParaRPr>
              </a:p>
              <a:p>
                <a:pPr marL="457200" lvl="1" indent="0">
                  <a:buNone/>
                </a:pPr>
                <a:r>
                  <a:rPr lang="en-US" i="0" kern="0" dirty="0">
                    <a:latin typeface="+mj-lt"/>
                  </a:rPr>
                  <a:t>Where </a:t>
                </a:r>
                <a14:m>
                  <m:oMath xmlns:m="http://schemas.openxmlformats.org/officeDocument/2006/math">
                    <m:r>
                      <a:rPr lang="en-US" b="0" i="1" kern="0" smtClean="0">
                        <a:latin typeface="Cambria Math" panose="02040503050406030204" pitchFamily="18" charset="0"/>
                      </a:rPr>
                      <m:t>𝐹</m:t>
                    </m:r>
                    <m:r>
                      <a:rPr lang="en-US" b="0" i="1" kern="0" smtClean="0">
                        <a:latin typeface="Cambria Math" panose="02040503050406030204" pitchFamily="18" charset="0"/>
                      </a:rPr>
                      <m:t>(</m:t>
                    </m:r>
                    <m:sSub>
                      <m:sSubPr>
                        <m:ctrlPr>
                          <a:rPr lang="pt-BR" b="0" i="1" kern="0" smtClean="0">
                            <a:latin typeface="Cambria Math" panose="02040503050406030204" pitchFamily="18" charset="0"/>
                          </a:rPr>
                        </m:ctrlPr>
                      </m:sSubPr>
                      <m:e>
                        <m:r>
                          <a:rPr lang="en-US" b="0" i="1" kern="0" smtClean="0">
                            <a:latin typeface="Cambria Math" panose="02040503050406030204" pitchFamily="18" charset="0"/>
                          </a:rPr>
                          <m:t>𝑓</m:t>
                        </m:r>
                      </m:e>
                      <m:sub>
                        <m:r>
                          <a:rPr lang="en-US" b="0" i="1" kern="0" smtClean="0">
                            <a:latin typeface="Cambria Math" panose="02040503050406030204" pitchFamily="18" charset="0"/>
                          </a:rPr>
                          <m:t>𝑖</m:t>
                        </m:r>
                      </m:sub>
                    </m:sSub>
                    <m:r>
                      <a:rPr lang="en-US" b="0" i="1" kern="0" smtClean="0">
                        <a:latin typeface="Cambria Math" panose="02040503050406030204" pitchFamily="18" charset="0"/>
                      </a:rPr>
                      <m:t>,</m:t>
                    </m:r>
                    <m:sSub>
                      <m:sSubPr>
                        <m:ctrlPr>
                          <a:rPr lang="pt-BR" altLang="zh-CN" i="1" kern="0">
                            <a:latin typeface="Cambria Math" panose="02040503050406030204" pitchFamily="18" charset="0"/>
                          </a:rPr>
                        </m:ctrlPr>
                      </m:sSubPr>
                      <m:e>
                        <m:r>
                          <a:rPr lang="en-US" altLang="zh-CN" kern="0">
                            <a:latin typeface="Cambria Math" panose="02040503050406030204" pitchFamily="18" charset="0"/>
                          </a:rPr>
                          <m:t>𝑓</m:t>
                        </m:r>
                      </m:e>
                      <m:sub>
                        <m:r>
                          <a:rPr lang="en-US" altLang="zh-CN" b="0" i="1" kern="0" smtClean="0">
                            <a:latin typeface="Cambria Math" panose="02040503050406030204" pitchFamily="18" charset="0"/>
                          </a:rPr>
                          <m:t>𝑔</m:t>
                        </m:r>
                      </m:sub>
                    </m:sSub>
                    <m:r>
                      <a:rPr lang="en-US" b="0" i="1" kern="0" smtClean="0">
                        <a:latin typeface="Cambria Math" panose="02040503050406030204" pitchFamily="18" charset="0"/>
                      </a:rPr>
                      <m:t>)</m:t>
                    </m:r>
                  </m:oMath>
                </a14:m>
                <a:r>
                  <a:rPr lang="en-US" i="0" kern="0" dirty="0">
                    <a:latin typeface="+mj-lt"/>
                  </a:rPr>
                  <a:t> is the set of joint probability distribution satisfying </a:t>
                </a:r>
                <a14:m>
                  <m:oMath xmlns:m="http://schemas.openxmlformats.org/officeDocument/2006/math">
                    <m:nary>
                      <m:naryPr>
                        <m:limLoc m:val="undOvr"/>
                        <m:subHide m:val="on"/>
                        <m:supHide m:val="on"/>
                        <m:ctrlPr>
                          <a:rPr lang="en-US" altLang="zh-CN" i="1" kern="0" smtClean="0">
                            <a:latin typeface="Cambria Math" panose="02040503050406030204" pitchFamily="18" charset="0"/>
                            <a:ea typeface="Cambria Math" panose="02040503050406030204" pitchFamily="18" charset="0"/>
                          </a:rPr>
                        </m:ctrlPr>
                      </m:naryPr>
                      <m:sub/>
                      <m:sup/>
                      <m:e>
                        <m:r>
                          <a:rPr lang="en-US" altLang="zh-CN" kern="0">
                            <a:latin typeface="Cambria Math" panose="02040503050406030204" pitchFamily="18" charset="0"/>
                            <a:ea typeface="Cambria Math" panose="02040503050406030204" pitchFamily="18" charset="0"/>
                          </a:rPr>
                          <m:t>𝛾</m:t>
                        </m:r>
                        <m:d>
                          <m:dPr>
                            <m:ctrlPr>
                              <a:rPr lang="en-US" altLang="zh-CN" i="1" kern="0">
                                <a:latin typeface="Cambria Math" panose="02040503050406030204" pitchFamily="18" charset="0"/>
                                <a:ea typeface="Cambria Math" panose="02040503050406030204" pitchFamily="18" charset="0"/>
                              </a:rPr>
                            </m:ctrlPr>
                          </m:dPr>
                          <m:e>
                            <m:r>
                              <a:rPr lang="en-US" altLang="zh-CN" b="0" i="1" kern="0" smtClean="0">
                                <a:latin typeface="Cambria Math" panose="02040503050406030204" pitchFamily="18" charset="0"/>
                                <a:ea typeface="Cambria Math" panose="02040503050406030204" pitchFamily="18" charset="0"/>
                              </a:rPr>
                              <m:t>𝑥</m:t>
                            </m:r>
                            <m:r>
                              <a:rPr lang="en-US" altLang="zh-CN" kern="0">
                                <a:latin typeface="Cambria Math" panose="02040503050406030204" pitchFamily="18" charset="0"/>
                                <a:ea typeface="Cambria Math" panose="02040503050406030204" pitchFamily="18" charset="0"/>
                              </a:rPr>
                              <m:t>,</m:t>
                            </m:r>
                            <m:r>
                              <a:rPr lang="en-US" altLang="zh-CN" b="0" i="1" kern="0" smtClean="0">
                                <a:latin typeface="Cambria Math" panose="02040503050406030204" pitchFamily="18" charset="0"/>
                                <a:ea typeface="Cambria Math" panose="02040503050406030204" pitchFamily="18" charset="0"/>
                              </a:rPr>
                              <m:t>𝑧</m:t>
                            </m:r>
                          </m:e>
                        </m:d>
                        <m:r>
                          <a:rPr lang="en-US" altLang="zh-CN" kern="0">
                            <a:latin typeface="Cambria Math" panose="02040503050406030204" pitchFamily="18" charset="0"/>
                            <a:ea typeface="Cambria Math" panose="02040503050406030204" pitchFamily="18" charset="0"/>
                          </a:rPr>
                          <m:t>𝑑</m:t>
                        </m:r>
                        <m:r>
                          <a:rPr lang="en-US" altLang="zh-CN" b="0" i="1" kern="0" smtClean="0">
                            <a:latin typeface="Cambria Math" panose="02040503050406030204" pitchFamily="18" charset="0"/>
                            <a:ea typeface="Cambria Math" panose="02040503050406030204" pitchFamily="18" charset="0"/>
                          </a:rPr>
                          <m:t>𝑧</m:t>
                        </m:r>
                      </m:e>
                    </m:nary>
                    <m:r>
                      <a:rPr lang="en-US" altLang="zh-CN" b="0" i="1" kern="0" smtClean="0">
                        <a:latin typeface="Cambria Math" panose="02040503050406030204" pitchFamily="18" charset="0"/>
                        <a:ea typeface="Cambria Math" panose="02040503050406030204" pitchFamily="18" charset="0"/>
                      </a:rPr>
                      <m:t>=</m:t>
                    </m:r>
                    <m:sSub>
                      <m:sSubPr>
                        <m:ctrlPr>
                          <a:rPr lang="en-US" altLang="zh-CN" b="0" i="1" kern="0" smtClean="0">
                            <a:latin typeface="Cambria Math" panose="02040503050406030204" pitchFamily="18" charset="0"/>
                            <a:ea typeface="Cambria Math" panose="02040503050406030204" pitchFamily="18" charset="0"/>
                          </a:rPr>
                        </m:ctrlPr>
                      </m:sSubPr>
                      <m:e>
                        <m:r>
                          <a:rPr lang="en-US" altLang="zh-CN" b="0" i="1" kern="0" smtClean="0">
                            <a:latin typeface="Cambria Math" panose="02040503050406030204" pitchFamily="18" charset="0"/>
                            <a:ea typeface="Cambria Math" panose="02040503050406030204" pitchFamily="18" charset="0"/>
                          </a:rPr>
                          <m:t>𝑓</m:t>
                        </m:r>
                      </m:e>
                      <m:sub>
                        <m:r>
                          <a:rPr lang="en-US" altLang="zh-CN" b="0" i="1" kern="0" smtClean="0">
                            <a:latin typeface="Cambria Math" panose="02040503050406030204" pitchFamily="18" charset="0"/>
                            <a:ea typeface="Cambria Math" panose="02040503050406030204" pitchFamily="18" charset="0"/>
                          </a:rPr>
                          <m:t>𝑖</m:t>
                        </m:r>
                      </m:sub>
                    </m:sSub>
                    <m:d>
                      <m:dPr>
                        <m:ctrlPr>
                          <a:rPr lang="en-US" altLang="zh-CN" b="0" i="1" kern="0" smtClean="0">
                            <a:latin typeface="Cambria Math" panose="02040503050406030204" pitchFamily="18" charset="0"/>
                            <a:ea typeface="Cambria Math" panose="02040503050406030204" pitchFamily="18" charset="0"/>
                          </a:rPr>
                        </m:ctrlPr>
                      </m:dPr>
                      <m:e>
                        <m:r>
                          <a:rPr lang="en-US" altLang="zh-CN" b="0" i="1" kern="0" smtClean="0">
                            <a:latin typeface="Cambria Math" panose="02040503050406030204" pitchFamily="18" charset="0"/>
                            <a:ea typeface="Cambria Math" panose="02040503050406030204" pitchFamily="18" charset="0"/>
                          </a:rPr>
                          <m:t>𝑥</m:t>
                        </m:r>
                      </m:e>
                    </m:d>
                  </m:oMath>
                </a14:m>
                <a:r>
                  <a:rPr lang="en-US" i="0" kern="0" dirty="0">
                    <a:latin typeface="+mj-lt"/>
                  </a:rPr>
                  <a:t> and </a:t>
                </a:r>
                <a14:m>
                  <m:oMath xmlns:m="http://schemas.openxmlformats.org/officeDocument/2006/math">
                    <m:nary>
                      <m:naryPr>
                        <m:limLoc m:val="undOvr"/>
                        <m:subHide m:val="on"/>
                        <m:supHide m:val="on"/>
                        <m:ctrlPr>
                          <a:rPr lang="en-US" altLang="zh-CN" i="1" kern="0">
                            <a:latin typeface="Cambria Math" panose="02040503050406030204" pitchFamily="18" charset="0"/>
                            <a:ea typeface="Cambria Math" panose="02040503050406030204" pitchFamily="18" charset="0"/>
                          </a:rPr>
                        </m:ctrlPr>
                      </m:naryPr>
                      <m:sub/>
                      <m:sup/>
                      <m:e>
                        <m:r>
                          <a:rPr lang="en-US" altLang="zh-CN" kern="0">
                            <a:latin typeface="Cambria Math" panose="02040503050406030204" pitchFamily="18" charset="0"/>
                            <a:ea typeface="Cambria Math" panose="02040503050406030204" pitchFamily="18" charset="0"/>
                          </a:rPr>
                          <m:t>𝛾</m:t>
                        </m:r>
                        <m:d>
                          <m:dPr>
                            <m:ctrlPr>
                              <a:rPr lang="en-US" altLang="zh-CN" i="1" kern="0">
                                <a:latin typeface="Cambria Math" panose="02040503050406030204" pitchFamily="18" charset="0"/>
                                <a:ea typeface="Cambria Math" panose="02040503050406030204" pitchFamily="18" charset="0"/>
                              </a:rPr>
                            </m:ctrlPr>
                          </m:dPr>
                          <m:e>
                            <m:r>
                              <a:rPr lang="en-US" altLang="zh-CN" b="0" i="1" kern="0" smtClean="0">
                                <a:latin typeface="Cambria Math" panose="02040503050406030204" pitchFamily="18" charset="0"/>
                                <a:ea typeface="Cambria Math" panose="02040503050406030204" pitchFamily="18" charset="0"/>
                              </a:rPr>
                              <m:t>𝑧</m:t>
                            </m:r>
                            <m:r>
                              <a:rPr lang="en-US" altLang="zh-CN" kern="0">
                                <a:latin typeface="Cambria Math" panose="02040503050406030204" pitchFamily="18" charset="0"/>
                                <a:ea typeface="Cambria Math" panose="02040503050406030204" pitchFamily="18" charset="0"/>
                              </a:rPr>
                              <m:t>,</m:t>
                            </m:r>
                            <m:r>
                              <a:rPr lang="en-US" altLang="zh-CN" b="0" i="1" kern="0" smtClean="0">
                                <a:latin typeface="Cambria Math" panose="02040503050406030204" pitchFamily="18" charset="0"/>
                                <a:ea typeface="Cambria Math" panose="02040503050406030204" pitchFamily="18" charset="0"/>
                              </a:rPr>
                              <m:t>𝑦</m:t>
                            </m:r>
                          </m:e>
                        </m:d>
                        <m:r>
                          <a:rPr lang="en-US" altLang="zh-CN" kern="0">
                            <a:latin typeface="Cambria Math" panose="02040503050406030204" pitchFamily="18" charset="0"/>
                            <a:ea typeface="Cambria Math" panose="02040503050406030204" pitchFamily="18" charset="0"/>
                          </a:rPr>
                          <m:t>𝑑𝑧</m:t>
                        </m:r>
                      </m:e>
                    </m:nary>
                    <m:r>
                      <a:rPr lang="en-US" altLang="zh-CN" kern="0">
                        <a:latin typeface="Cambria Math" panose="02040503050406030204" pitchFamily="18" charset="0"/>
                        <a:ea typeface="Cambria Math" panose="02040503050406030204" pitchFamily="18" charset="0"/>
                      </a:rPr>
                      <m:t>=</m:t>
                    </m:r>
                    <m:sSub>
                      <m:sSubPr>
                        <m:ctrlPr>
                          <a:rPr lang="en-US" altLang="zh-CN" i="1" kern="0">
                            <a:latin typeface="Cambria Math" panose="02040503050406030204" pitchFamily="18" charset="0"/>
                            <a:ea typeface="Cambria Math" panose="02040503050406030204" pitchFamily="18" charset="0"/>
                          </a:rPr>
                        </m:ctrlPr>
                      </m:sSubPr>
                      <m:e>
                        <m:r>
                          <a:rPr lang="en-US" altLang="zh-CN" kern="0">
                            <a:latin typeface="Cambria Math" panose="02040503050406030204" pitchFamily="18" charset="0"/>
                            <a:ea typeface="Cambria Math" panose="02040503050406030204" pitchFamily="18" charset="0"/>
                          </a:rPr>
                          <m:t>𝑓</m:t>
                        </m:r>
                      </m:e>
                      <m:sub>
                        <m:r>
                          <a:rPr lang="en-US" altLang="zh-CN" b="0" i="1" kern="0" smtClean="0">
                            <a:latin typeface="Cambria Math" panose="02040503050406030204" pitchFamily="18" charset="0"/>
                            <a:ea typeface="Cambria Math" panose="02040503050406030204" pitchFamily="18" charset="0"/>
                          </a:rPr>
                          <m:t>𝑔</m:t>
                        </m:r>
                      </m:sub>
                    </m:sSub>
                    <m:d>
                      <m:dPr>
                        <m:ctrlPr>
                          <a:rPr lang="en-US" altLang="zh-CN" i="1" kern="0">
                            <a:latin typeface="Cambria Math" panose="02040503050406030204" pitchFamily="18" charset="0"/>
                            <a:ea typeface="Cambria Math" panose="02040503050406030204" pitchFamily="18" charset="0"/>
                          </a:rPr>
                        </m:ctrlPr>
                      </m:dPr>
                      <m:e>
                        <m:r>
                          <a:rPr lang="en-US" altLang="zh-CN" b="0" i="1" kern="0" smtClean="0">
                            <a:latin typeface="Cambria Math" panose="02040503050406030204" pitchFamily="18" charset="0"/>
                            <a:ea typeface="Cambria Math" panose="02040503050406030204" pitchFamily="18" charset="0"/>
                          </a:rPr>
                          <m:t>𝑦</m:t>
                        </m:r>
                      </m:e>
                    </m:d>
                  </m:oMath>
                </a14:m>
                <a:r>
                  <a:rPr lang="en-US" altLang="zh-CN" i="0" kern="0" dirty="0"/>
                  <a:t> ,</a:t>
                </a:r>
                <a:r>
                  <a:rPr lang="en-US" altLang="zh-CN" kern="0" dirty="0">
                    <a:ea typeface="Cambria Math" panose="02040503050406030204" pitchFamily="18" charset="0"/>
                  </a:rPr>
                  <a:t> </a:t>
                </a:r>
                <a14:m>
                  <m:oMath xmlns:m="http://schemas.openxmlformats.org/officeDocument/2006/math">
                    <m:d>
                      <m:dPr>
                        <m:begChr m:val="‖"/>
                        <m:endChr m:val="‖"/>
                        <m:ctrlPr>
                          <a:rPr lang="en-US" altLang="zh-CN" i="1" kern="0" smtClean="0">
                            <a:latin typeface="Cambria Math" panose="02040503050406030204" pitchFamily="18" charset="0"/>
                            <a:ea typeface="Cambria Math" panose="02040503050406030204" pitchFamily="18" charset="0"/>
                          </a:rPr>
                        </m:ctrlPr>
                      </m:dPr>
                      <m:e>
                        <m:r>
                          <a:rPr lang="en-US" altLang="zh-CN" i="1" kern="0" smtClean="0">
                            <a:latin typeface="Cambria Math" panose="02040503050406030204" pitchFamily="18" charset="0"/>
                            <a:ea typeface="Cambria Math" panose="02040503050406030204" pitchFamily="18" charset="0"/>
                          </a:rPr>
                          <m:t>∙</m:t>
                        </m:r>
                      </m:e>
                    </m:d>
                  </m:oMath>
                </a14:m>
                <a:r>
                  <a:rPr lang="en-US" altLang="zh-CN" i="0" kern="0" dirty="0"/>
                  <a:t> is the Euclidean distance.</a:t>
                </a:r>
              </a:p>
              <a:p>
                <a:pPr lvl="1"/>
                <a:r>
                  <a:rPr lang="en-US" i="0" kern="0" dirty="0">
                    <a:latin typeface="+mj-lt"/>
                  </a:rPr>
                  <a:t>Normalized non-</a:t>
                </a:r>
                <a:r>
                  <a:rPr lang="en-US" i="0" kern="0" dirty="0" err="1">
                    <a:latin typeface="+mj-lt"/>
                  </a:rPr>
                  <a:t>i.i.d</a:t>
                </a:r>
                <a:r>
                  <a:rPr lang="en-US" i="0" kern="0" dirty="0">
                    <a:latin typeface="+mj-lt"/>
                  </a:rPr>
                  <a:t>. degree:</a:t>
                </a:r>
              </a:p>
              <a:p>
                <a:pPr lvl="1"/>
                <a:endParaRPr lang="en-US" sz="2600" i="0" kern="0" dirty="0">
                  <a:latin typeface="+mj-lt"/>
                </a:endParaRPr>
              </a:p>
              <a:p>
                <a:pPr lvl="1"/>
                <a:endParaRPr lang="en-US" sz="2600" i="0" kern="0" dirty="0">
                  <a:latin typeface="+mj-lt"/>
                </a:endParaRPr>
              </a:p>
              <a:p>
                <a:pPr lvl="1"/>
                <a:endParaRPr lang="en-US" sz="2800" i="0" kern="0" dirty="0">
                  <a:latin typeface="+mj-lt"/>
                </a:endParaRPr>
              </a:p>
            </p:txBody>
          </p:sp>
        </mc:Choice>
        <mc:Fallback xmlns="">
          <p:sp>
            <p:nvSpPr>
              <p:cNvPr id="13" name="Content Placeholder 2">
                <a:extLst>
                  <a:ext uri="{FF2B5EF4-FFF2-40B4-BE49-F238E27FC236}">
                    <a16:creationId xmlns:a16="http://schemas.microsoft.com/office/drawing/2014/main" id="{1287B351-401A-4F9A-9346-3417381FB3F4}"/>
                  </a:ext>
                </a:extLst>
              </p:cNvPr>
              <p:cNvSpPr txBox="1">
                <a:spLocks noRot="1" noChangeAspect="1" noMove="1" noResize="1" noEditPoints="1" noAdjustHandles="1" noChangeArrowheads="1" noChangeShapeType="1" noTextEdit="1"/>
              </p:cNvSpPr>
              <p:nvPr/>
            </p:nvSpPr>
            <p:spPr bwMode="auto">
              <a:xfrm>
                <a:off x="553067" y="1166404"/>
                <a:ext cx="7445305" cy="4419600"/>
              </a:xfrm>
              <a:prstGeom prst="rect">
                <a:avLst/>
              </a:prstGeom>
              <a:blipFill>
                <a:blip r:embed="rId5"/>
                <a:stretch>
                  <a:fillRect l="-1147" t="-1379" b="-6621"/>
                </a:stretch>
              </a:blipFill>
              <a:ln w="9525">
                <a:noFill/>
                <a:miter lim="800000"/>
                <a:headEnd/>
                <a:tailEnd/>
              </a:ln>
            </p:spPr>
            <p:txBody>
              <a:bodyPr/>
              <a:lstStyle/>
              <a:p>
                <a:r>
                  <a:rPr lang="zh-CN" altLang="en-US">
                    <a:noFill/>
                  </a:rPr>
                  <a:t> </a:t>
                </a:r>
              </a:p>
            </p:txBody>
          </p:sp>
        </mc:Fallback>
      </mc:AlternateContent>
      <p:sp>
        <p:nvSpPr>
          <p:cNvPr id="2" name="Title 1">
            <a:extLst>
              <a:ext uri="{FF2B5EF4-FFF2-40B4-BE49-F238E27FC236}">
                <a16:creationId xmlns:a16="http://schemas.microsoft.com/office/drawing/2014/main" id="{16BC3C57-E873-72A4-7924-C4644AA95781}"/>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Proposed Method: </a:t>
            </a:r>
            <a:r>
              <a:rPr lang="en-US" altLang="zh-CN" dirty="0">
                <a:latin typeface="Times New Roman" panose="02020603050405020304" pitchFamily="18" charset="0"/>
                <a:cs typeface="Times New Roman" panose="02020603050405020304" pitchFamily="18" charset="0"/>
              </a:rPr>
              <a:t>Non-</a:t>
            </a:r>
            <a:r>
              <a:rPr lang="en-US" altLang="zh-CN" dirty="0" err="1">
                <a:latin typeface="Times New Roman" panose="02020603050405020304" pitchFamily="18" charset="0"/>
                <a:cs typeface="Times New Roman" panose="02020603050405020304" pitchFamily="18" charset="0"/>
              </a:rPr>
              <a:t>i.i.d</a:t>
            </a:r>
            <a:r>
              <a:rPr lang="en-US" altLang="zh-CN" dirty="0">
                <a:latin typeface="Times New Roman" panose="02020603050405020304" pitchFamily="18" charset="0"/>
                <a:cs typeface="Times New Roman" panose="02020603050405020304" pitchFamily="18" charset="0"/>
              </a:rPr>
              <a:t>. Metric</a:t>
            </a:r>
            <a:endParaRPr lang="en-US" dirty="0"/>
          </a:p>
        </p:txBody>
      </p:sp>
      <p:sp>
        <p:nvSpPr>
          <p:cNvPr id="4" name="Slide Number Placeholder 3">
            <a:extLst>
              <a:ext uri="{FF2B5EF4-FFF2-40B4-BE49-F238E27FC236}">
                <a16:creationId xmlns:a16="http://schemas.microsoft.com/office/drawing/2014/main" id="{C213F85E-DC2D-9B24-0CDB-5400EE3B8AC5}"/>
              </a:ext>
            </a:extLst>
          </p:cNvPr>
          <p:cNvSpPr>
            <a:spLocks noGrp="1"/>
          </p:cNvSpPr>
          <p:nvPr>
            <p:ph type="sldNum" sz="quarter" idx="11"/>
          </p:nvPr>
        </p:nvSpPr>
        <p:spPr/>
        <p:txBody>
          <a:bodyPr/>
          <a:lstStyle/>
          <a:p>
            <a:fld id="{B2B05758-BB4F-4559-81AD-225F352C8527}" type="slidenum">
              <a:rPr lang="zh-CN" altLang="en-US" smtClean="0"/>
              <a:t>16</a:t>
            </a:fld>
            <a:endParaRPr lang="zh-CN" altLang="en-US"/>
          </a:p>
        </p:txBody>
      </p:sp>
      <p:graphicFrame>
        <p:nvGraphicFramePr>
          <p:cNvPr id="11" name="对象 10">
            <a:extLst>
              <a:ext uri="{FF2B5EF4-FFF2-40B4-BE49-F238E27FC236}">
                <a16:creationId xmlns:a16="http://schemas.microsoft.com/office/drawing/2014/main" id="{F8C609B2-C2F6-42B0-A153-3E5185260552}"/>
              </a:ext>
            </a:extLst>
          </p:cNvPr>
          <p:cNvGraphicFramePr>
            <a:graphicFrameLocks noChangeAspect="1"/>
          </p:cNvGraphicFramePr>
          <p:nvPr>
            <p:extLst>
              <p:ext uri="{D42A27DB-BD31-4B8C-83A1-F6EECF244321}">
                <p14:modId xmlns:p14="http://schemas.microsoft.com/office/powerpoint/2010/main" val="2136616385"/>
              </p:ext>
            </p:extLst>
          </p:nvPr>
        </p:nvGraphicFramePr>
        <p:xfrm>
          <a:off x="1475586" y="3321958"/>
          <a:ext cx="3922712" cy="735012"/>
        </p:xfrm>
        <a:graphic>
          <a:graphicData uri="http://schemas.openxmlformats.org/presentationml/2006/ole">
            <mc:AlternateContent xmlns:mc="http://schemas.openxmlformats.org/markup-compatibility/2006">
              <mc:Choice xmlns:v="urn:schemas-microsoft-com:vml" Requires="v">
                <p:oleObj spid="_x0000_s7484" name="Equation" r:id="rId6" imgW="1968480" imgH="368280" progId="Equation.DSMT4">
                  <p:embed/>
                </p:oleObj>
              </mc:Choice>
              <mc:Fallback>
                <p:oleObj name="Equation" r:id="rId6" imgW="1968480" imgH="368280" progId="Equation.DSMT4">
                  <p:embed/>
                  <p:pic>
                    <p:nvPicPr>
                      <p:cNvPr id="11" name="对象 10">
                        <a:extLst>
                          <a:ext uri="{FF2B5EF4-FFF2-40B4-BE49-F238E27FC236}">
                            <a16:creationId xmlns:a16="http://schemas.microsoft.com/office/drawing/2014/main" id="{E3A6251E-C07B-41B5-808B-0ACBB35A2A17}"/>
                          </a:ext>
                        </a:extLst>
                      </p:cNvPr>
                      <p:cNvPicPr/>
                      <p:nvPr/>
                    </p:nvPicPr>
                    <p:blipFill>
                      <a:blip r:embed="rId7"/>
                      <a:stretch>
                        <a:fillRect/>
                      </a:stretch>
                    </p:blipFill>
                    <p:spPr>
                      <a:xfrm>
                        <a:off x="1475586" y="3321958"/>
                        <a:ext cx="3922712" cy="73501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81A83012-1E03-4140-8BDE-3CA5A65CA7C8}"/>
              </a:ext>
            </a:extLst>
          </p:cNvPr>
          <p:cNvGraphicFramePr>
            <a:graphicFrameLocks noChangeAspect="1"/>
          </p:cNvGraphicFramePr>
          <p:nvPr>
            <p:extLst>
              <p:ext uri="{D42A27DB-BD31-4B8C-83A1-F6EECF244321}">
                <p14:modId xmlns:p14="http://schemas.microsoft.com/office/powerpoint/2010/main" val="2780357461"/>
              </p:ext>
            </p:extLst>
          </p:nvPr>
        </p:nvGraphicFramePr>
        <p:xfrm>
          <a:off x="1475586" y="2090965"/>
          <a:ext cx="4583113" cy="457200"/>
        </p:xfrm>
        <a:graphic>
          <a:graphicData uri="http://schemas.openxmlformats.org/presentationml/2006/ole">
            <mc:AlternateContent xmlns:mc="http://schemas.openxmlformats.org/markup-compatibility/2006">
              <mc:Choice xmlns:v="urn:schemas-microsoft-com:vml" Requires="v">
                <p:oleObj spid="_x0000_s7485" name="Equation" r:id="rId8" imgW="2298600" imgH="228600" progId="Equation.DSMT4">
                  <p:embed/>
                </p:oleObj>
              </mc:Choice>
              <mc:Fallback>
                <p:oleObj name="Equation" r:id="rId8" imgW="2298600" imgH="228600" progId="Equation.DSMT4">
                  <p:embed/>
                  <p:pic>
                    <p:nvPicPr>
                      <p:cNvPr id="11" name="对象 10">
                        <a:extLst>
                          <a:ext uri="{FF2B5EF4-FFF2-40B4-BE49-F238E27FC236}">
                            <a16:creationId xmlns:a16="http://schemas.microsoft.com/office/drawing/2014/main" id="{F8C609B2-C2F6-42B0-A153-3E5185260552}"/>
                          </a:ext>
                        </a:extLst>
                      </p:cNvPr>
                      <p:cNvPicPr/>
                      <p:nvPr/>
                    </p:nvPicPr>
                    <p:blipFill>
                      <a:blip r:embed="rId9"/>
                      <a:stretch>
                        <a:fillRect/>
                      </a:stretch>
                    </p:blipFill>
                    <p:spPr>
                      <a:xfrm>
                        <a:off x="1475586" y="2090965"/>
                        <a:ext cx="4583113" cy="4572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AEAD7F7-25A6-41FF-97D0-7C7DABBB4BFD}"/>
              </a:ext>
            </a:extLst>
          </p:cNvPr>
          <p:cNvGraphicFramePr>
            <a:graphicFrameLocks noChangeAspect="1"/>
          </p:cNvGraphicFramePr>
          <p:nvPr>
            <p:extLst>
              <p:ext uri="{D42A27DB-BD31-4B8C-83A1-F6EECF244321}">
                <p14:modId xmlns:p14="http://schemas.microsoft.com/office/powerpoint/2010/main" val="1638107688"/>
              </p:ext>
            </p:extLst>
          </p:nvPr>
        </p:nvGraphicFramePr>
        <p:xfrm>
          <a:off x="1486775" y="2412240"/>
          <a:ext cx="2405063" cy="558800"/>
        </p:xfrm>
        <a:graphic>
          <a:graphicData uri="http://schemas.openxmlformats.org/presentationml/2006/ole">
            <mc:AlternateContent xmlns:mc="http://schemas.openxmlformats.org/markup-compatibility/2006">
              <mc:Choice xmlns:v="urn:schemas-microsoft-com:vml" Requires="v">
                <p:oleObj spid="_x0000_s7486" name="Equation" r:id="rId10" imgW="1206360" imgH="279360" progId="Equation.DSMT4">
                  <p:embed/>
                </p:oleObj>
              </mc:Choice>
              <mc:Fallback>
                <p:oleObj name="Equation" r:id="rId10" imgW="1206360" imgH="279360" progId="Equation.DSMT4">
                  <p:embed/>
                  <p:pic>
                    <p:nvPicPr>
                      <p:cNvPr id="14" name="对象 13">
                        <a:extLst>
                          <a:ext uri="{FF2B5EF4-FFF2-40B4-BE49-F238E27FC236}">
                            <a16:creationId xmlns:a16="http://schemas.microsoft.com/office/drawing/2014/main" id="{81A83012-1E03-4140-8BDE-3CA5A65CA7C8}"/>
                          </a:ext>
                        </a:extLst>
                      </p:cNvPr>
                      <p:cNvPicPr/>
                      <p:nvPr/>
                    </p:nvPicPr>
                    <p:blipFill>
                      <a:blip r:embed="rId11"/>
                      <a:stretch>
                        <a:fillRect/>
                      </a:stretch>
                    </p:blipFill>
                    <p:spPr>
                      <a:xfrm>
                        <a:off x="1486775" y="2412240"/>
                        <a:ext cx="2405063" cy="55880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C9C1C640-817A-4BDD-A288-53C4D0D82B43}"/>
              </a:ext>
            </a:extLst>
          </p:cNvPr>
          <p:cNvGraphicFramePr>
            <a:graphicFrameLocks noChangeAspect="1"/>
          </p:cNvGraphicFramePr>
          <p:nvPr>
            <p:extLst>
              <p:ext uri="{D42A27DB-BD31-4B8C-83A1-F6EECF244321}">
                <p14:modId xmlns:p14="http://schemas.microsoft.com/office/powerpoint/2010/main" val="416728882"/>
              </p:ext>
            </p:extLst>
          </p:nvPr>
        </p:nvGraphicFramePr>
        <p:xfrm>
          <a:off x="1486775" y="5565775"/>
          <a:ext cx="4754563" cy="1063625"/>
        </p:xfrm>
        <a:graphic>
          <a:graphicData uri="http://schemas.openxmlformats.org/presentationml/2006/ole">
            <mc:AlternateContent xmlns:mc="http://schemas.openxmlformats.org/markup-compatibility/2006">
              <mc:Choice xmlns:v="urn:schemas-microsoft-com:vml" Requires="v">
                <p:oleObj spid="_x0000_s7487" name="Equation" r:id="rId12" imgW="2387520" imgH="533160" progId="Equation.DSMT4">
                  <p:embed/>
                </p:oleObj>
              </mc:Choice>
              <mc:Fallback>
                <p:oleObj name="Equation" r:id="rId12" imgW="2387520" imgH="533160" progId="Equation.DSMT4">
                  <p:embed/>
                  <p:pic>
                    <p:nvPicPr>
                      <p:cNvPr id="11" name="对象 10">
                        <a:extLst>
                          <a:ext uri="{FF2B5EF4-FFF2-40B4-BE49-F238E27FC236}">
                            <a16:creationId xmlns:a16="http://schemas.microsoft.com/office/drawing/2014/main" id="{F8C609B2-C2F6-42B0-A153-3E5185260552}"/>
                          </a:ext>
                        </a:extLst>
                      </p:cNvPr>
                      <p:cNvPicPr/>
                      <p:nvPr/>
                    </p:nvPicPr>
                    <p:blipFill>
                      <a:blip r:embed="rId13"/>
                      <a:stretch>
                        <a:fillRect/>
                      </a:stretch>
                    </p:blipFill>
                    <p:spPr>
                      <a:xfrm>
                        <a:off x="1486775" y="5565775"/>
                        <a:ext cx="4754563" cy="1063625"/>
                      </a:xfrm>
                      <a:prstGeom prst="rect">
                        <a:avLst/>
                      </a:prstGeom>
                    </p:spPr>
                  </p:pic>
                </p:oleObj>
              </mc:Fallback>
            </mc:AlternateContent>
          </a:graphicData>
        </a:graphic>
      </p:graphicFrame>
      <p:sp>
        <p:nvSpPr>
          <p:cNvPr id="10" name="内容占位符 2">
            <a:extLst>
              <a:ext uri="{FF2B5EF4-FFF2-40B4-BE49-F238E27FC236}">
                <a16:creationId xmlns:a16="http://schemas.microsoft.com/office/drawing/2014/main" id="{F8CB07C5-B78E-4BE4-9A09-F005752973CB}"/>
              </a:ext>
            </a:extLst>
          </p:cNvPr>
          <p:cNvSpPr txBox="1">
            <a:spLocks/>
          </p:cNvSpPr>
          <p:nvPr/>
        </p:nvSpPr>
        <p:spPr bwMode="auto">
          <a:xfrm>
            <a:off x="7714104" y="5425477"/>
            <a:ext cx="3896073" cy="16101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a:buClr>
                <a:srgbClr val="005919"/>
              </a:buClr>
              <a:buFont typeface="Wingdings" panose="05000000000000000000" pitchFamily="2" charset="2"/>
              <a:buChar char="ü"/>
            </a:pPr>
            <a:r>
              <a:rPr lang="en-US" sz="2300" i="0" kern="0" dirty="0">
                <a:solidFill>
                  <a:srgbClr val="006600"/>
                </a:solidFill>
              </a:rPr>
              <a:t>Low non-</a:t>
            </a:r>
            <a:r>
              <a:rPr lang="en-US" sz="2300" i="0" kern="0" dirty="0" err="1">
                <a:solidFill>
                  <a:srgbClr val="006600"/>
                </a:solidFill>
              </a:rPr>
              <a:t>i.i.d</a:t>
            </a:r>
            <a:r>
              <a:rPr lang="en-US" sz="2300" i="0" kern="0" dirty="0">
                <a:solidFill>
                  <a:srgbClr val="006600"/>
                </a:solidFill>
              </a:rPr>
              <a:t>. degree means more labels and more balanced distribution</a:t>
            </a:r>
          </a:p>
        </p:txBody>
      </p:sp>
    </p:spTree>
    <p:extLst>
      <p:ext uri="{BB962C8B-B14F-4D97-AF65-F5344CB8AC3E}">
        <p14:creationId xmlns:p14="http://schemas.microsoft.com/office/powerpoint/2010/main" val="407975701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B9B33F40-637F-44F9-9578-85C8D60E8122}"/>
              </a:ext>
            </a:extLst>
          </p:cNvPr>
          <p:cNvSpPr>
            <a:spLocks noGrp="1"/>
          </p:cNvSpPr>
          <p:nvPr>
            <p:ph idx="1"/>
          </p:nvPr>
        </p:nvSpPr>
        <p:spPr>
          <a:xfrm>
            <a:off x="406400" y="1330457"/>
            <a:ext cx="10972800" cy="3886200"/>
          </a:xfrm>
        </p:spPr>
        <p:txBody>
          <a:bodyPr/>
          <a:lstStyle/>
          <a:p>
            <a:r>
              <a:rPr lang="en-US" altLang="zh-CN" dirty="0"/>
              <a:t>OTA: to enhance model aggregation</a:t>
            </a:r>
          </a:p>
          <a:p>
            <a:pPr lvl="1"/>
            <a:r>
              <a:rPr lang="en-US" altLang="zh-CN" i="0" kern="0" dirty="0">
                <a:latin typeface="+mj-lt"/>
              </a:rPr>
              <a:t>Signal Transmission</a:t>
            </a:r>
          </a:p>
          <a:p>
            <a:pPr lvl="1"/>
            <a:endParaRPr lang="en-US" altLang="zh-CN" dirty="0">
              <a:latin typeface="+mj-lt"/>
            </a:endParaRPr>
          </a:p>
          <a:p>
            <a:pPr lvl="1"/>
            <a:r>
              <a:rPr lang="en-US" altLang="zh-CN" i="0" kern="0" dirty="0">
                <a:latin typeface="+mj-lt"/>
              </a:rPr>
              <a:t>Received signal: </a:t>
            </a:r>
          </a:p>
          <a:p>
            <a:pPr lvl="1"/>
            <a:endParaRPr lang="en-US" altLang="zh-CN" dirty="0">
              <a:latin typeface="+mj-lt"/>
            </a:endParaRPr>
          </a:p>
          <a:p>
            <a:pPr lvl="1"/>
            <a:r>
              <a:rPr lang="en-US" altLang="zh-CN" dirty="0"/>
              <a:t>Recognizable transmitting power constraint:</a:t>
            </a:r>
            <a:endParaRPr lang="en-US" altLang="zh-CN" i="0" kern="0" dirty="0">
              <a:latin typeface="+mj-lt"/>
            </a:endParaRPr>
          </a:p>
          <a:p>
            <a:pPr lvl="1"/>
            <a:endParaRPr lang="en-US" altLang="zh-CN" i="0" kern="0" dirty="0">
              <a:latin typeface="+mj-lt"/>
            </a:endParaRPr>
          </a:p>
          <a:p>
            <a:pPr lvl="1"/>
            <a:endParaRPr lang="en-US" altLang="zh-CN" dirty="0">
              <a:latin typeface="+mj-lt"/>
            </a:endParaRPr>
          </a:p>
          <a:p>
            <a:pPr lvl="1"/>
            <a:endParaRPr lang="en-US" altLang="zh-CN" i="0" kern="0" dirty="0">
              <a:latin typeface="+mj-lt"/>
            </a:endParaRPr>
          </a:p>
          <a:p>
            <a:pPr lvl="1"/>
            <a:r>
              <a:rPr lang="en-US" altLang="zh-CN" i="0" kern="0" dirty="0">
                <a:latin typeface="+mj-lt"/>
              </a:rPr>
              <a:t>Received sum parameter:</a:t>
            </a:r>
          </a:p>
          <a:p>
            <a:pPr lvl="1"/>
            <a:endParaRPr lang="en-US" altLang="zh-CN" dirty="0">
              <a:latin typeface="+mj-lt"/>
            </a:endParaRPr>
          </a:p>
          <a:p>
            <a:pPr marL="457200" lvl="1" indent="0">
              <a:buNone/>
            </a:pPr>
            <a:endParaRPr lang="en-US" altLang="zh-CN" i="0" kern="0" dirty="0">
              <a:latin typeface="+mj-lt"/>
            </a:endParaRPr>
          </a:p>
          <a:p>
            <a:pPr lvl="1"/>
            <a:endParaRPr lang="en-US" altLang="zh-CN" dirty="0"/>
          </a:p>
          <a:p>
            <a:pPr lvl="1"/>
            <a:endParaRPr lang="en-US" altLang="zh-CN" dirty="0"/>
          </a:p>
          <a:p>
            <a:pPr lvl="1"/>
            <a:endParaRPr lang="en-US" altLang="zh-CN" dirty="0"/>
          </a:p>
          <a:p>
            <a:pPr lvl="1"/>
            <a:r>
              <a:rPr lang="en-US" altLang="zh-CN" dirty="0"/>
              <a:t>Estimated signal:</a:t>
            </a:r>
          </a:p>
          <a:p>
            <a:pPr lvl="1"/>
            <a:endParaRPr lang="en-US" altLang="zh-CN" dirty="0"/>
          </a:p>
        </p:txBody>
      </p:sp>
      <p:sp>
        <p:nvSpPr>
          <p:cNvPr id="2" name="Title 1">
            <a:extLst>
              <a:ext uri="{FF2B5EF4-FFF2-40B4-BE49-F238E27FC236}">
                <a16:creationId xmlns:a16="http://schemas.microsoft.com/office/drawing/2014/main" id="{16BC3C57-E873-72A4-7924-C4644AA95781}"/>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Proposed Method: </a:t>
            </a:r>
            <a:r>
              <a:rPr lang="en-US" altLang="zh-CN" dirty="0">
                <a:latin typeface="Times New Roman" panose="02020603050405020304" pitchFamily="18" charset="0"/>
                <a:cs typeface="Times New Roman" panose="02020603050405020304" pitchFamily="18" charset="0"/>
              </a:rPr>
              <a:t>DSL</a:t>
            </a:r>
            <a:r>
              <a:rPr lang="en-US" altLang="zh-CN" sz="3600" i="0" dirty="0">
                <a:latin typeface="Times New Roman" panose="02020603050405020304" pitchFamily="18" charset="0"/>
                <a:cs typeface="Times New Roman" panose="02020603050405020304" pitchFamily="18" charset="0"/>
              </a:rPr>
              <a:t>-OTA</a:t>
            </a:r>
            <a:endParaRPr lang="en-US" dirty="0"/>
          </a:p>
        </p:txBody>
      </p:sp>
      <p:sp>
        <p:nvSpPr>
          <p:cNvPr id="4" name="Slide Number Placeholder 3">
            <a:extLst>
              <a:ext uri="{FF2B5EF4-FFF2-40B4-BE49-F238E27FC236}">
                <a16:creationId xmlns:a16="http://schemas.microsoft.com/office/drawing/2014/main" id="{C213F85E-DC2D-9B24-0CDB-5400EE3B8AC5}"/>
              </a:ext>
            </a:extLst>
          </p:cNvPr>
          <p:cNvSpPr>
            <a:spLocks noGrp="1"/>
          </p:cNvSpPr>
          <p:nvPr>
            <p:ph type="sldNum" sz="quarter" idx="11"/>
          </p:nvPr>
        </p:nvSpPr>
        <p:spPr/>
        <p:txBody>
          <a:bodyPr/>
          <a:lstStyle/>
          <a:p>
            <a:fld id="{B2B05758-BB4F-4559-81AD-225F352C8527}" type="slidenum">
              <a:rPr lang="zh-CN" altLang="en-US" smtClean="0"/>
              <a:t>17</a:t>
            </a:fld>
            <a:endParaRPr lang="zh-CN" altLang="en-US"/>
          </a:p>
        </p:txBody>
      </p:sp>
      <p:graphicFrame>
        <p:nvGraphicFramePr>
          <p:cNvPr id="9" name="对象 8">
            <a:extLst>
              <a:ext uri="{FF2B5EF4-FFF2-40B4-BE49-F238E27FC236}">
                <a16:creationId xmlns:a16="http://schemas.microsoft.com/office/drawing/2014/main" id="{E8E51742-803F-40A0-AAA7-4B3400B5C2A7}"/>
              </a:ext>
            </a:extLst>
          </p:cNvPr>
          <p:cNvGraphicFramePr>
            <a:graphicFrameLocks noChangeAspect="1"/>
          </p:cNvGraphicFramePr>
          <p:nvPr>
            <p:extLst>
              <p:ext uri="{D42A27DB-BD31-4B8C-83A1-F6EECF244321}">
                <p14:modId xmlns:p14="http://schemas.microsoft.com/office/powerpoint/2010/main" val="1864357219"/>
              </p:ext>
            </p:extLst>
          </p:nvPr>
        </p:nvGraphicFramePr>
        <p:xfrm>
          <a:off x="1492250" y="2870200"/>
          <a:ext cx="3617913" cy="685800"/>
        </p:xfrm>
        <a:graphic>
          <a:graphicData uri="http://schemas.openxmlformats.org/presentationml/2006/ole">
            <mc:AlternateContent xmlns:mc="http://schemas.openxmlformats.org/markup-compatibility/2006">
              <mc:Choice xmlns:v="urn:schemas-microsoft-com:vml" Requires="v">
                <p:oleObj spid="_x0000_s29788" name="Equation" r:id="rId4" imgW="1815840" imgH="342720" progId="Equation.DSMT4">
                  <p:embed/>
                </p:oleObj>
              </mc:Choice>
              <mc:Fallback>
                <p:oleObj name="Equation" r:id="rId4" imgW="1815840" imgH="342720" progId="Equation.DSMT4">
                  <p:embed/>
                  <p:pic>
                    <p:nvPicPr>
                      <p:cNvPr id="14" name="对象 13">
                        <a:extLst>
                          <a:ext uri="{FF2B5EF4-FFF2-40B4-BE49-F238E27FC236}">
                            <a16:creationId xmlns:a16="http://schemas.microsoft.com/office/drawing/2014/main" id="{81A83012-1E03-4140-8BDE-3CA5A65CA7C8}"/>
                          </a:ext>
                        </a:extLst>
                      </p:cNvPr>
                      <p:cNvPicPr/>
                      <p:nvPr/>
                    </p:nvPicPr>
                    <p:blipFill>
                      <a:blip r:embed="rId5"/>
                      <a:stretch>
                        <a:fillRect/>
                      </a:stretch>
                    </p:blipFill>
                    <p:spPr>
                      <a:xfrm>
                        <a:off x="1492250" y="2870200"/>
                        <a:ext cx="3617913" cy="68580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15EA61FC-ACCB-4261-9D07-576CE349C758}"/>
              </a:ext>
            </a:extLst>
          </p:cNvPr>
          <p:cNvGraphicFramePr>
            <a:graphicFrameLocks noChangeAspect="1"/>
          </p:cNvGraphicFramePr>
          <p:nvPr>
            <p:extLst>
              <p:ext uri="{D42A27DB-BD31-4B8C-83A1-F6EECF244321}">
                <p14:modId xmlns:p14="http://schemas.microsoft.com/office/powerpoint/2010/main" val="2622081076"/>
              </p:ext>
            </p:extLst>
          </p:nvPr>
        </p:nvGraphicFramePr>
        <p:xfrm>
          <a:off x="1757363" y="3919822"/>
          <a:ext cx="3294063" cy="984250"/>
        </p:xfrm>
        <a:graphic>
          <a:graphicData uri="http://schemas.openxmlformats.org/presentationml/2006/ole">
            <mc:AlternateContent xmlns:mc="http://schemas.openxmlformats.org/markup-compatibility/2006">
              <mc:Choice xmlns:v="urn:schemas-microsoft-com:vml" Requires="v">
                <p:oleObj spid="_x0000_s29789" name="Equation" r:id="rId6" imgW="1701720" imgH="507960" progId="Equation.DSMT4">
                  <p:embed/>
                </p:oleObj>
              </mc:Choice>
              <mc:Fallback>
                <p:oleObj name="Equation" r:id="rId6" imgW="1701720" imgH="507960" progId="Equation.DSMT4">
                  <p:embed/>
                  <p:pic>
                    <p:nvPicPr>
                      <p:cNvPr id="60" name="对象 59">
                        <a:extLst>
                          <a:ext uri="{FF2B5EF4-FFF2-40B4-BE49-F238E27FC236}">
                            <a16:creationId xmlns:a16="http://schemas.microsoft.com/office/drawing/2014/main" id="{5DB12469-F4F5-4602-B89D-598EE4F00003}"/>
                          </a:ext>
                        </a:extLst>
                      </p:cNvPr>
                      <p:cNvPicPr/>
                      <p:nvPr/>
                    </p:nvPicPr>
                    <p:blipFill>
                      <a:blip r:embed="rId7"/>
                      <a:stretch>
                        <a:fillRect/>
                      </a:stretch>
                    </p:blipFill>
                    <p:spPr>
                      <a:xfrm>
                        <a:off x="1757363" y="3919822"/>
                        <a:ext cx="3294063" cy="98425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6F35F610-B431-4CE1-AA03-3490BD2B155E}"/>
              </a:ext>
            </a:extLst>
          </p:cNvPr>
          <p:cNvGraphicFramePr>
            <a:graphicFrameLocks noChangeAspect="1"/>
          </p:cNvGraphicFramePr>
          <p:nvPr>
            <p:extLst>
              <p:ext uri="{D42A27DB-BD31-4B8C-83A1-F6EECF244321}">
                <p14:modId xmlns:p14="http://schemas.microsoft.com/office/powerpoint/2010/main" val="2078949178"/>
              </p:ext>
            </p:extLst>
          </p:nvPr>
        </p:nvGraphicFramePr>
        <p:xfrm>
          <a:off x="1757363" y="2112423"/>
          <a:ext cx="2041525" cy="541338"/>
        </p:xfrm>
        <a:graphic>
          <a:graphicData uri="http://schemas.openxmlformats.org/presentationml/2006/ole">
            <mc:AlternateContent xmlns:mc="http://schemas.openxmlformats.org/markup-compatibility/2006">
              <mc:Choice xmlns:v="urn:schemas-microsoft-com:vml" Requires="v">
                <p:oleObj spid="_x0000_s29790" name="Equation" r:id="rId8" imgW="1054080" imgH="279360" progId="Equation.DSMT4">
                  <p:embed/>
                </p:oleObj>
              </mc:Choice>
              <mc:Fallback>
                <p:oleObj name="Equation" r:id="rId8" imgW="1054080" imgH="279360" progId="Equation.DSMT4">
                  <p:embed/>
                  <p:pic>
                    <p:nvPicPr>
                      <p:cNvPr id="9" name="对象 8">
                        <a:extLst>
                          <a:ext uri="{FF2B5EF4-FFF2-40B4-BE49-F238E27FC236}">
                            <a16:creationId xmlns:a16="http://schemas.microsoft.com/office/drawing/2014/main" id="{00444B6D-1367-4799-B221-98265B7DF13C}"/>
                          </a:ext>
                        </a:extLst>
                      </p:cNvPr>
                      <p:cNvPicPr/>
                      <p:nvPr/>
                    </p:nvPicPr>
                    <p:blipFill>
                      <a:blip r:embed="rId9"/>
                      <a:stretch>
                        <a:fillRect/>
                      </a:stretch>
                    </p:blipFill>
                    <p:spPr>
                      <a:xfrm>
                        <a:off x="1757363" y="2112423"/>
                        <a:ext cx="2041525" cy="541338"/>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9F3E4586-EFC7-4179-A150-80389EF6D685}"/>
              </a:ext>
            </a:extLst>
          </p:cNvPr>
          <p:cNvGraphicFramePr>
            <a:graphicFrameLocks noChangeAspect="1"/>
          </p:cNvGraphicFramePr>
          <p:nvPr>
            <p:extLst>
              <p:ext uri="{D42A27DB-BD31-4B8C-83A1-F6EECF244321}">
                <p14:modId xmlns:p14="http://schemas.microsoft.com/office/powerpoint/2010/main" val="3592218328"/>
              </p:ext>
            </p:extLst>
          </p:nvPr>
        </p:nvGraphicFramePr>
        <p:xfrm>
          <a:off x="739228" y="5382204"/>
          <a:ext cx="6959600" cy="936625"/>
        </p:xfrm>
        <a:graphic>
          <a:graphicData uri="http://schemas.openxmlformats.org/presentationml/2006/ole">
            <mc:AlternateContent xmlns:mc="http://schemas.openxmlformats.org/markup-compatibility/2006">
              <mc:Choice xmlns:v="urn:schemas-microsoft-com:vml" Requires="v">
                <p:oleObj spid="_x0000_s29791" name="Equation" r:id="rId10" imgW="3593880" imgH="482400" progId="Equation.DSMT4">
                  <p:embed/>
                </p:oleObj>
              </mc:Choice>
              <mc:Fallback>
                <p:oleObj name="Equation" r:id="rId10" imgW="3593880" imgH="482400" progId="Equation.DSMT4">
                  <p:embed/>
                  <p:pic>
                    <p:nvPicPr>
                      <p:cNvPr id="65" name="对象 64">
                        <a:extLst>
                          <a:ext uri="{FF2B5EF4-FFF2-40B4-BE49-F238E27FC236}">
                            <a16:creationId xmlns:a16="http://schemas.microsoft.com/office/drawing/2014/main" id="{4FC51CE6-CD0D-435E-973D-483018133BCE}"/>
                          </a:ext>
                        </a:extLst>
                      </p:cNvPr>
                      <p:cNvPicPr/>
                      <p:nvPr/>
                    </p:nvPicPr>
                    <p:blipFill>
                      <a:blip r:embed="rId11"/>
                      <a:stretch>
                        <a:fillRect/>
                      </a:stretch>
                    </p:blipFill>
                    <p:spPr>
                      <a:xfrm>
                        <a:off x="739228" y="5382204"/>
                        <a:ext cx="6959600" cy="936625"/>
                      </a:xfrm>
                      <a:prstGeom prst="rect">
                        <a:avLst/>
                      </a:prstGeom>
                    </p:spPr>
                  </p:pic>
                </p:oleObj>
              </mc:Fallback>
            </mc:AlternateContent>
          </a:graphicData>
        </a:graphic>
      </p:graphicFrame>
      <p:sp>
        <p:nvSpPr>
          <p:cNvPr id="18" name="内容占位符 2">
            <a:extLst>
              <a:ext uri="{FF2B5EF4-FFF2-40B4-BE49-F238E27FC236}">
                <a16:creationId xmlns:a16="http://schemas.microsoft.com/office/drawing/2014/main" id="{2E300E7C-6870-4D8D-A74E-38D30434155C}"/>
              </a:ext>
            </a:extLst>
          </p:cNvPr>
          <p:cNvSpPr txBox="1">
            <a:spLocks/>
          </p:cNvSpPr>
          <p:nvPr/>
        </p:nvSpPr>
        <p:spPr bwMode="auto">
          <a:xfrm>
            <a:off x="8836778" y="4822906"/>
            <a:ext cx="3355221" cy="16101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a:buClr>
                <a:srgbClr val="005919"/>
              </a:buClr>
              <a:buFont typeface="Wingdings" panose="05000000000000000000" pitchFamily="2" charset="2"/>
              <a:buChar char="ü"/>
            </a:pPr>
            <a:r>
              <a:rPr lang="en-US" sz="2300" i="0" kern="0" dirty="0">
                <a:solidFill>
                  <a:srgbClr val="006600"/>
                </a:solidFill>
              </a:rPr>
              <a:t>Increase </a:t>
            </a:r>
            <a:r>
              <a:rPr lang="en-US" sz="2300" kern="0" dirty="0">
                <a:solidFill>
                  <a:srgbClr val="006600"/>
                </a:solidFill>
              </a:rPr>
              <a:t>U</a:t>
            </a:r>
            <a:r>
              <a:rPr lang="en-US" sz="2300" i="0" kern="0" dirty="0">
                <a:solidFill>
                  <a:srgbClr val="006600"/>
                </a:solidFill>
              </a:rPr>
              <a:t>-time </a:t>
            </a:r>
            <a:r>
              <a:rPr lang="en-US" sz="2300" i="0" kern="0" dirty="0" err="1">
                <a:solidFill>
                  <a:srgbClr val="006600"/>
                </a:solidFill>
              </a:rPr>
              <a:t>commun</a:t>
            </a:r>
            <a:r>
              <a:rPr lang="en-US" sz="2300" i="0" kern="0" dirty="0">
                <a:solidFill>
                  <a:srgbClr val="006600"/>
                </a:solidFill>
              </a:rPr>
              <a:t>. Efficiency</a:t>
            </a:r>
          </a:p>
          <a:p>
            <a:pPr>
              <a:buClr>
                <a:srgbClr val="005919"/>
              </a:buClr>
              <a:buFont typeface="Wingdings" panose="05000000000000000000" pitchFamily="2" charset="2"/>
              <a:buChar char="ü"/>
            </a:pPr>
            <a:r>
              <a:rPr lang="en-US" sz="2300" i="0" kern="0" dirty="0">
                <a:solidFill>
                  <a:srgbClr val="006600"/>
                </a:solidFill>
              </a:rPr>
              <a:t>Unreachable local params for server</a:t>
            </a:r>
          </a:p>
        </p:txBody>
      </p:sp>
      <p:sp>
        <p:nvSpPr>
          <p:cNvPr id="21" name="文本框 20">
            <a:extLst>
              <a:ext uri="{FF2B5EF4-FFF2-40B4-BE49-F238E27FC236}">
                <a16:creationId xmlns:a16="http://schemas.microsoft.com/office/drawing/2014/main" id="{D86B5317-677C-4CB8-B0A1-34A3FB3909D8}"/>
              </a:ext>
            </a:extLst>
          </p:cNvPr>
          <p:cNvSpPr txBox="1"/>
          <p:nvPr/>
        </p:nvSpPr>
        <p:spPr>
          <a:xfrm>
            <a:off x="96544" y="6368960"/>
            <a:ext cx="11181055" cy="230832"/>
          </a:xfrm>
          <a:prstGeom prst="rect">
            <a:avLst/>
          </a:prstGeom>
          <a:noFill/>
        </p:spPr>
        <p:txBody>
          <a:bodyPr wrap="square" rtlCol="0">
            <a:spAutoFit/>
          </a:bodyPr>
          <a:lstStyle/>
          <a:p>
            <a:r>
              <a:rPr lang="en-US" altLang="zh-CN" sz="900" i="0" dirty="0">
                <a:latin typeface="+mn-lt"/>
                <a:ea typeface="宋体" panose="02010600030101010101" pitchFamily="2" charset="-122"/>
              </a:rPr>
              <a:t>[1] </a:t>
            </a:r>
            <a:r>
              <a:rPr lang="en-US" altLang="zh-CN" sz="900" b="0" i="0" dirty="0">
                <a:solidFill>
                  <a:srgbClr val="222222"/>
                </a:solidFill>
                <a:effectLst/>
                <a:latin typeface="Arial" panose="020B0604020202020204" pitchFamily="34" charset="0"/>
              </a:rPr>
              <a:t>Fan X, Wang Y, </a:t>
            </a:r>
            <a:r>
              <a:rPr lang="en-US" altLang="zh-CN" sz="900" b="0" i="0" dirty="0" err="1">
                <a:solidFill>
                  <a:srgbClr val="222222"/>
                </a:solidFill>
                <a:effectLst/>
                <a:latin typeface="Arial" panose="020B0604020202020204" pitchFamily="34" charset="0"/>
              </a:rPr>
              <a:t>Huo</a:t>
            </a:r>
            <a:r>
              <a:rPr lang="en-US" altLang="zh-CN" sz="900" b="0" i="0" dirty="0">
                <a:solidFill>
                  <a:srgbClr val="222222"/>
                </a:solidFill>
                <a:effectLst/>
                <a:latin typeface="Arial" panose="020B0604020202020204" pitchFamily="34" charset="0"/>
              </a:rPr>
              <a:t> Y, et al. Joint optimization for federated learning over the air[C]//ICC 2022-IEEE International Conference on Communications. IEEE, 2022: 2798-2803.</a:t>
            </a:r>
          </a:p>
        </p:txBody>
      </p:sp>
    </p:spTree>
    <p:extLst>
      <p:ext uri="{BB962C8B-B14F-4D97-AF65-F5344CB8AC3E}">
        <p14:creationId xmlns:p14="http://schemas.microsoft.com/office/powerpoint/2010/main" val="169761357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1287B351-401A-4F9A-9346-3417381FB3F4}"/>
              </a:ext>
            </a:extLst>
          </p:cNvPr>
          <p:cNvSpPr txBox="1">
            <a:spLocks/>
          </p:cNvSpPr>
          <p:nvPr/>
        </p:nvSpPr>
        <p:spPr bwMode="auto">
          <a:xfrm>
            <a:off x="553067" y="1166404"/>
            <a:ext cx="10761169"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sz="2800" i="0" kern="0" dirty="0">
                <a:latin typeface="+mj-lt"/>
              </a:rPr>
              <a:t>Adaptive multi-worker selection: Joint-optimization </a:t>
            </a:r>
          </a:p>
          <a:p>
            <a:pPr lvl="1"/>
            <a:r>
              <a:rPr lang="en-US" sz="2600" i="0" kern="0" dirty="0">
                <a:latin typeface="+mj-lt"/>
              </a:rPr>
              <a:t>T</a:t>
            </a:r>
            <a:r>
              <a:rPr lang="en-US" altLang="zh-CN" sz="2600" i="0" kern="0" dirty="0">
                <a:latin typeface="+mj-lt"/>
              </a:rPr>
              <a:t>arget: select more workers for collaboration learning</a:t>
            </a:r>
            <a:endParaRPr lang="en-US" sz="2600" i="0" kern="0" dirty="0">
              <a:latin typeface="+mj-lt"/>
            </a:endParaRPr>
          </a:p>
          <a:p>
            <a:pPr lvl="1"/>
            <a:r>
              <a:rPr lang="en-US" sz="2600" i="0" kern="0" dirty="0">
                <a:latin typeface="+mj-lt"/>
              </a:rPr>
              <a:t>Constrain: reachable signal, high quality local data, better accuracy score.</a:t>
            </a:r>
          </a:p>
          <a:p>
            <a:pPr lvl="1"/>
            <a:r>
              <a:rPr lang="en-US" sz="2600" i="0" kern="0" dirty="0">
                <a:latin typeface="+mj-lt"/>
              </a:rPr>
              <a:t>Strategy: adaptive optimization</a:t>
            </a:r>
          </a:p>
        </p:txBody>
      </p:sp>
      <p:sp>
        <p:nvSpPr>
          <p:cNvPr id="2" name="Title 1">
            <a:extLst>
              <a:ext uri="{FF2B5EF4-FFF2-40B4-BE49-F238E27FC236}">
                <a16:creationId xmlns:a16="http://schemas.microsoft.com/office/drawing/2014/main" id="{16BC3C57-E873-72A4-7924-C4644AA95781}"/>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Proposed Method: </a:t>
            </a:r>
            <a:r>
              <a:rPr lang="en-US" altLang="zh-CN" dirty="0">
                <a:latin typeface="Times New Roman" panose="02020603050405020304" pitchFamily="18" charset="0"/>
                <a:cs typeface="Times New Roman" panose="02020603050405020304" pitchFamily="18" charset="0"/>
              </a:rPr>
              <a:t>DSL-OTA</a:t>
            </a:r>
            <a:endParaRPr lang="en-US" dirty="0"/>
          </a:p>
        </p:txBody>
      </p:sp>
      <p:sp>
        <p:nvSpPr>
          <p:cNvPr id="4" name="Slide Number Placeholder 3">
            <a:extLst>
              <a:ext uri="{FF2B5EF4-FFF2-40B4-BE49-F238E27FC236}">
                <a16:creationId xmlns:a16="http://schemas.microsoft.com/office/drawing/2014/main" id="{C213F85E-DC2D-9B24-0CDB-5400EE3B8AC5}"/>
              </a:ext>
            </a:extLst>
          </p:cNvPr>
          <p:cNvSpPr>
            <a:spLocks noGrp="1"/>
          </p:cNvSpPr>
          <p:nvPr>
            <p:ph type="sldNum" sz="quarter" idx="11"/>
          </p:nvPr>
        </p:nvSpPr>
        <p:spPr/>
        <p:txBody>
          <a:bodyPr/>
          <a:lstStyle/>
          <a:p>
            <a:fld id="{B2B05758-BB4F-4559-81AD-225F352C8527}" type="slidenum">
              <a:rPr lang="zh-CN" altLang="en-US" smtClean="0"/>
              <a:t>18</a:t>
            </a:fld>
            <a:endParaRPr lang="zh-CN" altLang="en-US"/>
          </a:p>
        </p:txBody>
      </p:sp>
      <p:graphicFrame>
        <p:nvGraphicFramePr>
          <p:cNvPr id="11" name="对象 10">
            <a:extLst>
              <a:ext uri="{FF2B5EF4-FFF2-40B4-BE49-F238E27FC236}">
                <a16:creationId xmlns:a16="http://schemas.microsoft.com/office/drawing/2014/main" id="{E3A6251E-C07B-41B5-808B-0ACBB35A2A17}"/>
              </a:ext>
            </a:extLst>
          </p:cNvPr>
          <p:cNvGraphicFramePr>
            <a:graphicFrameLocks noChangeAspect="1"/>
          </p:cNvGraphicFramePr>
          <p:nvPr>
            <p:extLst>
              <p:ext uri="{D42A27DB-BD31-4B8C-83A1-F6EECF244321}">
                <p14:modId xmlns:p14="http://schemas.microsoft.com/office/powerpoint/2010/main" val="1053807602"/>
              </p:ext>
            </p:extLst>
          </p:nvPr>
        </p:nvGraphicFramePr>
        <p:xfrm>
          <a:off x="387350" y="2956798"/>
          <a:ext cx="4160838" cy="3827463"/>
        </p:xfrm>
        <a:graphic>
          <a:graphicData uri="http://schemas.openxmlformats.org/presentationml/2006/ole">
            <mc:AlternateContent xmlns:mc="http://schemas.openxmlformats.org/markup-compatibility/2006">
              <mc:Choice xmlns:v="urn:schemas-microsoft-com:vml" Requires="v">
                <p:oleObj spid="_x0000_s18588" name="Equation" r:id="rId4" imgW="1904760" imgH="1752480" progId="Equation.DSMT4">
                  <p:embed/>
                </p:oleObj>
              </mc:Choice>
              <mc:Fallback>
                <p:oleObj name="Equation" r:id="rId4" imgW="1904760" imgH="1752480" progId="Equation.DSMT4">
                  <p:embed/>
                  <p:pic>
                    <p:nvPicPr>
                      <p:cNvPr id="11" name="对象 10">
                        <a:extLst>
                          <a:ext uri="{FF2B5EF4-FFF2-40B4-BE49-F238E27FC236}">
                            <a16:creationId xmlns:a16="http://schemas.microsoft.com/office/drawing/2014/main" id="{E3A6251E-C07B-41B5-808B-0ACBB35A2A17}"/>
                          </a:ext>
                        </a:extLst>
                      </p:cNvPr>
                      <p:cNvPicPr/>
                      <p:nvPr/>
                    </p:nvPicPr>
                    <p:blipFill>
                      <a:blip r:embed="rId5"/>
                      <a:stretch>
                        <a:fillRect/>
                      </a:stretch>
                    </p:blipFill>
                    <p:spPr>
                      <a:xfrm>
                        <a:off x="387350" y="2956798"/>
                        <a:ext cx="4160838" cy="3827463"/>
                      </a:xfrm>
                      <a:prstGeom prst="rect">
                        <a:avLst/>
                      </a:prstGeom>
                    </p:spPr>
                  </p:pic>
                </p:oleObj>
              </mc:Fallback>
            </mc:AlternateContent>
          </a:graphicData>
        </a:graphic>
      </p:graphicFrame>
      <p:sp>
        <p:nvSpPr>
          <p:cNvPr id="12" name="右箭头 6">
            <a:extLst>
              <a:ext uri="{FF2B5EF4-FFF2-40B4-BE49-F238E27FC236}">
                <a16:creationId xmlns:a16="http://schemas.microsoft.com/office/drawing/2014/main" id="{D10217E7-6DC1-49BE-92F4-E40E65D90580}"/>
              </a:ext>
            </a:extLst>
          </p:cNvPr>
          <p:cNvSpPr/>
          <p:nvPr/>
        </p:nvSpPr>
        <p:spPr bwMode="auto">
          <a:xfrm>
            <a:off x="4719871" y="4568956"/>
            <a:ext cx="457200" cy="3810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Arial" charset="0"/>
            </a:endParaRPr>
          </a:p>
        </p:txBody>
      </p:sp>
      <p:graphicFrame>
        <p:nvGraphicFramePr>
          <p:cNvPr id="18" name="对象 17">
            <a:extLst>
              <a:ext uri="{FF2B5EF4-FFF2-40B4-BE49-F238E27FC236}">
                <a16:creationId xmlns:a16="http://schemas.microsoft.com/office/drawing/2014/main" id="{8A7A1C62-6E7E-4E9C-B5C5-C354ADBF8629}"/>
              </a:ext>
            </a:extLst>
          </p:cNvPr>
          <p:cNvGraphicFramePr>
            <a:graphicFrameLocks noChangeAspect="1"/>
          </p:cNvGraphicFramePr>
          <p:nvPr>
            <p:extLst>
              <p:ext uri="{D42A27DB-BD31-4B8C-83A1-F6EECF244321}">
                <p14:modId xmlns:p14="http://schemas.microsoft.com/office/powerpoint/2010/main" val="2865391137"/>
              </p:ext>
            </p:extLst>
          </p:nvPr>
        </p:nvGraphicFramePr>
        <p:xfrm>
          <a:off x="4819704" y="2979243"/>
          <a:ext cx="7267575" cy="2940050"/>
        </p:xfrm>
        <a:graphic>
          <a:graphicData uri="http://schemas.openxmlformats.org/presentationml/2006/ole">
            <mc:AlternateContent xmlns:mc="http://schemas.openxmlformats.org/markup-compatibility/2006">
              <mc:Choice xmlns:v="urn:schemas-microsoft-com:vml" Requires="v">
                <p:oleObj spid="_x0000_s18589" name="Equation" r:id="rId6" imgW="3327120" imgH="1346040" progId="Equation.DSMT4">
                  <p:embed/>
                </p:oleObj>
              </mc:Choice>
              <mc:Fallback>
                <p:oleObj name="Equation" r:id="rId6" imgW="3327120" imgH="1346040" progId="Equation.DSMT4">
                  <p:embed/>
                  <p:pic>
                    <p:nvPicPr>
                      <p:cNvPr id="11" name="对象 10">
                        <a:extLst>
                          <a:ext uri="{FF2B5EF4-FFF2-40B4-BE49-F238E27FC236}">
                            <a16:creationId xmlns:a16="http://schemas.microsoft.com/office/drawing/2014/main" id="{E3A6251E-C07B-41B5-808B-0ACBB35A2A17}"/>
                          </a:ext>
                        </a:extLst>
                      </p:cNvPr>
                      <p:cNvPicPr/>
                      <p:nvPr/>
                    </p:nvPicPr>
                    <p:blipFill>
                      <a:blip r:embed="rId7"/>
                      <a:stretch>
                        <a:fillRect/>
                      </a:stretch>
                    </p:blipFill>
                    <p:spPr>
                      <a:xfrm>
                        <a:off x="4819704" y="2979243"/>
                        <a:ext cx="7267575" cy="2940050"/>
                      </a:xfrm>
                      <a:prstGeom prst="rect">
                        <a:avLst/>
                      </a:prstGeom>
                    </p:spPr>
                  </p:pic>
                </p:oleObj>
              </mc:Fallback>
            </mc:AlternateContent>
          </a:graphicData>
        </a:graphic>
      </p:graphicFrame>
      <p:sp>
        <p:nvSpPr>
          <p:cNvPr id="21" name="TextBox 48">
            <a:extLst>
              <a:ext uri="{FF2B5EF4-FFF2-40B4-BE49-F238E27FC236}">
                <a16:creationId xmlns:a16="http://schemas.microsoft.com/office/drawing/2014/main" id="{A580A640-F369-4200-8672-0B0A848B7ACD}"/>
              </a:ext>
            </a:extLst>
          </p:cNvPr>
          <p:cNvSpPr txBox="1"/>
          <p:nvPr/>
        </p:nvSpPr>
        <p:spPr>
          <a:xfrm>
            <a:off x="3986310" y="3720262"/>
            <a:ext cx="1896800" cy="923330"/>
          </a:xfrm>
          <a:prstGeom prst="rect">
            <a:avLst/>
          </a:prstGeom>
          <a:noFill/>
        </p:spPr>
        <p:txBody>
          <a:bodyPr wrap="square" rtlCol="0">
            <a:spAutoFit/>
          </a:bodyPr>
          <a:lstStyle/>
          <a:p>
            <a:pPr algn="ctr"/>
            <a:r>
              <a:rPr lang="en-US" i="0" dirty="0" err="1">
                <a:latin typeface="Times New Roman" panose="02020603050405020304" pitchFamily="18" charset="0"/>
                <a:cs typeface="Times New Roman" panose="02020603050405020304" pitchFamily="18" charset="0"/>
              </a:rPr>
              <a:t>Lagrangian</a:t>
            </a:r>
            <a:endParaRPr lang="en-US" i="0" dirty="0">
              <a:latin typeface="Times New Roman" panose="02020603050405020304" pitchFamily="18" charset="0"/>
              <a:cs typeface="Times New Roman" panose="02020603050405020304" pitchFamily="18" charset="0"/>
            </a:endParaRPr>
          </a:p>
          <a:p>
            <a:pPr algn="ctr"/>
            <a:r>
              <a:rPr lang="en-US" i="0" dirty="0">
                <a:latin typeface="Times New Roman" panose="02020603050405020304" pitchFamily="18" charset="0"/>
                <a:cs typeface="Times New Roman" panose="02020603050405020304" pitchFamily="18" charset="0"/>
              </a:rPr>
              <a:t>Argument Relaxation</a:t>
            </a:r>
          </a:p>
        </p:txBody>
      </p:sp>
    </p:spTree>
    <p:extLst>
      <p:ext uri="{BB962C8B-B14F-4D97-AF65-F5344CB8AC3E}">
        <p14:creationId xmlns:p14="http://schemas.microsoft.com/office/powerpoint/2010/main" val="6293803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1287B351-401A-4F9A-9346-3417381FB3F4}"/>
              </a:ext>
            </a:extLst>
          </p:cNvPr>
          <p:cNvSpPr txBox="1">
            <a:spLocks/>
          </p:cNvSpPr>
          <p:nvPr/>
        </p:nvSpPr>
        <p:spPr bwMode="auto">
          <a:xfrm>
            <a:off x="406400" y="1166404"/>
            <a:ext cx="10761169"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sz="2800" i="0" kern="0" dirty="0">
                <a:latin typeface="+mj-lt"/>
              </a:rPr>
              <a:t>DSL-OTA Algorithm</a:t>
            </a:r>
          </a:p>
        </p:txBody>
      </p:sp>
      <p:sp>
        <p:nvSpPr>
          <p:cNvPr id="2" name="Title 1">
            <a:extLst>
              <a:ext uri="{FF2B5EF4-FFF2-40B4-BE49-F238E27FC236}">
                <a16:creationId xmlns:a16="http://schemas.microsoft.com/office/drawing/2014/main" id="{16BC3C57-E873-72A4-7924-C4644AA95781}"/>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Proposed Method: </a:t>
            </a:r>
            <a:r>
              <a:rPr lang="en-US" altLang="zh-CN" dirty="0">
                <a:latin typeface="Times New Roman" panose="02020603050405020304" pitchFamily="18" charset="0"/>
                <a:cs typeface="Times New Roman" panose="02020603050405020304" pitchFamily="18" charset="0"/>
              </a:rPr>
              <a:t>DSL-OTA</a:t>
            </a:r>
            <a:endParaRPr lang="en-US" dirty="0"/>
          </a:p>
        </p:txBody>
      </p:sp>
      <p:sp>
        <p:nvSpPr>
          <p:cNvPr id="4" name="Slide Number Placeholder 3">
            <a:extLst>
              <a:ext uri="{FF2B5EF4-FFF2-40B4-BE49-F238E27FC236}">
                <a16:creationId xmlns:a16="http://schemas.microsoft.com/office/drawing/2014/main" id="{C213F85E-DC2D-9B24-0CDB-5400EE3B8AC5}"/>
              </a:ext>
            </a:extLst>
          </p:cNvPr>
          <p:cNvSpPr>
            <a:spLocks noGrp="1"/>
          </p:cNvSpPr>
          <p:nvPr>
            <p:ph type="sldNum" sz="quarter" idx="11"/>
          </p:nvPr>
        </p:nvSpPr>
        <p:spPr/>
        <p:txBody>
          <a:bodyPr/>
          <a:lstStyle/>
          <a:p>
            <a:fld id="{B2B05758-BB4F-4559-81AD-225F352C8527}" type="slidenum">
              <a:rPr lang="zh-CN" altLang="en-US" smtClean="0"/>
              <a:t>19</a:t>
            </a:fld>
            <a:endParaRPr lang="zh-CN" altLang="en-US"/>
          </a:p>
        </p:txBody>
      </p:sp>
      <p:pic>
        <p:nvPicPr>
          <p:cNvPr id="5" name="图片 4">
            <a:extLst>
              <a:ext uri="{FF2B5EF4-FFF2-40B4-BE49-F238E27FC236}">
                <a16:creationId xmlns:a16="http://schemas.microsoft.com/office/drawing/2014/main" id="{9B1E40A2-025F-49EA-A38F-44771DBF962B}"/>
              </a:ext>
            </a:extLst>
          </p:cNvPr>
          <p:cNvPicPr>
            <a:picLocks noChangeAspect="1"/>
          </p:cNvPicPr>
          <p:nvPr/>
        </p:nvPicPr>
        <p:blipFill>
          <a:blip r:embed="rId4"/>
          <a:stretch>
            <a:fillRect/>
          </a:stretch>
        </p:blipFill>
        <p:spPr>
          <a:xfrm>
            <a:off x="793085" y="1733500"/>
            <a:ext cx="3876887" cy="3852504"/>
          </a:xfrm>
          <a:prstGeom prst="rect">
            <a:avLst/>
          </a:prstGeom>
        </p:spPr>
      </p:pic>
      <p:graphicFrame>
        <p:nvGraphicFramePr>
          <p:cNvPr id="6" name="对象 5">
            <a:extLst>
              <a:ext uri="{FF2B5EF4-FFF2-40B4-BE49-F238E27FC236}">
                <a16:creationId xmlns:a16="http://schemas.microsoft.com/office/drawing/2014/main" id="{25AB7FA9-4783-4FBC-954A-0828E9DA82E0}"/>
              </a:ext>
            </a:extLst>
          </p:cNvPr>
          <p:cNvGraphicFramePr>
            <a:graphicFrameLocks noChangeAspect="1"/>
          </p:cNvGraphicFramePr>
          <p:nvPr>
            <p:extLst>
              <p:ext uri="{D42A27DB-BD31-4B8C-83A1-F6EECF244321}">
                <p14:modId xmlns:p14="http://schemas.microsoft.com/office/powerpoint/2010/main" val="3308447923"/>
              </p:ext>
            </p:extLst>
          </p:nvPr>
        </p:nvGraphicFramePr>
        <p:xfrm>
          <a:off x="5297213" y="3977572"/>
          <a:ext cx="5770179" cy="2334289"/>
        </p:xfrm>
        <a:graphic>
          <a:graphicData uri="http://schemas.openxmlformats.org/presentationml/2006/ole">
            <mc:AlternateContent xmlns:mc="http://schemas.openxmlformats.org/markup-compatibility/2006">
              <mc:Choice xmlns:v="urn:schemas-microsoft-com:vml" Requires="v">
                <p:oleObj spid="_x0000_s34847" name="Equation" r:id="rId5" imgW="3327120" imgH="1346040" progId="Equation.DSMT4">
                  <p:embed/>
                </p:oleObj>
              </mc:Choice>
              <mc:Fallback>
                <p:oleObj name="Equation" r:id="rId5" imgW="3327120" imgH="1346040" progId="Equation.DSMT4">
                  <p:embed/>
                  <p:pic>
                    <p:nvPicPr>
                      <p:cNvPr id="18" name="对象 17">
                        <a:extLst>
                          <a:ext uri="{FF2B5EF4-FFF2-40B4-BE49-F238E27FC236}">
                            <a16:creationId xmlns:a16="http://schemas.microsoft.com/office/drawing/2014/main" id="{8A7A1C62-6E7E-4E9C-B5C5-C354ADBF8629}"/>
                          </a:ext>
                        </a:extLst>
                      </p:cNvPr>
                      <p:cNvPicPr/>
                      <p:nvPr/>
                    </p:nvPicPr>
                    <p:blipFill>
                      <a:blip r:embed="rId6"/>
                      <a:stretch>
                        <a:fillRect/>
                      </a:stretch>
                    </p:blipFill>
                    <p:spPr>
                      <a:xfrm>
                        <a:off x="5297213" y="3977572"/>
                        <a:ext cx="5770179" cy="233428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9E84DAC-060A-442A-B4A3-A78D1222453B}"/>
              </a:ext>
            </a:extLst>
          </p:cNvPr>
          <p:cNvGraphicFramePr>
            <a:graphicFrameLocks noChangeAspect="1"/>
          </p:cNvGraphicFramePr>
          <p:nvPr>
            <p:extLst>
              <p:ext uri="{D42A27DB-BD31-4B8C-83A1-F6EECF244321}">
                <p14:modId xmlns:p14="http://schemas.microsoft.com/office/powerpoint/2010/main" val="3257808222"/>
              </p:ext>
            </p:extLst>
          </p:nvPr>
        </p:nvGraphicFramePr>
        <p:xfrm>
          <a:off x="5056657" y="1955240"/>
          <a:ext cx="6369050" cy="501650"/>
        </p:xfrm>
        <a:graphic>
          <a:graphicData uri="http://schemas.openxmlformats.org/presentationml/2006/ole">
            <mc:AlternateContent xmlns:mc="http://schemas.openxmlformats.org/markup-compatibility/2006">
              <mc:Choice xmlns:v="urn:schemas-microsoft-com:vml" Requires="v">
                <p:oleObj spid="_x0000_s34848" name="Equation" r:id="rId7" imgW="3543120" imgH="279360" progId="Equation.DSMT4">
                  <p:embed/>
                </p:oleObj>
              </mc:Choice>
              <mc:Fallback>
                <p:oleObj name="Equation" r:id="rId7" imgW="3543120" imgH="279360" progId="Equation.DSMT4">
                  <p:embed/>
                  <p:pic>
                    <p:nvPicPr>
                      <p:cNvPr id="6" name="对象 5">
                        <a:extLst>
                          <a:ext uri="{FF2B5EF4-FFF2-40B4-BE49-F238E27FC236}">
                            <a16:creationId xmlns:a16="http://schemas.microsoft.com/office/drawing/2014/main" id="{25AB7FA9-4783-4FBC-954A-0828E9DA82E0}"/>
                          </a:ext>
                        </a:extLst>
                      </p:cNvPr>
                      <p:cNvPicPr/>
                      <p:nvPr/>
                    </p:nvPicPr>
                    <p:blipFill>
                      <a:blip r:embed="rId8"/>
                      <a:stretch>
                        <a:fillRect/>
                      </a:stretch>
                    </p:blipFill>
                    <p:spPr>
                      <a:xfrm>
                        <a:off x="5056657" y="1955240"/>
                        <a:ext cx="6369050" cy="5016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5888C590-3F74-4635-AC93-4F4BD419CF71}"/>
              </a:ext>
            </a:extLst>
          </p:cNvPr>
          <p:cNvGraphicFramePr>
            <a:graphicFrameLocks noChangeAspect="1"/>
          </p:cNvGraphicFramePr>
          <p:nvPr>
            <p:extLst>
              <p:ext uri="{D42A27DB-BD31-4B8C-83A1-F6EECF244321}">
                <p14:modId xmlns:p14="http://schemas.microsoft.com/office/powerpoint/2010/main" val="1160840332"/>
              </p:ext>
            </p:extLst>
          </p:nvPr>
        </p:nvGraphicFramePr>
        <p:xfrm>
          <a:off x="5762625" y="2797175"/>
          <a:ext cx="5068888" cy="844550"/>
        </p:xfrm>
        <a:graphic>
          <a:graphicData uri="http://schemas.openxmlformats.org/presentationml/2006/ole">
            <mc:AlternateContent xmlns:mc="http://schemas.openxmlformats.org/markup-compatibility/2006">
              <mc:Choice xmlns:v="urn:schemas-microsoft-com:vml" Requires="v">
                <p:oleObj spid="_x0000_s34849" name="Equation" r:id="rId9" imgW="2819160" imgH="469800" progId="Equation.DSMT4">
                  <p:embed/>
                </p:oleObj>
              </mc:Choice>
              <mc:Fallback>
                <p:oleObj name="Equation" r:id="rId9" imgW="2819160" imgH="469800" progId="Equation.DSMT4">
                  <p:embed/>
                  <p:pic>
                    <p:nvPicPr>
                      <p:cNvPr id="7" name="对象 6">
                        <a:extLst>
                          <a:ext uri="{FF2B5EF4-FFF2-40B4-BE49-F238E27FC236}">
                            <a16:creationId xmlns:a16="http://schemas.microsoft.com/office/drawing/2014/main" id="{99E84DAC-060A-442A-B4A3-A78D1222453B}"/>
                          </a:ext>
                        </a:extLst>
                      </p:cNvPr>
                      <p:cNvPicPr/>
                      <p:nvPr/>
                    </p:nvPicPr>
                    <p:blipFill>
                      <a:blip r:embed="rId10"/>
                      <a:stretch>
                        <a:fillRect/>
                      </a:stretch>
                    </p:blipFill>
                    <p:spPr>
                      <a:xfrm>
                        <a:off x="5762625" y="2797175"/>
                        <a:ext cx="5068888" cy="844550"/>
                      </a:xfrm>
                      <a:prstGeom prst="rect">
                        <a:avLst/>
                      </a:prstGeom>
                    </p:spPr>
                  </p:pic>
                </p:oleObj>
              </mc:Fallback>
            </mc:AlternateContent>
          </a:graphicData>
        </a:graphic>
      </p:graphicFrame>
    </p:spTree>
    <p:extLst>
      <p:ext uri="{BB962C8B-B14F-4D97-AF65-F5344CB8AC3E}">
        <p14:creationId xmlns:p14="http://schemas.microsoft.com/office/powerpoint/2010/main" val="303078434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AC2AB-7833-C42F-51A9-652B3091DF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179802-239C-1160-D423-33ABF7C31250}"/>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EF00E373-BA30-F548-1BF0-3D87E47F30DB}"/>
              </a:ext>
            </a:extLst>
          </p:cNvPr>
          <p:cNvSpPr>
            <a:spLocks noGrp="1"/>
          </p:cNvSpPr>
          <p:nvPr>
            <p:ph idx="1"/>
          </p:nvPr>
        </p:nvSpPr>
        <p:spPr>
          <a:xfrm>
            <a:off x="1503829" y="1346200"/>
            <a:ext cx="6464300" cy="3886200"/>
          </a:xfrm>
        </p:spPr>
        <p:txBody>
          <a:bodyPr/>
          <a:lstStyle/>
          <a:p>
            <a:pPr>
              <a:lnSpc>
                <a:spcPct val="200000"/>
              </a:lnSpc>
            </a:pPr>
            <a:r>
              <a:rPr lang="en-US" dirty="0">
                <a:solidFill>
                  <a:schemeClr val="accent3">
                    <a:lumMod val="50000"/>
                  </a:schemeClr>
                </a:solidFill>
              </a:rPr>
              <a:t>Introduction</a:t>
            </a:r>
          </a:p>
          <a:p>
            <a:pPr>
              <a:lnSpc>
                <a:spcPct val="200000"/>
              </a:lnSpc>
            </a:pPr>
            <a:r>
              <a:rPr lang="en-US" altLang="zh-CN" dirty="0">
                <a:solidFill>
                  <a:schemeClr val="accent3">
                    <a:lumMod val="50000"/>
                  </a:schemeClr>
                </a:solidFill>
                <a:latin typeface="Times New Roman" panose="02020603050405020304" pitchFamily="18" charset="0"/>
                <a:cs typeface="Times New Roman" panose="02020603050405020304" pitchFamily="18" charset="0"/>
              </a:rPr>
              <a:t>Existing research</a:t>
            </a:r>
            <a:endParaRPr lang="en-US" dirty="0">
              <a:solidFill>
                <a:schemeClr val="accent3">
                  <a:lumMod val="50000"/>
                </a:schemeClr>
              </a:solidFill>
            </a:endParaRPr>
          </a:p>
          <a:p>
            <a:pPr>
              <a:lnSpc>
                <a:spcPct val="200000"/>
              </a:lnSpc>
            </a:pPr>
            <a:r>
              <a:rPr lang="en-US" dirty="0">
                <a:solidFill>
                  <a:schemeClr val="accent3">
                    <a:lumMod val="50000"/>
                  </a:schemeClr>
                </a:solidFill>
                <a:latin typeface="Times New Roman" panose="02020603050405020304" pitchFamily="18" charset="0"/>
                <a:cs typeface="Times New Roman" panose="02020603050405020304" pitchFamily="18" charset="0"/>
              </a:rPr>
              <a:t>Proposed design</a:t>
            </a:r>
            <a:r>
              <a:rPr lang="zh-CN" altLang="en-US" dirty="0">
                <a:solidFill>
                  <a:schemeClr val="accent3">
                    <a:lumMod val="50000"/>
                  </a:schemeClr>
                </a:solidFill>
                <a:latin typeface="Times New Roman" panose="02020603050405020304" pitchFamily="18" charset="0"/>
                <a:cs typeface="Times New Roman" panose="02020603050405020304" pitchFamily="18" charset="0"/>
              </a:rPr>
              <a:t> </a:t>
            </a:r>
            <a:r>
              <a:rPr lang="en-US" altLang="zh-CN" dirty="0">
                <a:solidFill>
                  <a:schemeClr val="accent3">
                    <a:lumMod val="50000"/>
                  </a:schemeClr>
                </a:solidFill>
                <a:latin typeface="Times New Roman" panose="02020603050405020304" pitchFamily="18" charset="0"/>
                <a:cs typeface="Times New Roman" panose="02020603050405020304" pitchFamily="18" charset="0"/>
              </a:rPr>
              <a:t>and</a:t>
            </a:r>
            <a:r>
              <a:rPr lang="zh-CN" altLang="en-US" dirty="0">
                <a:solidFill>
                  <a:schemeClr val="accent3">
                    <a:lumMod val="50000"/>
                  </a:schemeClr>
                </a:solidFill>
                <a:latin typeface="Times New Roman" panose="02020603050405020304" pitchFamily="18" charset="0"/>
                <a:cs typeface="Times New Roman" panose="02020603050405020304" pitchFamily="18" charset="0"/>
              </a:rPr>
              <a:t> </a:t>
            </a:r>
            <a:r>
              <a:rPr lang="en-US" dirty="0">
                <a:solidFill>
                  <a:schemeClr val="accent3">
                    <a:lumMod val="50000"/>
                  </a:schemeClr>
                </a:solidFill>
                <a:latin typeface="Times New Roman" panose="02020603050405020304" pitchFamily="18" charset="0"/>
                <a:cs typeface="Times New Roman" panose="02020603050405020304" pitchFamily="18" charset="0"/>
              </a:rPr>
              <a:t>method </a:t>
            </a:r>
          </a:p>
          <a:p>
            <a:pPr>
              <a:lnSpc>
                <a:spcPct val="200000"/>
              </a:lnSpc>
            </a:pPr>
            <a:r>
              <a:rPr lang="en-US" altLang="zh-CN" dirty="0">
                <a:solidFill>
                  <a:srgbClr val="3333FF"/>
                </a:solidFill>
              </a:rPr>
              <a:t>Preliminary</a:t>
            </a:r>
            <a:r>
              <a:rPr lang="zh-CN" altLang="en-US" dirty="0">
                <a:solidFill>
                  <a:srgbClr val="3333FF"/>
                </a:solidFill>
              </a:rPr>
              <a:t> </a:t>
            </a:r>
            <a:r>
              <a:rPr lang="en-US" altLang="zh-CN" dirty="0">
                <a:solidFill>
                  <a:srgbClr val="3333FF"/>
                </a:solidFill>
              </a:rPr>
              <a:t>r</a:t>
            </a:r>
            <a:r>
              <a:rPr lang="en-US" dirty="0">
                <a:solidFill>
                  <a:srgbClr val="3333FF"/>
                </a:solidFill>
              </a:rPr>
              <a:t>esults </a:t>
            </a:r>
          </a:p>
          <a:p>
            <a:pPr>
              <a:lnSpc>
                <a:spcPct val="200000"/>
              </a:lnSpc>
            </a:pPr>
            <a:r>
              <a:rPr lang="en-US" altLang="zh-CN" dirty="0">
                <a:solidFill>
                  <a:schemeClr val="accent3">
                    <a:lumMod val="50000"/>
                  </a:schemeClr>
                </a:solidFill>
              </a:rPr>
              <a:t>S</a:t>
            </a:r>
            <a:r>
              <a:rPr lang="en-US" dirty="0">
                <a:solidFill>
                  <a:schemeClr val="accent3">
                    <a:lumMod val="50000"/>
                  </a:schemeClr>
                </a:solidFill>
              </a:rPr>
              <a:t>ummary</a:t>
            </a:r>
            <a:r>
              <a:rPr lang="zh-CN" altLang="en-US" dirty="0">
                <a:solidFill>
                  <a:schemeClr val="accent3">
                    <a:lumMod val="50000"/>
                  </a:schemeClr>
                </a:solidFill>
              </a:rPr>
              <a:t> </a:t>
            </a:r>
            <a:r>
              <a:rPr lang="en-US" altLang="zh-CN" dirty="0">
                <a:solidFill>
                  <a:schemeClr val="accent3">
                    <a:lumMod val="50000"/>
                  </a:schemeClr>
                </a:solidFill>
              </a:rPr>
              <a:t>and</a:t>
            </a:r>
            <a:r>
              <a:rPr lang="zh-CN" altLang="en-US" dirty="0">
                <a:solidFill>
                  <a:schemeClr val="accent3">
                    <a:lumMod val="50000"/>
                  </a:schemeClr>
                </a:solidFill>
              </a:rPr>
              <a:t> </a:t>
            </a:r>
            <a:r>
              <a:rPr lang="en-US" altLang="zh-CN" dirty="0">
                <a:solidFill>
                  <a:schemeClr val="accent3">
                    <a:lumMod val="50000"/>
                  </a:schemeClr>
                </a:solidFill>
              </a:rPr>
              <a:t>f</a:t>
            </a:r>
            <a:r>
              <a:rPr lang="en-US" dirty="0">
                <a:solidFill>
                  <a:schemeClr val="accent3">
                    <a:lumMod val="50000"/>
                  </a:schemeClr>
                </a:solidFill>
              </a:rPr>
              <a:t>uture work</a:t>
            </a:r>
          </a:p>
          <a:p>
            <a:endParaRPr lang="en-US" altLang="zh-CN" dirty="0"/>
          </a:p>
        </p:txBody>
      </p:sp>
      <p:sp>
        <p:nvSpPr>
          <p:cNvPr id="4" name="Slide Number Placeholder 3">
            <a:extLst>
              <a:ext uri="{FF2B5EF4-FFF2-40B4-BE49-F238E27FC236}">
                <a16:creationId xmlns:a16="http://schemas.microsoft.com/office/drawing/2014/main" id="{056D213A-2039-91FD-4E06-F4E6CA3ABAF7}"/>
              </a:ext>
            </a:extLst>
          </p:cNvPr>
          <p:cNvSpPr>
            <a:spLocks noGrp="1"/>
          </p:cNvSpPr>
          <p:nvPr>
            <p:ph type="sldNum" sz="quarter" idx="11"/>
          </p:nvPr>
        </p:nvSpPr>
        <p:spPr/>
        <p:txBody>
          <a:bodyPr/>
          <a:lstStyle/>
          <a:p>
            <a:fld id="{B2B05758-BB4F-4559-81AD-225F352C8527}" type="slidenum">
              <a:rPr lang="zh-CN" altLang="en-US" smtClean="0"/>
              <a:t>20</a:t>
            </a:fld>
            <a:endParaRPr lang="zh-CN" altLang="en-US"/>
          </a:p>
        </p:txBody>
      </p:sp>
    </p:spTree>
    <p:extLst>
      <p:ext uri="{BB962C8B-B14F-4D97-AF65-F5344CB8AC3E}">
        <p14:creationId xmlns:p14="http://schemas.microsoft.com/office/powerpoint/2010/main" val="99176019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sz="3600" i="0" dirty="0">
                <a:latin typeface="Times New Roman" panose="02020603050405020304" pitchFamily="18" charset="0"/>
                <a:cs typeface="Times New Roman" panose="02020603050405020304" pitchFamily="18" charset="0"/>
              </a:rPr>
              <a:t>Experiments-Setups</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21</a:t>
            </a:fld>
            <a:endParaRPr lang="zh-CN" altLang="en-US">
              <a:latin typeface="+mj-lt"/>
            </a:endParaRPr>
          </a:p>
        </p:txBody>
      </p:sp>
      <p:sp>
        <p:nvSpPr>
          <p:cNvPr id="53" name="Content Placeholder 2">
            <a:extLst>
              <a:ext uri="{FF2B5EF4-FFF2-40B4-BE49-F238E27FC236}">
                <a16:creationId xmlns:a16="http://schemas.microsoft.com/office/drawing/2014/main" id="{882D7ADD-6C81-4552-AC44-31D399C37BB6}"/>
              </a:ext>
            </a:extLst>
          </p:cNvPr>
          <p:cNvSpPr txBox="1">
            <a:spLocks/>
          </p:cNvSpPr>
          <p:nvPr/>
        </p:nvSpPr>
        <p:spPr bwMode="auto">
          <a:xfrm>
            <a:off x="514555" y="1219200"/>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sz="2800" i="0" kern="0" dirty="0">
                <a:latin typeface="+mj-lt"/>
              </a:rPr>
              <a:t>Task: Word-level language modeling</a:t>
            </a:r>
          </a:p>
          <a:p>
            <a:pPr lvl="1"/>
            <a:r>
              <a:rPr lang="en-US" sz="2400" i="0" kern="0" dirty="0">
                <a:latin typeface="+mj-lt"/>
              </a:rPr>
              <a:t>Datasets &amp; Models: MNIST (CNN); </a:t>
            </a:r>
            <a:r>
              <a:rPr lang="en-US" altLang="zh-CN" sz="2400" i="0" kern="0" dirty="0">
                <a:latin typeface="+mj-lt"/>
              </a:rPr>
              <a:t>CIFAR-10 (ResNet18)</a:t>
            </a:r>
          </a:p>
          <a:p>
            <a:pPr lvl="1"/>
            <a:r>
              <a:rPr lang="en-US" sz="2400" i="0" kern="0" dirty="0">
                <a:latin typeface="+mj-lt"/>
              </a:rPr>
              <a:t>Framework setup: </a:t>
            </a:r>
          </a:p>
          <a:p>
            <a:pPr marL="457200" lvl="1" indent="0">
              <a:buNone/>
            </a:pPr>
            <a:r>
              <a:rPr lang="en-US" sz="2200" i="0" kern="0" dirty="0">
                <a:latin typeface="+mj-lt"/>
              </a:rPr>
              <a:t>50 workers with 500 images locally, 1 Parameter sever with 2000 images.</a:t>
            </a:r>
          </a:p>
          <a:p>
            <a:pPr lvl="1"/>
            <a:r>
              <a:rPr lang="en-US" sz="2400" i="0" kern="0" dirty="0">
                <a:latin typeface="+mj-lt"/>
              </a:rPr>
              <a:t>Wireless environments simulations: time-invariant transmit power and channel</a:t>
            </a:r>
          </a:p>
          <a:p>
            <a:pPr marL="457200" lvl="1" indent="0">
              <a:buNone/>
            </a:pPr>
            <a:r>
              <a:rPr lang="en-US" sz="2400" i="0" kern="0" dirty="0">
                <a:latin typeface="+mj-lt"/>
              </a:rPr>
              <a:t> </a:t>
            </a:r>
            <a:endParaRPr lang="en-US" b="1" i="0" kern="0" dirty="0">
              <a:latin typeface="+mj-lt"/>
            </a:endParaRPr>
          </a:p>
          <a:p>
            <a:endParaRPr lang="en-US" sz="2800" i="0" kern="0" dirty="0">
              <a:latin typeface="+mj-lt"/>
            </a:endParaRPr>
          </a:p>
          <a:p>
            <a:pPr lvl="1"/>
            <a:endParaRPr lang="en-US" sz="2400" i="0" kern="0" dirty="0">
              <a:latin typeface="+mj-lt"/>
            </a:endParaRPr>
          </a:p>
        </p:txBody>
      </p:sp>
      <p:graphicFrame>
        <p:nvGraphicFramePr>
          <p:cNvPr id="8" name="对象 7">
            <a:extLst>
              <a:ext uri="{FF2B5EF4-FFF2-40B4-BE49-F238E27FC236}">
                <a16:creationId xmlns:a16="http://schemas.microsoft.com/office/drawing/2014/main" id="{1557668A-5942-4D86-81F9-106EA2D8B2CC}"/>
              </a:ext>
            </a:extLst>
          </p:cNvPr>
          <p:cNvGraphicFramePr>
            <a:graphicFrameLocks noChangeAspect="1"/>
          </p:cNvGraphicFramePr>
          <p:nvPr>
            <p:extLst>
              <p:ext uri="{D42A27DB-BD31-4B8C-83A1-F6EECF244321}">
                <p14:modId xmlns:p14="http://schemas.microsoft.com/office/powerpoint/2010/main" val="1857528718"/>
              </p:ext>
            </p:extLst>
          </p:nvPr>
        </p:nvGraphicFramePr>
        <p:xfrm>
          <a:off x="1397876" y="3429000"/>
          <a:ext cx="2076450" cy="528637"/>
        </p:xfrm>
        <a:graphic>
          <a:graphicData uri="http://schemas.openxmlformats.org/presentationml/2006/ole">
            <mc:AlternateContent xmlns:mc="http://schemas.openxmlformats.org/markup-compatibility/2006">
              <mc:Choice xmlns:v="urn:schemas-microsoft-com:vml" Requires="v">
                <p:oleObj spid="_x0000_s28726" name="Equation" r:id="rId4" imgW="952200" imgH="241200" progId="Equation.DSMT4">
                  <p:embed/>
                </p:oleObj>
              </mc:Choice>
              <mc:Fallback>
                <p:oleObj name="Equation" r:id="rId4" imgW="952200" imgH="241200" progId="Equation.DSMT4">
                  <p:embed/>
                  <p:pic>
                    <p:nvPicPr>
                      <p:cNvPr id="11" name="对象 10">
                        <a:extLst>
                          <a:ext uri="{FF2B5EF4-FFF2-40B4-BE49-F238E27FC236}">
                            <a16:creationId xmlns:a16="http://schemas.microsoft.com/office/drawing/2014/main" id="{E3A6251E-C07B-41B5-808B-0ACBB35A2A17}"/>
                          </a:ext>
                        </a:extLst>
                      </p:cNvPr>
                      <p:cNvPicPr/>
                      <p:nvPr/>
                    </p:nvPicPr>
                    <p:blipFill>
                      <a:blip r:embed="rId5"/>
                      <a:stretch>
                        <a:fillRect/>
                      </a:stretch>
                    </p:blipFill>
                    <p:spPr>
                      <a:xfrm>
                        <a:off x="1397876" y="3429000"/>
                        <a:ext cx="2076450" cy="52863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CADA70F-9BF9-44BB-B2B4-08E13C8FBFB3}"/>
              </a:ext>
            </a:extLst>
          </p:cNvPr>
          <p:cNvGraphicFramePr>
            <a:graphicFrameLocks noChangeAspect="1"/>
          </p:cNvGraphicFramePr>
          <p:nvPr>
            <p:extLst>
              <p:ext uri="{D42A27DB-BD31-4B8C-83A1-F6EECF244321}">
                <p14:modId xmlns:p14="http://schemas.microsoft.com/office/powerpoint/2010/main" val="1668714392"/>
              </p:ext>
            </p:extLst>
          </p:nvPr>
        </p:nvGraphicFramePr>
        <p:xfrm>
          <a:off x="3857297" y="3429000"/>
          <a:ext cx="2713037" cy="612775"/>
        </p:xfrm>
        <a:graphic>
          <a:graphicData uri="http://schemas.openxmlformats.org/presentationml/2006/ole">
            <mc:AlternateContent xmlns:mc="http://schemas.openxmlformats.org/markup-compatibility/2006">
              <mc:Choice xmlns:v="urn:schemas-microsoft-com:vml" Requires="v">
                <p:oleObj spid="_x0000_s28727" name="Equation" r:id="rId6" imgW="1244520" imgH="279360" progId="Equation.DSMT4">
                  <p:embed/>
                </p:oleObj>
              </mc:Choice>
              <mc:Fallback>
                <p:oleObj name="Equation" r:id="rId6" imgW="1244520" imgH="279360" progId="Equation.DSMT4">
                  <p:embed/>
                  <p:pic>
                    <p:nvPicPr>
                      <p:cNvPr id="8" name="对象 7">
                        <a:extLst>
                          <a:ext uri="{FF2B5EF4-FFF2-40B4-BE49-F238E27FC236}">
                            <a16:creationId xmlns:a16="http://schemas.microsoft.com/office/drawing/2014/main" id="{1557668A-5942-4D86-81F9-106EA2D8B2CC}"/>
                          </a:ext>
                        </a:extLst>
                      </p:cNvPr>
                      <p:cNvPicPr/>
                      <p:nvPr/>
                    </p:nvPicPr>
                    <p:blipFill>
                      <a:blip r:embed="rId7"/>
                      <a:stretch>
                        <a:fillRect/>
                      </a:stretch>
                    </p:blipFill>
                    <p:spPr>
                      <a:xfrm>
                        <a:off x="3857297" y="3429000"/>
                        <a:ext cx="2713037" cy="6127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5227C3A-CC33-4E7E-917F-62E8F69D0821}"/>
              </a:ext>
            </a:extLst>
          </p:cNvPr>
          <p:cNvGraphicFramePr>
            <a:graphicFrameLocks noChangeAspect="1"/>
          </p:cNvGraphicFramePr>
          <p:nvPr>
            <p:extLst>
              <p:ext uri="{D42A27DB-BD31-4B8C-83A1-F6EECF244321}">
                <p14:modId xmlns:p14="http://schemas.microsoft.com/office/powerpoint/2010/main" val="2659639909"/>
              </p:ext>
            </p:extLst>
          </p:nvPr>
        </p:nvGraphicFramePr>
        <p:xfrm>
          <a:off x="7016750" y="3400425"/>
          <a:ext cx="2216150" cy="557213"/>
        </p:xfrm>
        <a:graphic>
          <a:graphicData uri="http://schemas.openxmlformats.org/presentationml/2006/ole">
            <mc:AlternateContent xmlns:mc="http://schemas.openxmlformats.org/markup-compatibility/2006">
              <mc:Choice xmlns:v="urn:schemas-microsoft-com:vml" Requires="v">
                <p:oleObj spid="_x0000_s28728" name="Equation" r:id="rId8" imgW="1015920" imgH="253800" progId="Equation.DSMT4">
                  <p:embed/>
                </p:oleObj>
              </mc:Choice>
              <mc:Fallback>
                <p:oleObj name="Equation" r:id="rId8" imgW="1015920" imgH="253800" progId="Equation.DSMT4">
                  <p:embed/>
                  <p:pic>
                    <p:nvPicPr>
                      <p:cNvPr id="9" name="对象 8">
                        <a:extLst>
                          <a:ext uri="{FF2B5EF4-FFF2-40B4-BE49-F238E27FC236}">
                            <a16:creationId xmlns:a16="http://schemas.microsoft.com/office/drawing/2014/main" id="{2CADA70F-9BF9-44BB-B2B4-08E13C8FBFB3}"/>
                          </a:ext>
                        </a:extLst>
                      </p:cNvPr>
                      <p:cNvPicPr/>
                      <p:nvPr/>
                    </p:nvPicPr>
                    <p:blipFill>
                      <a:blip r:embed="rId9"/>
                      <a:stretch>
                        <a:fillRect/>
                      </a:stretch>
                    </p:blipFill>
                    <p:spPr>
                      <a:xfrm>
                        <a:off x="7016750" y="3400425"/>
                        <a:ext cx="2216150" cy="557213"/>
                      </a:xfrm>
                      <a:prstGeom prst="rect">
                        <a:avLst/>
                      </a:prstGeom>
                    </p:spPr>
                  </p:pic>
                </p:oleObj>
              </mc:Fallback>
            </mc:AlternateContent>
          </a:graphicData>
        </a:graphic>
      </p:graphicFrame>
    </p:spTree>
    <p:extLst>
      <p:ext uri="{BB962C8B-B14F-4D97-AF65-F5344CB8AC3E}">
        <p14:creationId xmlns:p14="http://schemas.microsoft.com/office/powerpoint/2010/main" val="221128136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Experiments-Main Results</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22</a:t>
            </a:fld>
            <a:endParaRPr lang="zh-CN" altLang="en-US">
              <a:latin typeface="+mj-lt"/>
            </a:endParaRPr>
          </a:p>
        </p:txBody>
      </p:sp>
      <p:sp>
        <p:nvSpPr>
          <p:cNvPr id="53" name="Content Placeholder 2">
            <a:extLst>
              <a:ext uri="{FF2B5EF4-FFF2-40B4-BE49-F238E27FC236}">
                <a16:creationId xmlns:a16="http://schemas.microsoft.com/office/drawing/2014/main" id="{882D7ADD-6C81-4552-AC44-31D399C37BB6}"/>
              </a:ext>
            </a:extLst>
          </p:cNvPr>
          <p:cNvSpPr txBox="1">
            <a:spLocks/>
          </p:cNvSpPr>
          <p:nvPr/>
        </p:nvSpPr>
        <p:spPr bwMode="auto">
          <a:xfrm>
            <a:off x="592138" y="1219200"/>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sz="2800" i="0" kern="0" dirty="0">
                <a:latin typeface="+mj-lt"/>
              </a:rPr>
              <a:t>Classification matrix of DSL-OTA.</a:t>
            </a:r>
          </a:p>
          <a:p>
            <a:pPr lvl="1"/>
            <a:endParaRPr lang="en-US" sz="2400" i="0" kern="0" dirty="0">
              <a:latin typeface="+mj-lt"/>
            </a:endParaRPr>
          </a:p>
        </p:txBody>
      </p:sp>
      <p:pic>
        <p:nvPicPr>
          <p:cNvPr id="5" name="图片 4">
            <a:extLst>
              <a:ext uri="{FF2B5EF4-FFF2-40B4-BE49-F238E27FC236}">
                <a16:creationId xmlns:a16="http://schemas.microsoft.com/office/drawing/2014/main" id="{39BE6708-C785-40F1-88F2-A37D521DBA7E}"/>
              </a:ext>
            </a:extLst>
          </p:cNvPr>
          <p:cNvPicPr>
            <a:picLocks noChangeAspect="1"/>
          </p:cNvPicPr>
          <p:nvPr/>
        </p:nvPicPr>
        <p:blipFill rotWithShape="1">
          <a:blip r:embed="rId4">
            <a:extLst>
              <a:ext uri="{28A0092B-C50C-407E-A947-70E740481C1C}">
                <a14:useLocalDpi xmlns:a14="http://schemas.microsoft.com/office/drawing/2010/main" val="0"/>
              </a:ext>
            </a:extLst>
          </a:blip>
          <a:srcRect l="5722" t="8431" r="8945" b="4904"/>
          <a:stretch/>
        </p:blipFill>
        <p:spPr>
          <a:xfrm>
            <a:off x="5566650" y="1823234"/>
            <a:ext cx="4691445" cy="3811801"/>
          </a:xfrm>
          <a:prstGeom prst="rect">
            <a:avLst/>
          </a:prstGeom>
        </p:spPr>
      </p:pic>
      <p:pic>
        <p:nvPicPr>
          <p:cNvPr id="10" name="图片 9">
            <a:extLst>
              <a:ext uri="{FF2B5EF4-FFF2-40B4-BE49-F238E27FC236}">
                <a16:creationId xmlns:a16="http://schemas.microsoft.com/office/drawing/2014/main" id="{7F6A0EA9-3F06-4FFA-9011-FB3FDA401DA3}"/>
              </a:ext>
            </a:extLst>
          </p:cNvPr>
          <p:cNvPicPr>
            <a:picLocks noChangeAspect="1"/>
          </p:cNvPicPr>
          <p:nvPr/>
        </p:nvPicPr>
        <p:blipFill rotWithShape="1">
          <a:blip r:embed="rId5">
            <a:extLst>
              <a:ext uri="{28A0092B-C50C-407E-A947-70E740481C1C}">
                <a14:useLocalDpi xmlns:a14="http://schemas.microsoft.com/office/drawing/2010/main" val="0"/>
              </a:ext>
            </a:extLst>
          </a:blip>
          <a:srcRect l="7692" r="7013"/>
          <a:stretch/>
        </p:blipFill>
        <p:spPr>
          <a:xfrm>
            <a:off x="836302" y="1724025"/>
            <a:ext cx="4691445" cy="4125192"/>
          </a:xfrm>
          <a:prstGeom prst="rect">
            <a:avLst/>
          </a:prstGeom>
        </p:spPr>
      </p:pic>
      <p:graphicFrame>
        <p:nvGraphicFramePr>
          <p:cNvPr id="14" name="对象 13">
            <a:extLst>
              <a:ext uri="{FF2B5EF4-FFF2-40B4-BE49-F238E27FC236}">
                <a16:creationId xmlns:a16="http://schemas.microsoft.com/office/drawing/2014/main" id="{A056602B-EF02-467C-9A07-D9530B7BD83C}"/>
              </a:ext>
            </a:extLst>
          </p:cNvPr>
          <p:cNvGraphicFramePr>
            <a:graphicFrameLocks noChangeAspect="1"/>
          </p:cNvGraphicFramePr>
          <p:nvPr>
            <p:extLst>
              <p:ext uri="{D42A27DB-BD31-4B8C-83A1-F6EECF244321}">
                <p14:modId xmlns:p14="http://schemas.microsoft.com/office/powerpoint/2010/main" val="3618932579"/>
              </p:ext>
            </p:extLst>
          </p:nvPr>
        </p:nvGraphicFramePr>
        <p:xfrm>
          <a:off x="7024688" y="1319213"/>
          <a:ext cx="1973262" cy="404812"/>
        </p:xfrm>
        <a:graphic>
          <a:graphicData uri="http://schemas.openxmlformats.org/presentationml/2006/ole">
            <mc:AlternateContent xmlns:mc="http://schemas.openxmlformats.org/markup-compatibility/2006">
              <mc:Choice xmlns:v="urn:schemas-microsoft-com:vml" Requires="v">
                <p:oleObj spid="_x0000_s30737" name="Equation" r:id="rId6" imgW="990360" imgH="203040" progId="Equation.DSMT4">
                  <p:embed/>
                </p:oleObj>
              </mc:Choice>
              <mc:Fallback>
                <p:oleObj name="Equation" r:id="rId6" imgW="990360" imgH="203040" progId="Equation.DSMT4">
                  <p:embed/>
                  <p:pic>
                    <p:nvPicPr>
                      <p:cNvPr id="6" name="对象 5">
                        <a:extLst>
                          <a:ext uri="{FF2B5EF4-FFF2-40B4-BE49-F238E27FC236}">
                            <a16:creationId xmlns:a16="http://schemas.microsoft.com/office/drawing/2014/main" id="{59E7E8D4-620A-40C8-A80A-D820C88F8940}"/>
                          </a:ext>
                        </a:extLst>
                      </p:cNvPr>
                      <p:cNvPicPr/>
                      <p:nvPr/>
                    </p:nvPicPr>
                    <p:blipFill>
                      <a:blip r:embed="rId7"/>
                      <a:stretch>
                        <a:fillRect/>
                      </a:stretch>
                    </p:blipFill>
                    <p:spPr>
                      <a:xfrm>
                        <a:off x="7024688" y="1319213"/>
                        <a:ext cx="1973262" cy="404812"/>
                      </a:xfrm>
                      <a:prstGeom prst="rect">
                        <a:avLst/>
                      </a:prstGeom>
                    </p:spPr>
                  </p:pic>
                </p:oleObj>
              </mc:Fallback>
            </mc:AlternateContent>
          </a:graphicData>
        </a:graphic>
      </p:graphicFrame>
      <p:sp>
        <p:nvSpPr>
          <p:cNvPr id="15" name="TextBox 47">
            <a:extLst>
              <a:ext uri="{FF2B5EF4-FFF2-40B4-BE49-F238E27FC236}">
                <a16:creationId xmlns:a16="http://schemas.microsoft.com/office/drawing/2014/main" id="{45F45FE9-6AD1-488A-899D-B94D66BFA0A1}"/>
              </a:ext>
            </a:extLst>
          </p:cNvPr>
          <p:cNvSpPr txBox="1"/>
          <p:nvPr/>
        </p:nvSpPr>
        <p:spPr>
          <a:xfrm>
            <a:off x="1860668" y="5849217"/>
            <a:ext cx="2642711" cy="369332"/>
          </a:xfrm>
          <a:prstGeom prst="rect">
            <a:avLst/>
          </a:prstGeom>
          <a:noFill/>
        </p:spPr>
        <p:txBody>
          <a:bodyPr wrap="none" rtlCol="0">
            <a:spAutoFit/>
          </a:bodyPr>
          <a:lstStyle/>
          <a:p>
            <a:r>
              <a:rPr lang="en-US" i="0" dirty="0">
                <a:latin typeface="Times New Roman" panose="02020603050405020304" pitchFamily="18" charset="0"/>
                <a:cs typeface="Times New Roman" panose="02020603050405020304" pitchFamily="18" charset="0"/>
              </a:rPr>
              <a:t>MNIST confusion matrix  </a:t>
            </a:r>
          </a:p>
        </p:txBody>
      </p:sp>
      <p:sp>
        <p:nvSpPr>
          <p:cNvPr id="16" name="TextBox 47">
            <a:extLst>
              <a:ext uri="{FF2B5EF4-FFF2-40B4-BE49-F238E27FC236}">
                <a16:creationId xmlns:a16="http://schemas.microsoft.com/office/drawing/2014/main" id="{3C974460-CBF0-4E3E-9C46-54F68DE88736}"/>
              </a:ext>
            </a:extLst>
          </p:cNvPr>
          <p:cNvSpPr txBox="1"/>
          <p:nvPr/>
        </p:nvSpPr>
        <p:spPr>
          <a:xfrm>
            <a:off x="6591016" y="5635035"/>
            <a:ext cx="2604303" cy="369332"/>
          </a:xfrm>
          <a:prstGeom prst="rect">
            <a:avLst/>
          </a:prstGeom>
          <a:noFill/>
        </p:spPr>
        <p:txBody>
          <a:bodyPr wrap="none" rtlCol="0">
            <a:spAutoFit/>
          </a:bodyPr>
          <a:lstStyle/>
          <a:p>
            <a:r>
              <a:rPr lang="en-US" i="0" dirty="0">
                <a:latin typeface="Times New Roman" panose="02020603050405020304" pitchFamily="18" charset="0"/>
                <a:cs typeface="Times New Roman" panose="02020603050405020304" pitchFamily="18" charset="0"/>
              </a:rPr>
              <a:t>MNIST AUC-ROC Curve</a:t>
            </a:r>
          </a:p>
        </p:txBody>
      </p:sp>
    </p:spTree>
    <p:extLst>
      <p:ext uri="{BB962C8B-B14F-4D97-AF65-F5344CB8AC3E}">
        <p14:creationId xmlns:p14="http://schemas.microsoft.com/office/powerpoint/2010/main" val="130639465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Experiments-Main Results</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23</a:t>
            </a:fld>
            <a:endParaRPr lang="zh-CN" altLang="en-US">
              <a:latin typeface="+mj-lt"/>
            </a:endParaRPr>
          </a:p>
        </p:txBody>
      </p:sp>
      <p:sp>
        <p:nvSpPr>
          <p:cNvPr id="53" name="Content Placeholder 2">
            <a:extLst>
              <a:ext uri="{FF2B5EF4-FFF2-40B4-BE49-F238E27FC236}">
                <a16:creationId xmlns:a16="http://schemas.microsoft.com/office/drawing/2014/main" id="{882D7ADD-6C81-4552-AC44-31D399C37BB6}"/>
              </a:ext>
            </a:extLst>
          </p:cNvPr>
          <p:cNvSpPr txBox="1">
            <a:spLocks/>
          </p:cNvSpPr>
          <p:nvPr/>
        </p:nvSpPr>
        <p:spPr bwMode="auto">
          <a:xfrm>
            <a:off x="592138" y="1219200"/>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sz="2800" i="0" kern="0" dirty="0">
                <a:latin typeface="+mj-lt"/>
              </a:rPr>
              <a:t>Classification matrix of DSL-OTA.</a:t>
            </a:r>
          </a:p>
          <a:p>
            <a:pPr lvl="1"/>
            <a:endParaRPr lang="en-US" sz="2400" i="0" kern="0" dirty="0">
              <a:latin typeface="+mj-lt"/>
            </a:endParaRPr>
          </a:p>
        </p:txBody>
      </p:sp>
      <p:pic>
        <p:nvPicPr>
          <p:cNvPr id="5" name="图片 4">
            <a:extLst>
              <a:ext uri="{FF2B5EF4-FFF2-40B4-BE49-F238E27FC236}">
                <a16:creationId xmlns:a16="http://schemas.microsoft.com/office/drawing/2014/main" id="{39BE6708-C785-40F1-88F2-A37D521DBA7E}"/>
              </a:ext>
            </a:extLst>
          </p:cNvPr>
          <p:cNvPicPr>
            <a:picLocks noChangeAspect="1"/>
          </p:cNvPicPr>
          <p:nvPr/>
        </p:nvPicPr>
        <p:blipFill rotWithShape="1">
          <a:blip r:embed="rId4">
            <a:extLst>
              <a:ext uri="{28A0092B-C50C-407E-A947-70E740481C1C}">
                <a14:useLocalDpi xmlns:a14="http://schemas.microsoft.com/office/drawing/2010/main" val="0"/>
              </a:ext>
            </a:extLst>
          </a:blip>
          <a:srcRect l="6348" t="9380" r="8617"/>
          <a:stretch/>
        </p:blipFill>
        <p:spPr>
          <a:xfrm>
            <a:off x="5864772" y="1724025"/>
            <a:ext cx="4593021" cy="3911011"/>
          </a:xfrm>
          <a:prstGeom prst="rect">
            <a:avLst/>
          </a:prstGeom>
        </p:spPr>
      </p:pic>
      <p:pic>
        <p:nvPicPr>
          <p:cNvPr id="10" name="图片 9">
            <a:extLst>
              <a:ext uri="{FF2B5EF4-FFF2-40B4-BE49-F238E27FC236}">
                <a16:creationId xmlns:a16="http://schemas.microsoft.com/office/drawing/2014/main" id="{7F6A0EA9-3F06-4FFA-9011-FB3FDA401DA3}"/>
              </a:ext>
            </a:extLst>
          </p:cNvPr>
          <p:cNvPicPr>
            <a:picLocks noChangeAspect="1"/>
          </p:cNvPicPr>
          <p:nvPr/>
        </p:nvPicPr>
        <p:blipFill>
          <a:blip r:embed="rId5">
            <a:extLst>
              <a:ext uri="{28A0092B-C50C-407E-A947-70E740481C1C}">
                <a14:useLocalDpi xmlns:a14="http://schemas.microsoft.com/office/drawing/2010/main" val="0"/>
              </a:ext>
            </a:extLst>
          </a:blip>
          <a:srcRect l="7352" r="7352"/>
          <a:stretch/>
        </p:blipFill>
        <p:spPr>
          <a:xfrm>
            <a:off x="836302" y="1724025"/>
            <a:ext cx="4691445" cy="4125192"/>
          </a:xfrm>
          <a:prstGeom prst="rect">
            <a:avLst/>
          </a:prstGeom>
        </p:spPr>
      </p:pic>
      <p:graphicFrame>
        <p:nvGraphicFramePr>
          <p:cNvPr id="14" name="对象 13">
            <a:extLst>
              <a:ext uri="{FF2B5EF4-FFF2-40B4-BE49-F238E27FC236}">
                <a16:creationId xmlns:a16="http://schemas.microsoft.com/office/drawing/2014/main" id="{A056602B-EF02-467C-9A07-D9530B7BD83C}"/>
              </a:ext>
            </a:extLst>
          </p:cNvPr>
          <p:cNvGraphicFramePr>
            <a:graphicFrameLocks noChangeAspect="1"/>
          </p:cNvGraphicFramePr>
          <p:nvPr/>
        </p:nvGraphicFramePr>
        <p:xfrm>
          <a:off x="7024688" y="1319213"/>
          <a:ext cx="1973262" cy="404812"/>
        </p:xfrm>
        <a:graphic>
          <a:graphicData uri="http://schemas.openxmlformats.org/presentationml/2006/ole">
            <mc:AlternateContent xmlns:mc="http://schemas.openxmlformats.org/markup-compatibility/2006">
              <mc:Choice xmlns:v="urn:schemas-microsoft-com:vml" Requires="v">
                <p:oleObj spid="_x0000_s31761" name="Equation" r:id="rId6" imgW="990360" imgH="203040" progId="Equation.DSMT4">
                  <p:embed/>
                </p:oleObj>
              </mc:Choice>
              <mc:Fallback>
                <p:oleObj name="Equation" r:id="rId6" imgW="990360" imgH="203040" progId="Equation.DSMT4">
                  <p:embed/>
                  <p:pic>
                    <p:nvPicPr>
                      <p:cNvPr id="14" name="对象 13">
                        <a:extLst>
                          <a:ext uri="{FF2B5EF4-FFF2-40B4-BE49-F238E27FC236}">
                            <a16:creationId xmlns:a16="http://schemas.microsoft.com/office/drawing/2014/main" id="{A056602B-EF02-467C-9A07-D9530B7BD83C}"/>
                          </a:ext>
                        </a:extLst>
                      </p:cNvPr>
                      <p:cNvPicPr/>
                      <p:nvPr/>
                    </p:nvPicPr>
                    <p:blipFill>
                      <a:blip r:embed="rId7"/>
                      <a:stretch>
                        <a:fillRect/>
                      </a:stretch>
                    </p:blipFill>
                    <p:spPr>
                      <a:xfrm>
                        <a:off x="7024688" y="1319213"/>
                        <a:ext cx="1973262" cy="404812"/>
                      </a:xfrm>
                      <a:prstGeom prst="rect">
                        <a:avLst/>
                      </a:prstGeom>
                    </p:spPr>
                  </p:pic>
                </p:oleObj>
              </mc:Fallback>
            </mc:AlternateContent>
          </a:graphicData>
        </a:graphic>
      </p:graphicFrame>
      <p:sp>
        <p:nvSpPr>
          <p:cNvPr id="8" name="TextBox 47">
            <a:extLst>
              <a:ext uri="{FF2B5EF4-FFF2-40B4-BE49-F238E27FC236}">
                <a16:creationId xmlns:a16="http://schemas.microsoft.com/office/drawing/2014/main" id="{A6360FF1-25E5-4B04-AC6A-BA874D7F6D3E}"/>
              </a:ext>
            </a:extLst>
          </p:cNvPr>
          <p:cNvSpPr txBox="1"/>
          <p:nvPr/>
        </p:nvSpPr>
        <p:spPr>
          <a:xfrm>
            <a:off x="1860668" y="5849217"/>
            <a:ext cx="2822119" cy="369332"/>
          </a:xfrm>
          <a:prstGeom prst="rect">
            <a:avLst/>
          </a:prstGeom>
          <a:noFill/>
        </p:spPr>
        <p:txBody>
          <a:bodyPr wrap="none" rtlCol="0">
            <a:spAutoFit/>
          </a:bodyPr>
          <a:lstStyle/>
          <a:p>
            <a:r>
              <a:rPr lang="en-US" i="0" dirty="0">
                <a:latin typeface="Times New Roman" panose="02020603050405020304" pitchFamily="18" charset="0"/>
                <a:cs typeface="Times New Roman" panose="02020603050405020304" pitchFamily="18" charset="0"/>
              </a:rPr>
              <a:t>CIFAR10 confusion matrix  </a:t>
            </a:r>
          </a:p>
        </p:txBody>
      </p:sp>
      <p:sp>
        <p:nvSpPr>
          <p:cNvPr id="9" name="TextBox 47">
            <a:extLst>
              <a:ext uri="{FF2B5EF4-FFF2-40B4-BE49-F238E27FC236}">
                <a16:creationId xmlns:a16="http://schemas.microsoft.com/office/drawing/2014/main" id="{CB9BC1FC-D573-4C50-B73F-124DE56216B2}"/>
              </a:ext>
            </a:extLst>
          </p:cNvPr>
          <p:cNvSpPr txBox="1"/>
          <p:nvPr/>
        </p:nvSpPr>
        <p:spPr>
          <a:xfrm>
            <a:off x="6591016" y="5635035"/>
            <a:ext cx="2783711" cy="369332"/>
          </a:xfrm>
          <a:prstGeom prst="rect">
            <a:avLst/>
          </a:prstGeom>
          <a:noFill/>
        </p:spPr>
        <p:txBody>
          <a:bodyPr wrap="none" rtlCol="0">
            <a:spAutoFit/>
          </a:bodyPr>
          <a:lstStyle/>
          <a:p>
            <a:r>
              <a:rPr lang="en-US" i="0" dirty="0">
                <a:latin typeface="Times New Roman" panose="02020603050405020304" pitchFamily="18" charset="0"/>
                <a:cs typeface="Times New Roman" panose="02020603050405020304" pitchFamily="18" charset="0"/>
              </a:rPr>
              <a:t>CIFAR10 AUC-ROC Curve</a:t>
            </a:r>
          </a:p>
        </p:txBody>
      </p:sp>
    </p:spTree>
    <p:extLst>
      <p:ext uri="{BB962C8B-B14F-4D97-AF65-F5344CB8AC3E}">
        <p14:creationId xmlns:p14="http://schemas.microsoft.com/office/powerpoint/2010/main" val="310963940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Experiments-Comparable Experiments</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24</a:t>
            </a:fld>
            <a:endParaRPr lang="zh-CN" altLang="en-US">
              <a:latin typeface="+mj-lt"/>
            </a:endParaRPr>
          </a:p>
        </p:txBody>
      </p:sp>
      <p:sp>
        <p:nvSpPr>
          <p:cNvPr id="53" name="Content Placeholder 2">
            <a:extLst>
              <a:ext uri="{FF2B5EF4-FFF2-40B4-BE49-F238E27FC236}">
                <a16:creationId xmlns:a16="http://schemas.microsoft.com/office/drawing/2014/main" id="{882D7ADD-6C81-4552-AC44-31D399C37BB6}"/>
              </a:ext>
            </a:extLst>
          </p:cNvPr>
          <p:cNvSpPr txBox="1">
            <a:spLocks/>
          </p:cNvSpPr>
          <p:nvPr/>
        </p:nvSpPr>
        <p:spPr bwMode="auto">
          <a:xfrm>
            <a:off x="578037" y="1219200"/>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sz="2800" i="0" kern="0" dirty="0">
                <a:latin typeface="+mj-lt"/>
              </a:rPr>
              <a:t>Models with different Non-</a:t>
            </a:r>
            <a:r>
              <a:rPr lang="en-US" sz="2800" i="0" kern="0" dirty="0" err="1">
                <a:latin typeface="+mj-lt"/>
              </a:rPr>
              <a:t>i.i.d</a:t>
            </a:r>
            <a:r>
              <a:rPr lang="en-US" sz="2800" i="0" kern="0" dirty="0">
                <a:latin typeface="+mj-lt"/>
              </a:rPr>
              <a:t>. degree on MNIST</a:t>
            </a:r>
          </a:p>
          <a:p>
            <a:pPr lvl="1"/>
            <a:endParaRPr lang="en-US" sz="2400" i="0" kern="0" dirty="0">
              <a:latin typeface="+mj-lt"/>
            </a:endParaRPr>
          </a:p>
        </p:txBody>
      </p:sp>
      <p:graphicFrame>
        <p:nvGraphicFramePr>
          <p:cNvPr id="19" name="对象 18">
            <a:extLst>
              <a:ext uri="{FF2B5EF4-FFF2-40B4-BE49-F238E27FC236}">
                <a16:creationId xmlns:a16="http://schemas.microsoft.com/office/drawing/2014/main" id="{AD8B9E73-2959-4902-BA5B-5A39C9BA83D0}"/>
              </a:ext>
            </a:extLst>
          </p:cNvPr>
          <p:cNvGraphicFramePr>
            <a:graphicFrameLocks noChangeAspect="1"/>
          </p:cNvGraphicFramePr>
          <p:nvPr>
            <p:extLst>
              <p:ext uri="{D42A27DB-BD31-4B8C-83A1-F6EECF244321}">
                <p14:modId xmlns:p14="http://schemas.microsoft.com/office/powerpoint/2010/main" val="262286508"/>
              </p:ext>
            </p:extLst>
          </p:nvPr>
        </p:nvGraphicFramePr>
        <p:xfrm>
          <a:off x="5365603" y="4772819"/>
          <a:ext cx="1973262" cy="404812"/>
        </p:xfrm>
        <a:graphic>
          <a:graphicData uri="http://schemas.openxmlformats.org/presentationml/2006/ole">
            <mc:AlternateContent xmlns:mc="http://schemas.openxmlformats.org/markup-compatibility/2006">
              <mc:Choice xmlns:v="urn:schemas-microsoft-com:vml" Requires="v">
                <p:oleObj spid="_x0000_s32815" name="Equation" r:id="rId4" imgW="990360" imgH="203040" progId="Equation.DSMT4">
                  <p:embed/>
                </p:oleObj>
              </mc:Choice>
              <mc:Fallback>
                <p:oleObj name="Equation" r:id="rId4" imgW="990360" imgH="203040" progId="Equation.DSMT4">
                  <p:embed/>
                  <p:pic>
                    <p:nvPicPr>
                      <p:cNvPr id="14" name="对象 13">
                        <a:extLst>
                          <a:ext uri="{FF2B5EF4-FFF2-40B4-BE49-F238E27FC236}">
                            <a16:creationId xmlns:a16="http://schemas.microsoft.com/office/drawing/2014/main" id="{A056602B-EF02-467C-9A07-D9530B7BD83C}"/>
                          </a:ext>
                        </a:extLst>
                      </p:cNvPr>
                      <p:cNvPicPr/>
                      <p:nvPr/>
                    </p:nvPicPr>
                    <p:blipFill>
                      <a:blip r:embed="rId5"/>
                      <a:stretch>
                        <a:fillRect/>
                      </a:stretch>
                    </p:blipFill>
                    <p:spPr>
                      <a:xfrm>
                        <a:off x="5365603" y="4772819"/>
                        <a:ext cx="1973262" cy="404812"/>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3C632BDA-75E4-48BE-803F-DB7082701FFF}"/>
              </a:ext>
            </a:extLst>
          </p:cNvPr>
          <p:cNvGraphicFramePr>
            <a:graphicFrameLocks noChangeAspect="1"/>
          </p:cNvGraphicFramePr>
          <p:nvPr>
            <p:extLst>
              <p:ext uri="{D42A27DB-BD31-4B8C-83A1-F6EECF244321}">
                <p14:modId xmlns:p14="http://schemas.microsoft.com/office/powerpoint/2010/main" val="68053174"/>
              </p:ext>
            </p:extLst>
          </p:nvPr>
        </p:nvGraphicFramePr>
        <p:xfrm>
          <a:off x="9195712" y="4733808"/>
          <a:ext cx="2049462" cy="404812"/>
        </p:xfrm>
        <a:graphic>
          <a:graphicData uri="http://schemas.openxmlformats.org/presentationml/2006/ole">
            <mc:AlternateContent xmlns:mc="http://schemas.openxmlformats.org/markup-compatibility/2006">
              <mc:Choice xmlns:v="urn:schemas-microsoft-com:vml" Requires="v">
                <p:oleObj spid="_x0000_s32816" name="Equation" r:id="rId6" imgW="1028520" imgH="203040" progId="Equation.DSMT4">
                  <p:embed/>
                </p:oleObj>
              </mc:Choice>
              <mc:Fallback>
                <p:oleObj name="Equation" r:id="rId6" imgW="1028520" imgH="203040" progId="Equation.DSMT4">
                  <p:embed/>
                  <p:pic>
                    <p:nvPicPr>
                      <p:cNvPr id="19" name="对象 18">
                        <a:extLst>
                          <a:ext uri="{FF2B5EF4-FFF2-40B4-BE49-F238E27FC236}">
                            <a16:creationId xmlns:a16="http://schemas.microsoft.com/office/drawing/2014/main" id="{AD8B9E73-2959-4902-BA5B-5A39C9BA83D0}"/>
                          </a:ext>
                        </a:extLst>
                      </p:cNvPr>
                      <p:cNvPicPr/>
                      <p:nvPr/>
                    </p:nvPicPr>
                    <p:blipFill>
                      <a:blip r:embed="rId7"/>
                      <a:stretch>
                        <a:fillRect/>
                      </a:stretch>
                    </p:blipFill>
                    <p:spPr>
                      <a:xfrm>
                        <a:off x="9195712" y="4733808"/>
                        <a:ext cx="2049462" cy="404812"/>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BF18E3D9-F81B-41B2-B759-C369889E484C}"/>
              </a:ext>
            </a:extLst>
          </p:cNvPr>
          <p:cNvGraphicFramePr>
            <a:graphicFrameLocks noChangeAspect="1"/>
          </p:cNvGraphicFramePr>
          <p:nvPr>
            <p:extLst>
              <p:ext uri="{D42A27DB-BD31-4B8C-83A1-F6EECF244321}">
                <p14:modId xmlns:p14="http://schemas.microsoft.com/office/powerpoint/2010/main" val="483151209"/>
              </p:ext>
            </p:extLst>
          </p:nvPr>
        </p:nvGraphicFramePr>
        <p:xfrm>
          <a:off x="1452563" y="4827588"/>
          <a:ext cx="1619250" cy="404812"/>
        </p:xfrm>
        <a:graphic>
          <a:graphicData uri="http://schemas.openxmlformats.org/presentationml/2006/ole">
            <mc:AlternateContent xmlns:mc="http://schemas.openxmlformats.org/markup-compatibility/2006">
              <mc:Choice xmlns:v="urn:schemas-microsoft-com:vml" Requires="v">
                <p:oleObj spid="_x0000_s32817" name="Equation" r:id="rId8" imgW="812520" imgH="203040" progId="Equation.DSMT4">
                  <p:embed/>
                </p:oleObj>
              </mc:Choice>
              <mc:Fallback>
                <p:oleObj name="Equation" r:id="rId8" imgW="812520" imgH="203040" progId="Equation.DSMT4">
                  <p:embed/>
                  <p:pic>
                    <p:nvPicPr>
                      <p:cNvPr id="19" name="对象 18">
                        <a:extLst>
                          <a:ext uri="{FF2B5EF4-FFF2-40B4-BE49-F238E27FC236}">
                            <a16:creationId xmlns:a16="http://schemas.microsoft.com/office/drawing/2014/main" id="{AD8B9E73-2959-4902-BA5B-5A39C9BA83D0}"/>
                          </a:ext>
                        </a:extLst>
                      </p:cNvPr>
                      <p:cNvPicPr/>
                      <p:nvPr/>
                    </p:nvPicPr>
                    <p:blipFill>
                      <a:blip r:embed="rId9"/>
                      <a:stretch>
                        <a:fillRect/>
                      </a:stretch>
                    </p:blipFill>
                    <p:spPr>
                      <a:xfrm>
                        <a:off x="1452563" y="4827588"/>
                        <a:ext cx="1619250" cy="404812"/>
                      </a:xfrm>
                      <a:prstGeom prst="rect">
                        <a:avLst/>
                      </a:prstGeom>
                    </p:spPr>
                  </p:pic>
                </p:oleObj>
              </mc:Fallback>
            </mc:AlternateContent>
          </a:graphicData>
        </a:graphic>
      </p:graphicFrame>
      <p:pic>
        <p:nvPicPr>
          <p:cNvPr id="34" name="图片 33">
            <a:extLst>
              <a:ext uri="{FF2B5EF4-FFF2-40B4-BE49-F238E27FC236}">
                <a16:creationId xmlns:a16="http://schemas.microsoft.com/office/drawing/2014/main" id="{D0AA5B2B-A409-4F7A-8D6F-8A3A6DB3F70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6251" y="1849485"/>
            <a:ext cx="3845764" cy="2884323"/>
          </a:xfrm>
          <a:prstGeom prst="rect">
            <a:avLst/>
          </a:prstGeom>
        </p:spPr>
      </p:pic>
      <p:pic>
        <p:nvPicPr>
          <p:cNvPr id="38" name="图片 37">
            <a:extLst>
              <a:ext uri="{FF2B5EF4-FFF2-40B4-BE49-F238E27FC236}">
                <a16:creationId xmlns:a16="http://schemas.microsoft.com/office/drawing/2014/main" id="{A2CA6B06-BB9E-4146-B51D-745015FF474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53854" y="1980548"/>
            <a:ext cx="3495228" cy="2621421"/>
          </a:xfrm>
          <a:prstGeom prst="rect">
            <a:avLst/>
          </a:prstGeom>
        </p:spPr>
      </p:pic>
      <p:pic>
        <p:nvPicPr>
          <p:cNvPr id="44" name="图片 43">
            <a:extLst>
              <a:ext uri="{FF2B5EF4-FFF2-40B4-BE49-F238E27FC236}">
                <a16:creationId xmlns:a16="http://schemas.microsoft.com/office/drawing/2014/main" id="{51E9D729-422B-42C3-86C1-4EE5F192849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335513" y="1840857"/>
            <a:ext cx="4018341" cy="3013756"/>
          </a:xfrm>
          <a:prstGeom prst="rect">
            <a:avLst/>
          </a:prstGeom>
        </p:spPr>
      </p:pic>
    </p:spTree>
    <p:extLst>
      <p:ext uri="{BB962C8B-B14F-4D97-AF65-F5344CB8AC3E}">
        <p14:creationId xmlns:p14="http://schemas.microsoft.com/office/powerpoint/2010/main" val="420841588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Experiments-Comparable Experiments</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25</a:t>
            </a:fld>
            <a:endParaRPr lang="zh-CN" altLang="en-US">
              <a:latin typeface="+mj-lt"/>
            </a:endParaRPr>
          </a:p>
        </p:txBody>
      </p:sp>
      <p:sp>
        <p:nvSpPr>
          <p:cNvPr id="53" name="Content Placeholder 2">
            <a:extLst>
              <a:ext uri="{FF2B5EF4-FFF2-40B4-BE49-F238E27FC236}">
                <a16:creationId xmlns:a16="http://schemas.microsoft.com/office/drawing/2014/main" id="{882D7ADD-6C81-4552-AC44-31D399C37BB6}"/>
              </a:ext>
            </a:extLst>
          </p:cNvPr>
          <p:cNvSpPr txBox="1">
            <a:spLocks/>
          </p:cNvSpPr>
          <p:nvPr/>
        </p:nvSpPr>
        <p:spPr bwMode="auto">
          <a:xfrm>
            <a:off x="578037" y="1254278"/>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sz="2800" i="0" kern="0" dirty="0">
                <a:latin typeface="+mj-lt"/>
              </a:rPr>
              <a:t>Models with different Non-</a:t>
            </a:r>
            <a:r>
              <a:rPr lang="en-US" sz="2800" i="0" kern="0" dirty="0" err="1">
                <a:latin typeface="+mj-lt"/>
              </a:rPr>
              <a:t>i.i.d</a:t>
            </a:r>
            <a:r>
              <a:rPr lang="en-US" sz="2800" i="0" kern="0" dirty="0">
                <a:latin typeface="+mj-lt"/>
              </a:rPr>
              <a:t>. degree on CIFAR10</a:t>
            </a:r>
          </a:p>
          <a:p>
            <a:pPr lvl="1"/>
            <a:endParaRPr lang="en-US" sz="2400" i="0" kern="0" dirty="0">
              <a:latin typeface="+mj-lt"/>
            </a:endParaRPr>
          </a:p>
        </p:txBody>
      </p:sp>
      <p:pic>
        <p:nvPicPr>
          <p:cNvPr id="4" name="图片 3">
            <a:extLst>
              <a:ext uri="{FF2B5EF4-FFF2-40B4-BE49-F238E27FC236}">
                <a16:creationId xmlns:a16="http://schemas.microsoft.com/office/drawing/2014/main" id="{0AA0C443-C28C-4BFA-9271-9982D35244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2015" y="1928543"/>
            <a:ext cx="3784565" cy="2838421"/>
          </a:xfrm>
          <a:prstGeom prst="rect">
            <a:avLst/>
          </a:prstGeom>
        </p:spPr>
      </p:pic>
      <p:pic>
        <p:nvPicPr>
          <p:cNvPr id="9" name="图片 8">
            <a:extLst>
              <a:ext uri="{FF2B5EF4-FFF2-40B4-BE49-F238E27FC236}">
                <a16:creationId xmlns:a16="http://schemas.microsoft.com/office/drawing/2014/main" id="{1EF7C618-BFF2-455F-ACAF-4A0D7B40BB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57" y="1928543"/>
            <a:ext cx="3784565" cy="2838421"/>
          </a:xfrm>
          <a:prstGeom prst="rect">
            <a:avLst/>
          </a:prstGeom>
        </p:spPr>
      </p:pic>
      <p:graphicFrame>
        <p:nvGraphicFramePr>
          <p:cNvPr id="19" name="对象 18">
            <a:extLst>
              <a:ext uri="{FF2B5EF4-FFF2-40B4-BE49-F238E27FC236}">
                <a16:creationId xmlns:a16="http://schemas.microsoft.com/office/drawing/2014/main" id="{AD8B9E73-2959-4902-BA5B-5A39C9BA83D0}"/>
              </a:ext>
            </a:extLst>
          </p:cNvPr>
          <p:cNvGraphicFramePr>
            <a:graphicFrameLocks noChangeAspect="1"/>
          </p:cNvGraphicFramePr>
          <p:nvPr/>
        </p:nvGraphicFramePr>
        <p:xfrm>
          <a:off x="5365603" y="4772819"/>
          <a:ext cx="1973262" cy="404812"/>
        </p:xfrm>
        <a:graphic>
          <a:graphicData uri="http://schemas.openxmlformats.org/presentationml/2006/ole">
            <mc:AlternateContent xmlns:mc="http://schemas.openxmlformats.org/markup-compatibility/2006">
              <mc:Choice xmlns:v="urn:schemas-microsoft-com:vml" Requires="v">
                <p:oleObj spid="_x0000_s33836" name="Equation" r:id="rId6" imgW="990360" imgH="203040" progId="Equation.DSMT4">
                  <p:embed/>
                </p:oleObj>
              </mc:Choice>
              <mc:Fallback>
                <p:oleObj name="Equation" r:id="rId6" imgW="990360" imgH="203040" progId="Equation.DSMT4">
                  <p:embed/>
                  <p:pic>
                    <p:nvPicPr>
                      <p:cNvPr id="19" name="对象 18">
                        <a:extLst>
                          <a:ext uri="{FF2B5EF4-FFF2-40B4-BE49-F238E27FC236}">
                            <a16:creationId xmlns:a16="http://schemas.microsoft.com/office/drawing/2014/main" id="{AD8B9E73-2959-4902-BA5B-5A39C9BA83D0}"/>
                          </a:ext>
                        </a:extLst>
                      </p:cNvPr>
                      <p:cNvPicPr/>
                      <p:nvPr/>
                    </p:nvPicPr>
                    <p:blipFill>
                      <a:blip r:embed="rId7"/>
                      <a:stretch>
                        <a:fillRect/>
                      </a:stretch>
                    </p:blipFill>
                    <p:spPr>
                      <a:xfrm>
                        <a:off x="5365603" y="4772819"/>
                        <a:ext cx="1973262" cy="404812"/>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3C632BDA-75E4-48BE-803F-DB7082701FFF}"/>
              </a:ext>
            </a:extLst>
          </p:cNvPr>
          <p:cNvGraphicFramePr>
            <a:graphicFrameLocks noChangeAspect="1"/>
          </p:cNvGraphicFramePr>
          <p:nvPr/>
        </p:nvGraphicFramePr>
        <p:xfrm>
          <a:off x="9195712" y="4733808"/>
          <a:ext cx="2049462" cy="404812"/>
        </p:xfrm>
        <a:graphic>
          <a:graphicData uri="http://schemas.openxmlformats.org/presentationml/2006/ole">
            <mc:AlternateContent xmlns:mc="http://schemas.openxmlformats.org/markup-compatibility/2006">
              <mc:Choice xmlns:v="urn:schemas-microsoft-com:vml" Requires="v">
                <p:oleObj spid="_x0000_s33837" name="Equation" r:id="rId8" imgW="1028520" imgH="203040" progId="Equation.DSMT4">
                  <p:embed/>
                </p:oleObj>
              </mc:Choice>
              <mc:Fallback>
                <p:oleObj name="Equation" r:id="rId8" imgW="1028520" imgH="203040" progId="Equation.DSMT4">
                  <p:embed/>
                  <p:pic>
                    <p:nvPicPr>
                      <p:cNvPr id="20" name="对象 19">
                        <a:extLst>
                          <a:ext uri="{FF2B5EF4-FFF2-40B4-BE49-F238E27FC236}">
                            <a16:creationId xmlns:a16="http://schemas.microsoft.com/office/drawing/2014/main" id="{3C632BDA-75E4-48BE-803F-DB7082701FFF}"/>
                          </a:ext>
                        </a:extLst>
                      </p:cNvPr>
                      <p:cNvPicPr/>
                      <p:nvPr/>
                    </p:nvPicPr>
                    <p:blipFill>
                      <a:blip r:embed="rId9"/>
                      <a:stretch>
                        <a:fillRect/>
                      </a:stretch>
                    </p:blipFill>
                    <p:spPr>
                      <a:xfrm>
                        <a:off x="9195712" y="4733808"/>
                        <a:ext cx="2049462" cy="404812"/>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BF18E3D9-F81B-41B2-B759-C369889E484C}"/>
              </a:ext>
            </a:extLst>
          </p:cNvPr>
          <p:cNvGraphicFramePr>
            <a:graphicFrameLocks noChangeAspect="1"/>
          </p:cNvGraphicFramePr>
          <p:nvPr/>
        </p:nvGraphicFramePr>
        <p:xfrm>
          <a:off x="1452563" y="4827588"/>
          <a:ext cx="1619250" cy="404812"/>
        </p:xfrm>
        <a:graphic>
          <a:graphicData uri="http://schemas.openxmlformats.org/presentationml/2006/ole">
            <mc:AlternateContent xmlns:mc="http://schemas.openxmlformats.org/markup-compatibility/2006">
              <mc:Choice xmlns:v="urn:schemas-microsoft-com:vml" Requires="v">
                <p:oleObj spid="_x0000_s33838" name="Equation" r:id="rId10" imgW="812520" imgH="203040" progId="Equation.DSMT4">
                  <p:embed/>
                </p:oleObj>
              </mc:Choice>
              <mc:Fallback>
                <p:oleObj name="Equation" r:id="rId10" imgW="812520" imgH="203040" progId="Equation.DSMT4">
                  <p:embed/>
                  <p:pic>
                    <p:nvPicPr>
                      <p:cNvPr id="21" name="对象 20">
                        <a:extLst>
                          <a:ext uri="{FF2B5EF4-FFF2-40B4-BE49-F238E27FC236}">
                            <a16:creationId xmlns:a16="http://schemas.microsoft.com/office/drawing/2014/main" id="{BF18E3D9-F81B-41B2-B759-C369889E484C}"/>
                          </a:ext>
                        </a:extLst>
                      </p:cNvPr>
                      <p:cNvPicPr/>
                      <p:nvPr/>
                    </p:nvPicPr>
                    <p:blipFill>
                      <a:blip r:embed="rId11"/>
                      <a:stretch>
                        <a:fillRect/>
                      </a:stretch>
                    </p:blipFill>
                    <p:spPr>
                      <a:xfrm>
                        <a:off x="1452563" y="4827588"/>
                        <a:ext cx="1619250" cy="404812"/>
                      </a:xfrm>
                      <a:prstGeom prst="rect">
                        <a:avLst/>
                      </a:prstGeom>
                    </p:spPr>
                  </p:pic>
                </p:oleObj>
              </mc:Fallback>
            </mc:AlternateContent>
          </a:graphicData>
        </a:graphic>
      </p:graphicFrame>
      <p:pic>
        <p:nvPicPr>
          <p:cNvPr id="22" name="图片 21">
            <a:extLst>
              <a:ext uri="{FF2B5EF4-FFF2-40B4-BE49-F238E27FC236}">
                <a16:creationId xmlns:a16="http://schemas.microsoft.com/office/drawing/2014/main" id="{F3C86571-2BD2-4144-A195-8953B61B01C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133173" y="1928540"/>
            <a:ext cx="3784565" cy="2838424"/>
          </a:xfrm>
          <a:prstGeom prst="rect">
            <a:avLst/>
          </a:prstGeom>
        </p:spPr>
      </p:pic>
    </p:spTree>
    <p:extLst>
      <p:ext uri="{BB962C8B-B14F-4D97-AF65-F5344CB8AC3E}">
        <p14:creationId xmlns:p14="http://schemas.microsoft.com/office/powerpoint/2010/main" val="131004775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Experiments-Online Learning</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26</a:t>
            </a:fld>
            <a:endParaRPr lang="zh-CN" altLang="en-US">
              <a:latin typeface="+mj-lt"/>
            </a:endParaRPr>
          </a:p>
        </p:txBody>
      </p:sp>
      <p:sp>
        <p:nvSpPr>
          <p:cNvPr id="53" name="Content Placeholder 2">
            <a:extLst>
              <a:ext uri="{FF2B5EF4-FFF2-40B4-BE49-F238E27FC236}">
                <a16:creationId xmlns:a16="http://schemas.microsoft.com/office/drawing/2014/main" id="{882D7ADD-6C81-4552-AC44-31D399C37BB6}"/>
              </a:ext>
            </a:extLst>
          </p:cNvPr>
          <p:cNvSpPr txBox="1">
            <a:spLocks/>
          </p:cNvSpPr>
          <p:nvPr/>
        </p:nvSpPr>
        <p:spPr bwMode="auto">
          <a:xfrm>
            <a:off x="592138" y="1219200"/>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sz="2800" i="0" kern="0" dirty="0">
                <a:latin typeface="+mj-lt"/>
              </a:rPr>
              <a:t>What if streaming data?</a:t>
            </a:r>
          </a:p>
          <a:p>
            <a:pPr lvl="1"/>
            <a:r>
              <a:rPr lang="en-US" i="0" kern="0" dirty="0">
                <a:latin typeface="+mj-lt"/>
              </a:rPr>
              <a:t>Environment setup: CIFAR-10,  </a:t>
            </a:r>
          </a:p>
          <a:p>
            <a:pPr lvl="1"/>
            <a:r>
              <a:rPr lang="en-US" i="0" kern="0" dirty="0">
                <a:latin typeface="+mj-lt"/>
              </a:rPr>
              <a:t>Online data input: (1 </a:t>
            </a:r>
            <a:r>
              <a:rPr lang="en-US" altLang="zh-CN" i="0" kern="0" dirty="0">
                <a:latin typeface="+mj-lt"/>
              </a:rPr>
              <a:t>Communication Round=5 epoch</a:t>
            </a:r>
            <a:r>
              <a:rPr lang="en-US" i="0" kern="0" dirty="0">
                <a:latin typeface="+mj-lt"/>
              </a:rPr>
              <a:t>)</a:t>
            </a:r>
          </a:p>
          <a:p>
            <a:pPr marL="457200" lvl="1" indent="0">
              <a:buNone/>
            </a:pPr>
            <a:r>
              <a:rPr lang="en-US" altLang="zh-CN" sz="2200" i="0" kern="0" dirty="0">
                <a:latin typeface="+mj-lt"/>
              </a:rPr>
              <a:t>First five CR: add 100 images to local datasets in each CR.</a:t>
            </a:r>
          </a:p>
          <a:p>
            <a:pPr lvl="1"/>
            <a:r>
              <a:rPr lang="en-US" i="0" kern="0" dirty="0">
                <a:latin typeface="+mj-lt"/>
              </a:rPr>
              <a:t>Offline data input: </a:t>
            </a:r>
          </a:p>
          <a:p>
            <a:pPr marL="457200" lvl="1" indent="0">
              <a:buNone/>
            </a:pPr>
            <a:r>
              <a:rPr lang="en-US" i="0" kern="0" dirty="0">
                <a:latin typeface="+mj-lt"/>
              </a:rPr>
              <a:t>Local datasets have 500 images initially.</a:t>
            </a:r>
          </a:p>
          <a:p>
            <a:pPr lvl="1"/>
            <a:endParaRPr lang="en-US" i="0" kern="0" dirty="0">
              <a:latin typeface="+mj-lt"/>
            </a:endParaRPr>
          </a:p>
          <a:p>
            <a:pPr marL="457200" lvl="1" indent="0">
              <a:buNone/>
            </a:pPr>
            <a:r>
              <a:rPr lang="en-US" altLang="zh-CN" sz="2200" i="0" kern="0" dirty="0">
                <a:latin typeface="+mj-lt"/>
              </a:rPr>
              <a:t> </a:t>
            </a:r>
            <a:endParaRPr lang="en-US" sz="2200" i="0" kern="0" dirty="0">
              <a:latin typeface="+mj-lt"/>
            </a:endParaRPr>
          </a:p>
          <a:p>
            <a:pPr lvl="1"/>
            <a:endParaRPr lang="en-US" sz="2400" i="0" kern="0" dirty="0">
              <a:latin typeface="+mj-lt"/>
            </a:endParaRPr>
          </a:p>
        </p:txBody>
      </p:sp>
      <p:pic>
        <p:nvPicPr>
          <p:cNvPr id="4" name="图片 3">
            <a:extLst>
              <a:ext uri="{FF2B5EF4-FFF2-40B4-BE49-F238E27FC236}">
                <a16:creationId xmlns:a16="http://schemas.microsoft.com/office/drawing/2014/main" id="{8937A240-284B-481A-8784-D35249E39E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9353" y="1832172"/>
            <a:ext cx="4258207" cy="3193655"/>
          </a:xfrm>
          <a:prstGeom prst="rect">
            <a:avLst/>
          </a:prstGeom>
        </p:spPr>
      </p:pic>
      <p:graphicFrame>
        <p:nvGraphicFramePr>
          <p:cNvPr id="6" name="对象 5">
            <a:extLst>
              <a:ext uri="{FF2B5EF4-FFF2-40B4-BE49-F238E27FC236}">
                <a16:creationId xmlns:a16="http://schemas.microsoft.com/office/drawing/2014/main" id="{59E7E8D4-620A-40C8-A80A-D820C88F8940}"/>
              </a:ext>
            </a:extLst>
          </p:cNvPr>
          <p:cNvGraphicFramePr>
            <a:graphicFrameLocks noChangeAspect="1"/>
          </p:cNvGraphicFramePr>
          <p:nvPr>
            <p:extLst>
              <p:ext uri="{D42A27DB-BD31-4B8C-83A1-F6EECF244321}">
                <p14:modId xmlns:p14="http://schemas.microsoft.com/office/powerpoint/2010/main" val="2536449159"/>
              </p:ext>
            </p:extLst>
          </p:nvPr>
        </p:nvGraphicFramePr>
        <p:xfrm>
          <a:off x="5071268" y="1735532"/>
          <a:ext cx="2049463" cy="404813"/>
        </p:xfrm>
        <a:graphic>
          <a:graphicData uri="http://schemas.openxmlformats.org/presentationml/2006/ole">
            <mc:AlternateContent xmlns:mc="http://schemas.openxmlformats.org/markup-compatibility/2006">
              <mc:Choice xmlns:v="urn:schemas-microsoft-com:vml" Requires="v">
                <p:oleObj spid="_x0000_s27669" name="Equation" r:id="rId5" imgW="1028520" imgH="203040" progId="Equation.DSMT4">
                  <p:embed/>
                </p:oleObj>
              </mc:Choice>
              <mc:Fallback>
                <p:oleObj name="Equation" r:id="rId5" imgW="1028520" imgH="203040" progId="Equation.DSMT4">
                  <p:embed/>
                  <p:pic>
                    <p:nvPicPr>
                      <p:cNvPr id="17" name="对象 16">
                        <a:extLst>
                          <a:ext uri="{FF2B5EF4-FFF2-40B4-BE49-F238E27FC236}">
                            <a16:creationId xmlns:a16="http://schemas.microsoft.com/office/drawing/2014/main" id="{C9C1C640-817A-4BDD-A288-53C4D0D82B43}"/>
                          </a:ext>
                        </a:extLst>
                      </p:cNvPr>
                      <p:cNvPicPr/>
                      <p:nvPr/>
                    </p:nvPicPr>
                    <p:blipFill>
                      <a:blip r:embed="rId6"/>
                      <a:stretch>
                        <a:fillRect/>
                      </a:stretch>
                    </p:blipFill>
                    <p:spPr>
                      <a:xfrm>
                        <a:off x="5071268" y="1735532"/>
                        <a:ext cx="2049463" cy="404813"/>
                      </a:xfrm>
                      <a:prstGeom prst="rect">
                        <a:avLst/>
                      </a:prstGeom>
                    </p:spPr>
                  </p:pic>
                </p:oleObj>
              </mc:Fallback>
            </mc:AlternateContent>
          </a:graphicData>
        </a:graphic>
      </p:graphicFrame>
      <p:grpSp>
        <p:nvGrpSpPr>
          <p:cNvPr id="8" name="组合 7">
            <a:extLst>
              <a:ext uri="{FF2B5EF4-FFF2-40B4-BE49-F238E27FC236}">
                <a16:creationId xmlns:a16="http://schemas.microsoft.com/office/drawing/2014/main" id="{33476D7D-BDC2-45CA-B254-73F7231D8C5C}"/>
              </a:ext>
            </a:extLst>
          </p:cNvPr>
          <p:cNvGrpSpPr/>
          <p:nvPr/>
        </p:nvGrpSpPr>
        <p:grpSpPr>
          <a:xfrm>
            <a:off x="477761" y="5115009"/>
            <a:ext cx="5069490" cy="603194"/>
            <a:chOff x="371642" y="1570142"/>
            <a:chExt cx="4200358" cy="603194"/>
          </a:xfrm>
        </p:grpSpPr>
        <p:sp>
          <p:nvSpPr>
            <p:cNvPr id="9" name="内容占位符 2">
              <a:extLst>
                <a:ext uri="{FF2B5EF4-FFF2-40B4-BE49-F238E27FC236}">
                  <a16:creationId xmlns:a16="http://schemas.microsoft.com/office/drawing/2014/main" id="{BCE1F398-1324-45F6-95D0-EDA1E25D89D6}"/>
                </a:ext>
              </a:extLst>
            </p:cNvPr>
            <p:cNvSpPr txBox="1">
              <a:spLocks/>
            </p:cNvSpPr>
            <p:nvPr/>
          </p:nvSpPr>
          <p:spPr bwMode="auto">
            <a:xfrm>
              <a:off x="371642" y="1600200"/>
              <a:ext cx="4200358" cy="57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marL="457200" lvl="1" indent="0">
                <a:buNone/>
              </a:pPr>
              <a:r>
                <a:rPr lang="en-US" sz="2000" i="0" kern="0" dirty="0"/>
                <a:t>    Streaming data have same distributions</a:t>
              </a:r>
            </a:p>
          </p:txBody>
        </p:sp>
        <p:sp>
          <p:nvSpPr>
            <p:cNvPr id="10" name="矩形 9">
              <a:extLst>
                <a:ext uri="{FF2B5EF4-FFF2-40B4-BE49-F238E27FC236}">
                  <a16:creationId xmlns:a16="http://schemas.microsoft.com/office/drawing/2014/main" id="{A3A320AA-093F-4B88-A78E-652CA67F3AB5}"/>
                </a:ext>
              </a:extLst>
            </p:cNvPr>
            <p:cNvSpPr/>
            <p:nvPr/>
          </p:nvSpPr>
          <p:spPr>
            <a:xfrm>
              <a:off x="680382" y="1570142"/>
              <a:ext cx="505267" cy="477054"/>
            </a:xfrm>
            <a:prstGeom prst="rect">
              <a:avLst/>
            </a:prstGeom>
          </p:spPr>
          <p:txBody>
            <a:bodyPr wrap="none">
              <a:spAutoFit/>
            </a:bodyPr>
            <a:lstStyle/>
            <a:p>
              <a:r>
                <a:rPr lang="en-US" sz="2500" i="0" dirty="0">
                  <a:solidFill>
                    <a:srgbClr val="8B3012"/>
                  </a:solidFill>
                  <a:ea typeface="ＭＳ Ｐゴシック" pitchFamily="34" charset="-128"/>
                </a:rPr>
                <a:t>✗</a:t>
              </a:r>
              <a:endParaRPr lang="en-US" sz="2500" dirty="0"/>
            </a:p>
          </p:txBody>
        </p:sp>
      </p:grpSp>
    </p:spTree>
    <p:extLst>
      <p:ext uri="{BB962C8B-B14F-4D97-AF65-F5344CB8AC3E}">
        <p14:creationId xmlns:p14="http://schemas.microsoft.com/office/powerpoint/2010/main" val="209470801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8E2BB-4F18-2111-5806-AF397B9280D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7EDF72-E345-2043-91DC-342D3BB65056}"/>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82B13E2E-5BCD-5F92-1110-65E365CF9980}"/>
              </a:ext>
            </a:extLst>
          </p:cNvPr>
          <p:cNvSpPr>
            <a:spLocks noGrp="1"/>
          </p:cNvSpPr>
          <p:nvPr>
            <p:ph idx="1"/>
          </p:nvPr>
        </p:nvSpPr>
        <p:spPr>
          <a:xfrm>
            <a:off x="1503829" y="1346200"/>
            <a:ext cx="6464300" cy="3886200"/>
          </a:xfrm>
        </p:spPr>
        <p:txBody>
          <a:bodyPr/>
          <a:lstStyle/>
          <a:p>
            <a:pPr>
              <a:lnSpc>
                <a:spcPct val="200000"/>
              </a:lnSpc>
            </a:pPr>
            <a:r>
              <a:rPr lang="en-US" dirty="0">
                <a:solidFill>
                  <a:schemeClr val="accent3">
                    <a:lumMod val="50000"/>
                  </a:schemeClr>
                </a:solidFill>
              </a:rPr>
              <a:t>Introduction</a:t>
            </a:r>
          </a:p>
          <a:p>
            <a:pPr>
              <a:lnSpc>
                <a:spcPct val="200000"/>
              </a:lnSpc>
            </a:pPr>
            <a:r>
              <a:rPr lang="en-US" altLang="zh-CN" dirty="0">
                <a:solidFill>
                  <a:schemeClr val="accent3">
                    <a:lumMod val="50000"/>
                  </a:schemeClr>
                </a:solidFill>
                <a:latin typeface="Times New Roman" panose="02020603050405020304" pitchFamily="18" charset="0"/>
                <a:cs typeface="Times New Roman" panose="02020603050405020304" pitchFamily="18" charset="0"/>
              </a:rPr>
              <a:t>Existing research</a:t>
            </a:r>
            <a:endParaRPr lang="en-US" dirty="0">
              <a:solidFill>
                <a:schemeClr val="accent3">
                  <a:lumMod val="50000"/>
                </a:schemeClr>
              </a:solidFill>
            </a:endParaRPr>
          </a:p>
          <a:p>
            <a:pPr>
              <a:lnSpc>
                <a:spcPct val="200000"/>
              </a:lnSpc>
            </a:pPr>
            <a:r>
              <a:rPr lang="en-US" dirty="0">
                <a:solidFill>
                  <a:schemeClr val="accent3">
                    <a:lumMod val="50000"/>
                  </a:schemeClr>
                </a:solidFill>
                <a:latin typeface="Times New Roman" panose="02020603050405020304" pitchFamily="18" charset="0"/>
                <a:cs typeface="Times New Roman" panose="02020603050405020304" pitchFamily="18" charset="0"/>
              </a:rPr>
              <a:t>Proposed design</a:t>
            </a:r>
            <a:r>
              <a:rPr lang="zh-CN" altLang="en-US" dirty="0">
                <a:solidFill>
                  <a:schemeClr val="accent3">
                    <a:lumMod val="50000"/>
                  </a:schemeClr>
                </a:solidFill>
                <a:latin typeface="Times New Roman" panose="02020603050405020304" pitchFamily="18" charset="0"/>
                <a:cs typeface="Times New Roman" panose="02020603050405020304" pitchFamily="18" charset="0"/>
              </a:rPr>
              <a:t> </a:t>
            </a:r>
            <a:r>
              <a:rPr lang="en-US" altLang="zh-CN" dirty="0">
                <a:solidFill>
                  <a:schemeClr val="accent3">
                    <a:lumMod val="50000"/>
                  </a:schemeClr>
                </a:solidFill>
                <a:latin typeface="Times New Roman" panose="02020603050405020304" pitchFamily="18" charset="0"/>
                <a:cs typeface="Times New Roman" panose="02020603050405020304" pitchFamily="18" charset="0"/>
              </a:rPr>
              <a:t>and</a:t>
            </a:r>
            <a:r>
              <a:rPr lang="zh-CN" altLang="en-US" dirty="0">
                <a:solidFill>
                  <a:schemeClr val="accent3">
                    <a:lumMod val="50000"/>
                  </a:schemeClr>
                </a:solidFill>
                <a:latin typeface="Times New Roman" panose="02020603050405020304" pitchFamily="18" charset="0"/>
                <a:cs typeface="Times New Roman" panose="02020603050405020304" pitchFamily="18" charset="0"/>
              </a:rPr>
              <a:t> </a:t>
            </a:r>
            <a:r>
              <a:rPr lang="en-US" dirty="0">
                <a:solidFill>
                  <a:schemeClr val="accent3">
                    <a:lumMod val="50000"/>
                  </a:schemeClr>
                </a:solidFill>
                <a:latin typeface="Times New Roman" panose="02020603050405020304" pitchFamily="18" charset="0"/>
                <a:cs typeface="Times New Roman" panose="02020603050405020304" pitchFamily="18" charset="0"/>
              </a:rPr>
              <a:t>method </a:t>
            </a:r>
          </a:p>
          <a:p>
            <a:pPr>
              <a:lnSpc>
                <a:spcPct val="200000"/>
              </a:lnSpc>
            </a:pPr>
            <a:r>
              <a:rPr lang="en-US" altLang="zh-CN" dirty="0">
                <a:solidFill>
                  <a:schemeClr val="accent3">
                    <a:lumMod val="50000"/>
                  </a:schemeClr>
                </a:solidFill>
                <a:latin typeface="Times New Roman" panose="02020603050405020304" pitchFamily="18" charset="0"/>
                <a:cs typeface="Times New Roman" panose="02020603050405020304" pitchFamily="18" charset="0"/>
              </a:rPr>
              <a:t>Preliminary</a:t>
            </a:r>
            <a:r>
              <a:rPr lang="zh-CN" altLang="en-US" dirty="0">
                <a:solidFill>
                  <a:schemeClr val="accent3">
                    <a:lumMod val="50000"/>
                  </a:schemeClr>
                </a:solidFill>
                <a:latin typeface="Times New Roman" panose="02020603050405020304" pitchFamily="18" charset="0"/>
                <a:cs typeface="Times New Roman" panose="02020603050405020304" pitchFamily="18" charset="0"/>
              </a:rPr>
              <a:t> </a:t>
            </a:r>
            <a:r>
              <a:rPr lang="en-US" altLang="zh-CN" dirty="0">
                <a:solidFill>
                  <a:schemeClr val="accent3">
                    <a:lumMod val="50000"/>
                  </a:schemeClr>
                </a:solidFill>
                <a:latin typeface="Times New Roman" panose="02020603050405020304" pitchFamily="18" charset="0"/>
                <a:cs typeface="Times New Roman" panose="02020603050405020304" pitchFamily="18" charset="0"/>
              </a:rPr>
              <a:t>r</a:t>
            </a:r>
            <a:r>
              <a:rPr lang="en-US" dirty="0">
                <a:solidFill>
                  <a:schemeClr val="accent3">
                    <a:lumMod val="50000"/>
                  </a:schemeClr>
                </a:solidFill>
                <a:latin typeface="Times New Roman" panose="02020603050405020304" pitchFamily="18" charset="0"/>
                <a:cs typeface="Times New Roman" panose="02020603050405020304" pitchFamily="18" charset="0"/>
              </a:rPr>
              <a:t>esults </a:t>
            </a:r>
          </a:p>
          <a:p>
            <a:pPr>
              <a:lnSpc>
                <a:spcPct val="200000"/>
              </a:lnSpc>
            </a:pPr>
            <a:r>
              <a:rPr lang="en-US" altLang="zh-CN" dirty="0">
                <a:solidFill>
                  <a:srgbClr val="3333FF"/>
                </a:solidFill>
              </a:rPr>
              <a:t>S</a:t>
            </a:r>
            <a:r>
              <a:rPr lang="en-US" dirty="0">
                <a:solidFill>
                  <a:srgbClr val="3333FF"/>
                </a:solidFill>
              </a:rPr>
              <a:t>ummary</a:t>
            </a:r>
            <a:r>
              <a:rPr lang="zh-CN" altLang="en-US" dirty="0">
                <a:solidFill>
                  <a:srgbClr val="3333FF"/>
                </a:solidFill>
              </a:rPr>
              <a:t> </a:t>
            </a:r>
            <a:r>
              <a:rPr lang="en-US" altLang="zh-CN" dirty="0">
                <a:solidFill>
                  <a:srgbClr val="3333FF"/>
                </a:solidFill>
              </a:rPr>
              <a:t>and</a:t>
            </a:r>
            <a:r>
              <a:rPr lang="zh-CN" altLang="en-US" dirty="0">
                <a:solidFill>
                  <a:srgbClr val="3333FF"/>
                </a:solidFill>
              </a:rPr>
              <a:t> </a:t>
            </a:r>
            <a:r>
              <a:rPr lang="en-US" altLang="zh-CN" dirty="0">
                <a:solidFill>
                  <a:srgbClr val="3333FF"/>
                </a:solidFill>
              </a:rPr>
              <a:t>f</a:t>
            </a:r>
            <a:r>
              <a:rPr lang="en-US" dirty="0">
                <a:solidFill>
                  <a:srgbClr val="3333FF"/>
                </a:solidFill>
              </a:rPr>
              <a:t>uture work</a:t>
            </a:r>
          </a:p>
          <a:p>
            <a:endParaRPr lang="en-US" altLang="zh-CN" dirty="0"/>
          </a:p>
        </p:txBody>
      </p:sp>
      <p:sp>
        <p:nvSpPr>
          <p:cNvPr id="4" name="Slide Number Placeholder 3">
            <a:extLst>
              <a:ext uri="{FF2B5EF4-FFF2-40B4-BE49-F238E27FC236}">
                <a16:creationId xmlns:a16="http://schemas.microsoft.com/office/drawing/2014/main" id="{F6D0EAF2-A079-C485-525D-B40AD623C2B5}"/>
              </a:ext>
            </a:extLst>
          </p:cNvPr>
          <p:cNvSpPr>
            <a:spLocks noGrp="1"/>
          </p:cNvSpPr>
          <p:nvPr>
            <p:ph type="sldNum" sz="quarter" idx="11"/>
          </p:nvPr>
        </p:nvSpPr>
        <p:spPr/>
        <p:txBody>
          <a:bodyPr/>
          <a:lstStyle/>
          <a:p>
            <a:fld id="{B2B05758-BB4F-4559-81AD-225F352C8527}" type="slidenum">
              <a:rPr lang="zh-CN" altLang="en-US" smtClean="0"/>
              <a:t>27</a:t>
            </a:fld>
            <a:endParaRPr lang="zh-CN" altLang="en-US"/>
          </a:p>
        </p:txBody>
      </p:sp>
    </p:spTree>
    <p:extLst>
      <p:ext uri="{BB962C8B-B14F-4D97-AF65-F5344CB8AC3E}">
        <p14:creationId xmlns:p14="http://schemas.microsoft.com/office/powerpoint/2010/main" val="91594565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7A050260-C049-4131-B3A1-952E343D90E2}"/>
              </a:ext>
            </a:extLst>
          </p:cNvPr>
          <p:cNvSpPr txBox="1">
            <a:spLocks/>
          </p:cNvSpPr>
          <p:nvPr/>
        </p:nvSpPr>
        <p:spPr bwMode="auto">
          <a:xfrm>
            <a:off x="623669" y="1219200"/>
            <a:ext cx="11271045"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i="0" kern="0" dirty="0">
                <a:latin typeface="+mj-lt"/>
              </a:rPr>
              <a:t>DSL-OTA with non-</a:t>
            </a:r>
            <a:r>
              <a:rPr lang="en-US" i="0" kern="0" dirty="0" err="1">
                <a:latin typeface="+mj-lt"/>
              </a:rPr>
              <a:t>i.i.d</a:t>
            </a:r>
            <a:r>
              <a:rPr lang="en-US" i="0" kern="0" dirty="0">
                <a:latin typeface="+mj-lt"/>
              </a:rPr>
              <a:t>. data</a:t>
            </a:r>
          </a:p>
          <a:p>
            <a:pPr lvl="1"/>
            <a:r>
              <a:rPr lang="en-US" i="0" kern="0" dirty="0">
                <a:latin typeface="+mj-lt"/>
              </a:rPr>
              <a:t>Adaptive optimization: PSO &amp; multi-worker selection strategy to fully utilize local datasets.</a:t>
            </a:r>
          </a:p>
          <a:p>
            <a:pPr lvl="1"/>
            <a:r>
              <a:rPr lang="en-US" i="0" kern="0" dirty="0">
                <a:latin typeface="+mj-lt"/>
              </a:rPr>
              <a:t>Model aggregation: OTA enhance the communication efficiency.</a:t>
            </a:r>
          </a:p>
          <a:p>
            <a:pPr lvl="1"/>
            <a:r>
              <a:rPr lang="en-US" i="0" kern="0" dirty="0">
                <a:latin typeface="+mj-lt"/>
              </a:rPr>
              <a:t>Non-</a:t>
            </a:r>
            <a:r>
              <a:rPr lang="en-US" i="0" kern="0" dirty="0" err="1">
                <a:latin typeface="+mj-lt"/>
              </a:rPr>
              <a:t>i.i.d</a:t>
            </a:r>
            <a:r>
              <a:rPr lang="en-US" i="0" kern="0" dirty="0">
                <a:latin typeface="+mj-lt"/>
              </a:rPr>
              <a:t>. metric: propose a data-based metric for the heterogeneity of datasets.</a:t>
            </a:r>
          </a:p>
          <a:p>
            <a:pPr lvl="1"/>
            <a:endParaRPr lang="en-US" sz="2400" i="0" kern="0" dirty="0">
              <a:latin typeface="+mj-lt"/>
            </a:endParaRPr>
          </a:p>
        </p:txBody>
      </p:sp>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sz="3600" i="0" dirty="0">
                <a:latin typeface="Times New Roman" panose="02020603050405020304" pitchFamily="18" charset="0"/>
                <a:cs typeface="Times New Roman" panose="02020603050405020304" pitchFamily="18" charset="0"/>
              </a:rPr>
              <a:t>Summary</a:t>
            </a:r>
            <a:endParaRPr lang="zh-CN" altLang="en-US" dirty="0"/>
          </a:p>
        </p:txBody>
      </p:sp>
      <p:sp>
        <p:nvSpPr>
          <p:cNvPr id="11" name="内容占位符 2">
            <a:extLst>
              <a:ext uri="{FF2B5EF4-FFF2-40B4-BE49-F238E27FC236}">
                <a16:creationId xmlns:a16="http://schemas.microsoft.com/office/drawing/2014/main" id="{FD19354D-75A2-5437-CC6D-15987EB32686}"/>
              </a:ext>
            </a:extLst>
          </p:cNvPr>
          <p:cNvSpPr txBox="1">
            <a:spLocks/>
          </p:cNvSpPr>
          <p:nvPr/>
        </p:nvSpPr>
        <p:spPr bwMode="auto">
          <a:xfrm>
            <a:off x="623669" y="3992648"/>
            <a:ext cx="8499310" cy="25132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rgbClr val="0000CC"/>
              </a:buClr>
              <a:buSzPct val="85000"/>
              <a:buFont typeface="Wingdings" pitchFamily="2" charset="2"/>
              <a:buNone/>
              <a:defRPr sz="26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defRPr>
            </a:lvl4pPr>
            <a:lvl5pPr marL="2057400" indent="-228600" algn="l" rtl="0" eaLnBrk="0" fontAlgn="base" hangingPunct="0">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algn="l">
              <a:spcBef>
                <a:spcPts val="0"/>
              </a:spcBef>
              <a:spcAft>
                <a:spcPts val="480"/>
              </a:spcAft>
            </a:pPr>
            <a:r>
              <a:rPr lang="en-US" b="1" u="sng" kern="0" dirty="0">
                <a:solidFill>
                  <a:schemeClr val="accent1">
                    <a:lumMod val="50000"/>
                  </a:schemeClr>
                </a:solidFill>
              </a:rPr>
              <a:t>Further study:</a:t>
            </a:r>
          </a:p>
          <a:p>
            <a:pPr>
              <a:spcBef>
                <a:spcPts val="0"/>
              </a:spcBef>
              <a:spcAft>
                <a:spcPts val="480"/>
              </a:spcAft>
            </a:pPr>
            <a:r>
              <a:rPr lang="en-US" sz="1200" i="0" kern="0" dirty="0">
                <a:solidFill>
                  <a:schemeClr val="accent1">
                    <a:lumMod val="50000"/>
                  </a:schemeClr>
                </a:solidFill>
                <a:latin typeface="Times New Roman" panose="02020603050405020304" pitchFamily="18" charset="0"/>
                <a:cs typeface="Times New Roman" panose="02020603050405020304" pitchFamily="18" charset="0"/>
              </a:rPr>
              <a:t> </a:t>
            </a:r>
            <a:endParaRPr lang="en-US" sz="2400" i="0" kern="0" dirty="0">
              <a:solidFill>
                <a:schemeClr val="accent1">
                  <a:lumMod val="50000"/>
                </a:schemeClr>
              </a:solidFill>
            </a:endParaRPr>
          </a:p>
          <a:p>
            <a:pPr lvl="1">
              <a:spcBef>
                <a:spcPts val="0"/>
              </a:spcBef>
              <a:spcAft>
                <a:spcPts val="480"/>
              </a:spcAft>
            </a:pPr>
            <a:r>
              <a:rPr lang="en-US" sz="2400" i="0" kern="0" dirty="0">
                <a:solidFill>
                  <a:schemeClr val="accent1">
                    <a:lumMod val="50000"/>
                  </a:schemeClr>
                </a:solidFill>
              </a:rPr>
              <a:t>Non-</a:t>
            </a:r>
            <a:r>
              <a:rPr lang="en-US" sz="2400" i="0" kern="0" dirty="0" err="1">
                <a:solidFill>
                  <a:schemeClr val="accent1">
                    <a:lumMod val="50000"/>
                  </a:schemeClr>
                </a:solidFill>
              </a:rPr>
              <a:t>i.i.d</a:t>
            </a:r>
            <a:r>
              <a:rPr lang="en-US" sz="2400" i="0" kern="0" dirty="0">
                <a:solidFill>
                  <a:schemeClr val="accent1">
                    <a:lumMod val="50000"/>
                  </a:schemeClr>
                </a:solidFill>
              </a:rPr>
              <a:t>. scenario: quantity skew &amp; streaming input</a:t>
            </a:r>
          </a:p>
          <a:p>
            <a:pPr lvl="1">
              <a:spcBef>
                <a:spcPts val="0"/>
              </a:spcBef>
              <a:spcAft>
                <a:spcPts val="480"/>
              </a:spcAft>
            </a:pPr>
            <a:r>
              <a:rPr lang="en-US" sz="2400" i="0" kern="0" dirty="0">
                <a:solidFill>
                  <a:schemeClr val="accent1">
                    <a:lumMod val="50000"/>
                  </a:schemeClr>
                </a:solidFill>
              </a:rPr>
              <a:t>Dynamic systems: time-varying workers and environment</a:t>
            </a:r>
          </a:p>
          <a:p>
            <a:pPr lvl="1">
              <a:spcBef>
                <a:spcPts val="0"/>
              </a:spcBef>
              <a:spcAft>
                <a:spcPts val="480"/>
              </a:spcAft>
            </a:pPr>
            <a:r>
              <a:rPr lang="en-US" sz="2400" i="0" kern="0" dirty="0">
                <a:solidFill>
                  <a:schemeClr val="accent1">
                    <a:lumMod val="50000"/>
                  </a:schemeClr>
                </a:solidFill>
              </a:rPr>
              <a:t>Decentralized systems: no PS, better privacy </a:t>
            </a:r>
          </a:p>
        </p:txBody>
      </p:sp>
    </p:spTree>
    <p:extLst>
      <p:ext uri="{BB962C8B-B14F-4D97-AF65-F5344CB8AC3E}">
        <p14:creationId xmlns:p14="http://schemas.microsoft.com/office/powerpoint/2010/main" val="137585058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92836-A850-C490-6220-124FB22F667C}"/>
              </a:ext>
            </a:extLst>
          </p:cNvPr>
          <p:cNvSpPr>
            <a:spLocks noGrp="1"/>
          </p:cNvSpPr>
          <p:nvPr>
            <p:ph type="title"/>
          </p:nvPr>
        </p:nvSpPr>
        <p:spPr/>
        <p:txBody>
          <a:bodyPr/>
          <a:lstStyle/>
          <a:p>
            <a:r>
              <a:rPr lang="en-US" sz="3600" i="0" dirty="0">
                <a:latin typeface="Times New Roman" panose="02020603050405020304" pitchFamily="18" charset="0"/>
                <a:cs typeface="Times New Roman" panose="02020603050405020304" pitchFamily="18" charset="0"/>
              </a:rPr>
              <a:t>Future Work</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a:t>
            </a:r>
            <a:r>
              <a:rPr lang="en-US" altLang="zh-CN" sz="3600" i="0" dirty="0">
                <a:latin typeface="Times New Roman" panose="02020603050405020304" pitchFamily="18" charset="0"/>
                <a:cs typeface="Times New Roman" panose="02020603050405020304" pitchFamily="18" charset="0"/>
              </a:rPr>
              <a:t>ecentralized</a:t>
            </a:r>
            <a:r>
              <a:rPr lang="zh-CN" altLang="en-US" sz="3600" i="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DSL</a:t>
            </a:r>
            <a:endParaRPr lang="zh-CN" altLang="en-US" dirty="0"/>
          </a:p>
        </p:txBody>
      </p:sp>
      <p:sp>
        <p:nvSpPr>
          <p:cNvPr id="7" name="Slide Number Placeholder 6">
            <a:extLst>
              <a:ext uri="{FF2B5EF4-FFF2-40B4-BE49-F238E27FC236}">
                <a16:creationId xmlns:a16="http://schemas.microsoft.com/office/drawing/2014/main" id="{EFBAE8F9-CE63-6C6E-8BC0-86CA48DFC181}"/>
              </a:ext>
            </a:extLst>
          </p:cNvPr>
          <p:cNvSpPr>
            <a:spLocks noGrp="1"/>
          </p:cNvSpPr>
          <p:nvPr>
            <p:ph type="sldNum" sz="quarter" idx="11"/>
          </p:nvPr>
        </p:nvSpPr>
        <p:spPr/>
        <p:txBody>
          <a:bodyPr/>
          <a:lstStyle/>
          <a:p>
            <a:fld id="{B2B05758-BB4F-4559-81AD-225F352C8527}" type="slidenum">
              <a:rPr lang="zh-CN" altLang="en-US" smtClean="0">
                <a:latin typeface="+mj-lt"/>
              </a:rPr>
              <a:t>29</a:t>
            </a:fld>
            <a:endParaRPr lang="zh-CN" altLang="en-US">
              <a:latin typeface="+mj-lt"/>
            </a:endParaRPr>
          </a:p>
        </p:txBody>
      </p:sp>
      <p:sp>
        <p:nvSpPr>
          <p:cNvPr id="15" name="TextBox 14">
            <a:extLst>
              <a:ext uri="{FF2B5EF4-FFF2-40B4-BE49-F238E27FC236}">
                <a16:creationId xmlns:a16="http://schemas.microsoft.com/office/drawing/2014/main" id="{2B6A206F-5F6F-9164-0955-AC8A7C75E42A}"/>
              </a:ext>
            </a:extLst>
          </p:cNvPr>
          <p:cNvSpPr txBox="1"/>
          <p:nvPr/>
        </p:nvSpPr>
        <p:spPr>
          <a:xfrm>
            <a:off x="590551" y="1145133"/>
            <a:ext cx="10650037" cy="461665"/>
          </a:xfrm>
          <a:prstGeom prst="rect">
            <a:avLst/>
          </a:prstGeom>
          <a:noFill/>
          <a:ln>
            <a:noFill/>
          </a:ln>
        </p:spPr>
        <p:txBody>
          <a:bodyPr wrap="square" rtlCol="0">
            <a:spAutoFit/>
          </a:bodyPr>
          <a:lstStyle/>
          <a:p>
            <a:pPr algn="ctr"/>
            <a:r>
              <a:rPr lang="en-US" sz="2400" b="1" i="0" dirty="0">
                <a:solidFill>
                  <a:schemeClr val="accent5">
                    <a:lumMod val="50000"/>
                  </a:schemeClr>
                </a:solidFill>
                <a:latin typeface="+mj-lt"/>
              </a:rPr>
              <a:t>Decentralized DSL</a:t>
            </a:r>
            <a:r>
              <a:rPr lang="en-US" altLang="zh-CN" sz="2400" b="1" i="0" kern="0" baseline="30000" dirty="0">
                <a:solidFill>
                  <a:srgbClr val="0000DA"/>
                </a:solidFill>
                <a:latin typeface="+mj-lt"/>
                <a:ea typeface="ＭＳ Ｐゴシック" pitchFamily="-112" charset="-128"/>
                <a:cs typeface="Arial"/>
              </a:rPr>
              <a:t> [1]</a:t>
            </a:r>
            <a:endParaRPr lang="en-US" sz="2400" b="1" i="0" dirty="0">
              <a:solidFill>
                <a:schemeClr val="accent5">
                  <a:lumMod val="50000"/>
                </a:schemeClr>
              </a:solidFill>
              <a:latin typeface="+mj-lt"/>
            </a:endParaRPr>
          </a:p>
        </p:txBody>
      </p:sp>
      <p:sp>
        <p:nvSpPr>
          <p:cNvPr id="8" name="Content Placeholder 2">
            <a:extLst>
              <a:ext uri="{FF2B5EF4-FFF2-40B4-BE49-F238E27FC236}">
                <a16:creationId xmlns:a16="http://schemas.microsoft.com/office/drawing/2014/main" id="{834E9EAE-227D-4849-9F1B-D8C65222B026}"/>
              </a:ext>
            </a:extLst>
          </p:cNvPr>
          <p:cNvSpPr txBox="1">
            <a:spLocks/>
          </p:cNvSpPr>
          <p:nvPr/>
        </p:nvSpPr>
        <p:spPr bwMode="auto">
          <a:xfrm>
            <a:off x="510722" y="5232400"/>
            <a:ext cx="11473339" cy="12678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sz="2800" i="0" kern="0" dirty="0">
                <a:latin typeface="+mj-lt"/>
              </a:rPr>
              <a:t>Robustness, trustworthy, efficiency </a:t>
            </a:r>
            <a:r>
              <a:rPr lang="en-US" altLang="zh-CN" sz="2800" i="0" kern="0" dirty="0" err="1">
                <a:latin typeface="+mj-lt"/>
              </a:rPr>
              <a:t>commun</a:t>
            </a:r>
            <a:r>
              <a:rPr lang="en-US" altLang="zh-CN" sz="2800" i="0" kern="0" dirty="0">
                <a:latin typeface="+mj-lt"/>
              </a:rPr>
              <a:t>.</a:t>
            </a:r>
            <a:endParaRPr lang="en-US" sz="2800" i="0" kern="0" dirty="0">
              <a:latin typeface="+mj-lt"/>
            </a:endParaRPr>
          </a:p>
          <a:p>
            <a:r>
              <a:rPr lang="en-US" sz="2800" i="0" kern="0" dirty="0">
                <a:latin typeface="+mj-lt"/>
              </a:rPr>
              <a:t>Affiliation of better workers: Graph Theory</a:t>
            </a:r>
          </a:p>
          <a:p>
            <a:endParaRPr lang="en-US" sz="2800" i="0" kern="0" dirty="0">
              <a:latin typeface="+mj-lt"/>
            </a:endParaRPr>
          </a:p>
          <a:p>
            <a:endParaRPr lang="en-US" sz="2800" i="0" kern="0" dirty="0">
              <a:latin typeface="+mj-lt"/>
            </a:endParaRPr>
          </a:p>
          <a:p>
            <a:endParaRPr lang="en-US" sz="2600" b="1" i="0" kern="0" dirty="0">
              <a:latin typeface="+mj-lt"/>
            </a:endParaRPr>
          </a:p>
        </p:txBody>
      </p:sp>
      <p:sp>
        <p:nvSpPr>
          <p:cNvPr id="9" name="文本框 8">
            <a:extLst>
              <a:ext uri="{FF2B5EF4-FFF2-40B4-BE49-F238E27FC236}">
                <a16:creationId xmlns:a16="http://schemas.microsoft.com/office/drawing/2014/main" id="{E69669A2-FE1F-4199-9B94-841554907119}"/>
              </a:ext>
            </a:extLst>
          </p:cNvPr>
          <p:cNvSpPr txBox="1"/>
          <p:nvPr/>
        </p:nvSpPr>
        <p:spPr>
          <a:xfrm>
            <a:off x="243070" y="6332874"/>
            <a:ext cx="11057708" cy="230832"/>
          </a:xfrm>
          <a:prstGeom prst="rect">
            <a:avLst/>
          </a:prstGeom>
          <a:noFill/>
        </p:spPr>
        <p:txBody>
          <a:bodyPr wrap="square" rtlCol="0">
            <a:spAutoFit/>
          </a:bodyPr>
          <a:lstStyle/>
          <a:p>
            <a:r>
              <a:rPr lang="en-US" altLang="zh-CN" sz="900" i="0" dirty="0">
                <a:latin typeface="+mn-lt"/>
                <a:ea typeface="宋体" panose="02010600030101010101" pitchFamily="2" charset="-122"/>
              </a:rPr>
              <a:t>[1] </a:t>
            </a:r>
            <a:r>
              <a:rPr lang="en-US" altLang="zh-CN" sz="900" i="0" dirty="0" err="1">
                <a:latin typeface="+mn-lt"/>
                <a:ea typeface="宋体" panose="02010600030101010101" pitchFamily="2" charset="-122"/>
              </a:rPr>
              <a:t>Beltrán</a:t>
            </a:r>
            <a:r>
              <a:rPr lang="en-US" altLang="zh-CN" sz="900" i="0" dirty="0">
                <a:latin typeface="+mn-lt"/>
                <a:ea typeface="宋体" panose="02010600030101010101" pitchFamily="2" charset="-122"/>
              </a:rPr>
              <a:t> E T M, Pérez M Q, Sánchez P M S, et al. Decentralized federated learning: Fundamentals, state of the art, frameworks, trends, and challenges[J]. IEEE Communications Surveys &amp; Tutorials, 2023.</a:t>
            </a:r>
            <a:endParaRPr lang="zh-CN" altLang="en-US" sz="900" i="0" dirty="0">
              <a:latin typeface="+mn-lt"/>
              <a:ea typeface="宋体" panose="02010600030101010101" pitchFamily="2" charset="-122"/>
            </a:endParaRPr>
          </a:p>
        </p:txBody>
      </p:sp>
      <p:pic>
        <p:nvPicPr>
          <p:cNvPr id="5" name="图片 4">
            <a:extLst>
              <a:ext uri="{FF2B5EF4-FFF2-40B4-BE49-F238E27FC236}">
                <a16:creationId xmlns:a16="http://schemas.microsoft.com/office/drawing/2014/main" id="{32692E0B-EC43-4833-8131-DACAE29714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4492" y="1606798"/>
            <a:ext cx="9082154" cy="3233761"/>
          </a:xfrm>
          <a:prstGeom prst="rect">
            <a:avLst/>
          </a:prstGeom>
        </p:spPr>
      </p:pic>
    </p:spTree>
    <p:extLst>
      <p:ext uri="{BB962C8B-B14F-4D97-AF65-F5344CB8AC3E}">
        <p14:creationId xmlns:p14="http://schemas.microsoft.com/office/powerpoint/2010/main" val="174999717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Future Work</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Dynamic DSL</a:t>
            </a:r>
            <a:endParaRPr lang="en-US" dirty="0"/>
          </a:p>
        </p:txBody>
      </p:sp>
      <p:sp>
        <p:nvSpPr>
          <p:cNvPr id="3" name="内容占位符 2"/>
          <p:cNvSpPr>
            <a:spLocks noGrp="1"/>
          </p:cNvSpPr>
          <p:nvPr>
            <p:ph idx="1"/>
          </p:nvPr>
        </p:nvSpPr>
        <p:spPr>
          <a:xfrm>
            <a:off x="8236101" y="4023851"/>
            <a:ext cx="4082023" cy="1662709"/>
          </a:xfrm>
        </p:spPr>
        <p:txBody>
          <a:bodyPr/>
          <a:lstStyle/>
          <a:p>
            <a:r>
              <a:rPr lang="en-US" altLang="zh-CN" dirty="0"/>
              <a:t>Drift detection</a:t>
            </a:r>
          </a:p>
          <a:p>
            <a:r>
              <a:rPr lang="en-US" altLang="zh-CN" dirty="0"/>
              <a:t>Novel backward propagation</a:t>
            </a:r>
          </a:p>
          <a:p>
            <a:r>
              <a:rPr lang="en-US" altLang="zh-CN" dirty="0"/>
              <a:t>Adaptive learning</a:t>
            </a:r>
          </a:p>
          <a:p>
            <a:pPr marL="0" indent="0">
              <a:buNone/>
            </a:pPr>
            <a:endParaRPr lang="en-US" dirty="0"/>
          </a:p>
        </p:txBody>
      </p:sp>
      <p:sp>
        <p:nvSpPr>
          <p:cNvPr id="4" name="灯片编号占位符 3"/>
          <p:cNvSpPr>
            <a:spLocks noGrp="1"/>
          </p:cNvSpPr>
          <p:nvPr>
            <p:ph type="sldNum" sz="quarter" idx="11"/>
          </p:nvPr>
        </p:nvSpPr>
        <p:spPr/>
        <p:txBody>
          <a:bodyPr/>
          <a:lstStyle/>
          <a:p>
            <a:fld id="{17A34F41-4155-408E-A897-106FC8643D9B}" type="slidenum">
              <a:rPr lang="en-US" smtClean="0"/>
              <a:pPr/>
              <a:t>30</a:t>
            </a:fld>
            <a:endParaRPr lang="en-US" dirty="0"/>
          </a:p>
        </p:txBody>
      </p:sp>
      <p:sp>
        <p:nvSpPr>
          <p:cNvPr id="40" name="TextBox 11">
            <a:extLst>
              <a:ext uri="{FF2B5EF4-FFF2-40B4-BE49-F238E27FC236}">
                <a16:creationId xmlns:a16="http://schemas.microsoft.com/office/drawing/2014/main" id="{2C0A8A1F-0138-48E0-AB96-70B5602747F6}"/>
              </a:ext>
            </a:extLst>
          </p:cNvPr>
          <p:cNvSpPr txBox="1"/>
          <p:nvPr/>
        </p:nvSpPr>
        <p:spPr>
          <a:xfrm>
            <a:off x="976334" y="932953"/>
            <a:ext cx="9690086" cy="523220"/>
          </a:xfrm>
          <a:prstGeom prst="rect">
            <a:avLst/>
          </a:prstGeom>
          <a:noFill/>
        </p:spPr>
        <p:txBody>
          <a:bodyPr wrap="square">
            <a:spAutoFit/>
          </a:bodyPr>
          <a:lstStyle/>
          <a:p>
            <a:pPr algn="ctr"/>
            <a:r>
              <a:rPr lang="en-US" altLang="zh-CN" sz="2800" b="1" i="0" kern="0" dirty="0">
                <a:solidFill>
                  <a:srgbClr val="0000DA"/>
                </a:solidFill>
                <a:latin typeface="+mj-lt"/>
                <a:ea typeface="ＭＳ Ｐゴシック" pitchFamily="-112" charset="-128"/>
                <a:cs typeface="Arial"/>
              </a:rPr>
              <a:t>Dynamic devices &amp; datasets</a:t>
            </a:r>
            <a:endParaRPr lang="zh-CN" altLang="en-US" sz="2800" b="1" i="0" kern="0" baseline="30000" dirty="0">
              <a:solidFill>
                <a:srgbClr val="0000DA"/>
              </a:solidFill>
              <a:latin typeface="+mj-lt"/>
              <a:ea typeface="ＭＳ Ｐゴシック" pitchFamily="-112" charset="-128"/>
              <a:cs typeface="Arial"/>
            </a:endParaRPr>
          </a:p>
        </p:txBody>
      </p:sp>
      <p:sp>
        <p:nvSpPr>
          <p:cNvPr id="41" name="文本框 40">
            <a:extLst>
              <a:ext uri="{FF2B5EF4-FFF2-40B4-BE49-F238E27FC236}">
                <a16:creationId xmlns:a16="http://schemas.microsoft.com/office/drawing/2014/main" id="{81AE92D7-C0EA-402F-A74A-B87E4E8FE4BE}"/>
              </a:ext>
            </a:extLst>
          </p:cNvPr>
          <p:cNvSpPr txBox="1"/>
          <p:nvPr/>
        </p:nvSpPr>
        <p:spPr>
          <a:xfrm>
            <a:off x="543741" y="6285384"/>
            <a:ext cx="11057708"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i="0" dirty="0">
                <a:latin typeface="+mn-lt"/>
                <a:ea typeface="宋体" panose="02010600030101010101" pitchFamily="2" charset="-122"/>
              </a:rPr>
              <a:t>[1] Shao X, Yang C, Chen D, et al. Dynamic IoT device clustering and energy management with hybrid NOMA systems[J]. IEEE Transactions on Industrial Informatics, 2018, 14(10): 4622-4630.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i="0" dirty="0">
                <a:latin typeface="+mn-lt"/>
                <a:ea typeface="宋体" panose="02010600030101010101" pitchFamily="2" charset="-122"/>
              </a:rPr>
              <a:t>[2] </a:t>
            </a:r>
            <a:r>
              <a:rPr lang="en-US" altLang="zh-CN" sz="900" i="0" dirty="0" err="1">
                <a:latin typeface="+mn-lt"/>
                <a:ea typeface="宋体" panose="02010600030101010101" pitchFamily="2" charset="-122"/>
              </a:rPr>
              <a:t>Tegin</a:t>
            </a:r>
            <a:r>
              <a:rPr lang="en-US" altLang="zh-CN" sz="900" i="0" dirty="0">
                <a:latin typeface="+mn-lt"/>
                <a:ea typeface="宋体" panose="02010600030101010101" pitchFamily="2" charset="-122"/>
              </a:rPr>
              <a:t> B, </a:t>
            </a:r>
            <a:r>
              <a:rPr lang="en-US" altLang="zh-CN" sz="900" i="0" dirty="0" err="1">
                <a:latin typeface="+mn-lt"/>
                <a:ea typeface="宋体" panose="02010600030101010101" pitchFamily="2" charset="-122"/>
              </a:rPr>
              <a:t>Duman</a:t>
            </a:r>
            <a:r>
              <a:rPr lang="en-US" altLang="zh-CN" sz="900" i="0" dirty="0">
                <a:latin typeface="+mn-lt"/>
                <a:ea typeface="宋体" panose="02010600030101010101" pitchFamily="2" charset="-122"/>
              </a:rPr>
              <a:t> T M. Federated learning with over-the-air aggregation over time-varying channels[J]. IEEE Transactions on Wireless Communications, 2023, 22(8): 5671-5684.</a:t>
            </a:r>
          </a:p>
          <a:p>
            <a:endParaRPr lang="en-US" altLang="zh-CN" sz="900" i="0" dirty="0">
              <a:latin typeface="+mn-lt"/>
              <a:ea typeface="宋体" panose="02010600030101010101" pitchFamily="2" charset="-122"/>
            </a:endParaRPr>
          </a:p>
        </p:txBody>
      </p:sp>
      <p:sp>
        <p:nvSpPr>
          <p:cNvPr id="39" name="文本框 38">
            <a:extLst>
              <a:ext uri="{FF2B5EF4-FFF2-40B4-BE49-F238E27FC236}">
                <a16:creationId xmlns:a16="http://schemas.microsoft.com/office/drawing/2014/main" id="{E77F6A55-538D-4C60-B28A-3E8AA8C74AA2}"/>
              </a:ext>
            </a:extLst>
          </p:cNvPr>
          <p:cNvSpPr txBox="1"/>
          <p:nvPr/>
        </p:nvSpPr>
        <p:spPr>
          <a:xfrm>
            <a:off x="112820" y="1722649"/>
            <a:ext cx="3282025" cy="1200329"/>
          </a:xfrm>
          <a:prstGeom prst="rect">
            <a:avLst/>
          </a:prstGeom>
          <a:noFill/>
        </p:spPr>
        <p:txBody>
          <a:bodyPr wrap="square" numCol="1">
            <a:spAutoFit/>
          </a:bodyPr>
          <a:lstStyle/>
          <a:p>
            <a:pPr marL="342900" indent="-342900">
              <a:buFont typeface="Wingdings" pitchFamily="2" charset="2"/>
              <a:buChar char="Ø"/>
            </a:pPr>
            <a:r>
              <a:rPr lang="en-US" altLang="zh-CN" i="0" dirty="0">
                <a:latin typeface="+mj-lt"/>
              </a:rPr>
              <a:t>Dynamic Systems</a:t>
            </a:r>
            <a:r>
              <a:rPr lang="en-US" altLang="zh-CN" sz="1800" b="1" i="0" kern="0" baseline="30000" dirty="0">
                <a:solidFill>
                  <a:srgbClr val="0000DA"/>
                </a:solidFill>
                <a:latin typeface="+mj-lt"/>
                <a:ea typeface="ＭＳ Ｐゴシック" pitchFamily="-112" charset="-128"/>
                <a:cs typeface="Arial"/>
              </a:rPr>
              <a:t> </a:t>
            </a:r>
            <a:r>
              <a:rPr lang="en-US" altLang="zh-CN" sz="1800" b="1" i="0" kern="0" baseline="30000" dirty="0">
                <a:latin typeface="+mj-lt"/>
                <a:ea typeface="ＭＳ Ｐゴシック" pitchFamily="-112" charset="-128"/>
                <a:cs typeface="Arial"/>
              </a:rPr>
              <a:t>[1]</a:t>
            </a:r>
            <a:endParaRPr lang="en-US" altLang="zh-CN" i="0" dirty="0">
              <a:latin typeface="+mj-lt"/>
            </a:endParaRPr>
          </a:p>
          <a:p>
            <a:pPr marL="800100" lvl="1" indent="-342900">
              <a:buFont typeface="Wingdings" panose="05000000000000000000" pitchFamily="2" charset="2"/>
              <a:buChar char="u"/>
            </a:pPr>
            <a:r>
              <a:rPr lang="en-US" altLang="zh-CN" i="0" dirty="0">
                <a:latin typeface="Times New Roman" panose="02020603050405020304" pitchFamily="18" charset="0"/>
                <a:cs typeface="Times New Roman" panose="02020603050405020304" pitchFamily="18" charset="0"/>
              </a:rPr>
              <a:t>Time-varying channel</a:t>
            </a:r>
          </a:p>
          <a:p>
            <a:pPr marL="800100" lvl="1" indent="-342900">
              <a:buFont typeface="Wingdings" panose="05000000000000000000" pitchFamily="2" charset="2"/>
              <a:buChar char="u"/>
            </a:pPr>
            <a:r>
              <a:rPr lang="en-US" altLang="zh-CN" i="0" dirty="0">
                <a:latin typeface="Times New Roman" panose="02020603050405020304" pitchFamily="18" charset="0"/>
                <a:cs typeface="Times New Roman" panose="02020603050405020304" pitchFamily="18" charset="0"/>
              </a:rPr>
              <a:t>Time-varying power</a:t>
            </a:r>
          </a:p>
          <a:p>
            <a:pPr marL="800100" lvl="1" indent="-342900">
              <a:buFont typeface="Wingdings" panose="05000000000000000000" pitchFamily="2" charset="2"/>
              <a:buChar char="u"/>
            </a:pPr>
            <a:endParaRPr lang="en-US" altLang="zh-CN" i="0"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6ADDEF54-1FA8-4499-9984-BA205247CA4C}"/>
              </a:ext>
            </a:extLst>
          </p:cNvPr>
          <p:cNvSpPr txBox="1"/>
          <p:nvPr/>
        </p:nvSpPr>
        <p:spPr>
          <a:xfrm>
            <a:off x="8288173" y="1797238"/>
            <a:ext cx="2905117" cy="923330"/>
          </a:xfrm>
          <a:prstGeom prst="rect">
            <a:avLst/>
          </a:prstGeom>
          <a:noFill/>
        </p:spPr>
        <p:txBody>
          <a:bodyPr wrap="square" numCol="1">
            <a:spAutoFit/>
          </a:bodyPr>
          <a:lstStyle/>
          <a:p>
            <a:pPr marL="342900" indent="-342900">
              <a:buFont typeface="Wingdings" pitchFamily="2" charset="2"/>
              <a:buChar char="Ø"/>
            </a:pPr>
            <a:r>
              <a:rPr lang="en-US" altLang="zh-CN" i="0" dirty="0">
                <a:latin typeface="+mj-lt"/>
                <a:cs typeface="Times New Roman" panose="02020603050405020304" pitchFamily="18" charset="0"/>
              </a:rPr>
              <a:t>Streaming Data</a:t>
            </a:r>
            <a:r>
              <a:rPr lang="en-US" altLang="zh-CN" sz="1800" b="1" i="0" kern="0" baseline="30000" dirty="0">
                <a:latin typeface="+mj-lt"/>
                <a:ea typeface="ＭＳ Ｐゴシック" pitchFamily="-112" charset="-128"/>
                <a:cs typeface="Arial"/>
              </a:rPr>
              <a:t> [2]</a:t>
            </a:r>
            <a:endParaRPr lang="en-US" altLang="zh-CN" i="0" dirty="0">
              <a:latin typeface="+mj-lt"/>
              <a:cs typeface="Times New Roman" panose="02020603050405020304" pitchFamily="18" charset="0"/>
            </a:endParaRPr>
          </a:p>
          <a:p>
            <a:pPr marL="800100" lvl="1" indent="-342900">
              <a:buFont typeface="Wingdings" panose="05000000000000000000" pitchFamily="2" charset="2"/>
              <a:buChar char="u"/>
            </a:pPr>
            <a:r>
              <a:rPr lang="en-US" altLang="zh-CN" i="0" dirty="0">
                <a:latin typeface="Times New Roman" panose="02020603050405020304" pitchFamily="18" charset="0"/>
                <a:cs typeface="Times New Roman" panose="02020603050405020304" pitchFamily="18" charset="0"/>
              </a:rPr>
              <a:t>Data drift</a:t>
            </a:r>
          </a:p>
          <a:p>
            <a:pPr marL="800100" lvl="1" indent="-342900">
              <a:buFont typeface="Wingdings" panose="05000000000000000000" pitchFamily="2" charset="2"/>
              <a:buChar char="u"/>
            </a:pPr>
            <a:r>
              <a:rPr lang="en-US" altLang="zh-CN" i="0" dirty="0">
                <a:latin typeface="Times New Roman" panose="02020603050405020304" pitchFamily="18" charset="0"/>
                <a:cs typeface="Times New Roman" panose="02020603050405020304" pitchFamily="18" charset="0"/>
              </a:rPr>
              <a:t>Concept drift</a:t>
            </a:r>
          </a:p>
        </p:txBody>
      </p:sp>
      <p:pic>
        <p:nvPicPr>
          <p:cNvPr id="6" name="图片 5">
            <a:extLst>
              <a:ext uri="{FF2B5EF4-FFF2-40B4-BE49-F238E27FC236}">
                <a16:creationId xmlns:a16="http://schemas.microsoft.com/office/drawing/2014/main" id="{CD3544C6-712A-4B6A-98E1-820F80F4C4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9160" y="1349864"/>
            <a:ext cx="4349931" cy="2741408"/>
          </a:xfrm>
          <a:prstGeom prst="rect">
            <a:avLst/>
          </a:prstGeom>
        </p:spPr>
      </p:pic>
      <p:graphicFrame>
        <p:nvGraphicFramePr>
          <p:cNvPr id="43" name="对象 42">
            <a:extLst>
              <a:ext uri="{FF2B5EF4-FFF2-40B4-BE49-F238E27FC236}">
                <a16:creationId xmlns:a16="http://schemas.microsoft.com/office/drawing/2014/main" id="{F45C68FC-14E9-4B04-A0A7-DF3A1C2D2B35}"/>
              </a:ext>
            </a:extLst>
          </p:cNvPr>
          <p:cNvGraphicFramePr>
            <a:graphicFrameLocks noChangeAspect="1"/>
          </p:cNvGraphicFramePr>
          <p:nvPr>
            <p:extLst>
              <p:ext uri="{D42A27DB-BD31-4B8C-83A1-F6EECF244321}">
                <p14:modId xmlns:p14="http://schemas.microsoft.com/office/powerpoint/2010/main" val="2507318746"/>
              </p:ext>
            </p:extLst>
          </p:nvPr>
        </p:nvGraphicFramePr>
        <p:xfrm>
          <a:off x="10180589" y="2033595"/>
          <a:ext cx="1314176" cy="446132"/>
        </p:xfrm>
        <a:graphic>
          <a:graphicData uri="http://schemas.openxmlformats.org/presentationml/2006/ole">
            <mc:AlternateContent xmlns:mc="http://schemas.openxmlformats.org/markup-compatibility/2006">
              <mc:Choice xmlns:v="urn:schemas-microsoft-com:vml" Requires="v">
                <p:oleObj spid="_x0000_s21620" name="Equation" r:id="rId5" imgW="749160" imgH="253800" progId="Equation.DSMT4">
                  <p:embed/>
                </p:oleObj>
              </mc:Choice>
              <mc:Fallback>
                <p:oleObj name="Equation" r:id="rId5" imgW="749160" imgH="253800" progId="Equation.DSMT4">
                  <p:embed/>
                  <p:pic>
                    <p:nvPicPr>
                      <p:cNvPr id="11" name="对象 10">
                        <a:extLst>
                          <a:ext uri="{FF2B5EF4-FFF2-40B4-BE49-F238E27FC236}">
                            <a16:creationId xmlns:a16="http://schemas.microsoft.com/office/drawing/2014/main" id="{E3A6251E-C07B-41B5-808B-0ACBB35A2A17}"/>
                          </a:ext>
                        </a:extLst>
                      </p:cNvPr>
                      <p:cNvPicPr/>
                      <p:nvPr/>
                    </p:nvPicPr>
                    <p:blipFill>
                      <a:blip r:embed="rId6"/>
                      <a:stretch>
                        <a:fillRect/>
                      </a:stretch>
                    </p:blipFill>
                    <p:spPr>
                      <a:xfrm>
                        <a:off x="10180589" y="2033595"/>
                        <a:ext cx="1314176" cy="446132"/>
                      </a:xfrm>
                      <a:prstGeom prst="rect">
                        <a:avLst/>
                      </a:prstGeom>
                    </p:spPr>
                  </p:pic>
                </p:oleObj>
              </mc:Fallback>
            </mc:AlternateContent>
          </a:graphicData>
        </a:graphic>
      </p:graphicFrame>
      <p:grpSp>
        <p:nvGrpSpPr>
          <p:cNvPr id="44" name="组合 43">
            <a:extLst>
              <a:ext uri="{FF2B5EF4-FFF2-40B4-BE49-F238E27FC236}">
                <a16:creationId xmlns:a16="http://schemas.microsoft.com/office/drawing/2014/main" id="{DB6E2E56-9F4D-4F28-BB65-009968DB7CE8}"/>
              </a:ext>
            </a:extLst>
          </p:cNvPr>
          <p:cNvGrpSpPr/>
          <p:nvPr/>
        </p:nvGrpSpPr>
        <p:grpSpPr>
          <a:xfrm>
            <a:off x="8414210" y="2962044"/>
            <a:ext cx="4200358" cy="603194"/>
            <a:chOff x="371642" y="1570142"/>
            <a:chExt cx="4200358" cy="603194"/>
          </a:xfrm>
        </p:grpSpPr>
        <p:sp>
          <p:nvSpPr>
            <p:cNvPr id="46" name="内容占位符 2">
              <a:extLst>
                <a:ext uri="{FF2B5EF4-FFF2-40B4-BE49-F238E27FC236}">
                  <a16:creationId xmlns:a16="http://schemas.microsoft.com/office/drawing/2014/main" id="{1550E98C-3EF5-4483-BF39-F73D0E38D947}"/>
                </a:ext>
              </a:extLst>
            </p:cNvPr>
            <p:cNvSpPr txBox="1">
              <a:spLocks/>
            </p:cNvSpPr>
            <p:nvPr/>
          </p:nvSpPr>
          <p:spPr bwMode="auto">
            <a:xfrm>
              <a:off x="371642" y="1600200"/>
              <a:ext cx="4200358" cy="57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marL="457200" lvl="1" indent="0">
                <a:buNone/>
              </a:pPr>
              <a:r>
                <a:rPr lang="en-US" sz="2000" i="0" kern="0" dirty="0"/>
                <a:t>    Optimizer Failure</a:t>
              </a:r>
            </a:p>
          </p:txBody>
        </p:sp>
        <p:sp>
          <p:nvSpPr>
            <p:cNvPr id="47" name="矩形 46">
              <a:extLst>
                <a:ext uri="{FF2B5EF4-FFF2-40B4-BE49-F238E27FC236}">
                  <a16:creationId xmlns:a16="http://schemas.microsoft.com/office/drawing/2014/main" id="{53541A25-76BB-4746-8887-96F49A531438}"/>
                </a:ext>
              </a:extLst>
            </p:cNvPr>
            <p:cNvSpPr/>
            <p:nvPr/>
          </p:nvSpPr>
          <p:spPr>
            <a:xfrm>
              <a:off x="680382" y="1570142"/>
              <a:ext cx="505267" cy="477054"/>
            </a:xfrm>
            <a:prstGeom prst="rect">
              <a:avLst/>
            </a:prstGeom>
          </p:spPr>
          <p:txBody>
            <a:bodyPr wrap="none">
              <a:spAutoFit/>
            </a:bodyPr>
            <a:lstStyle/>
            <a:p>
              <a:r>
                <a:rPr lang="en-US" sz="2500" i="0" dirty="0">
                  <a:solidFill>
                    <a:srgbClr val="8B3012"/>
                  </a:solidFill>
                  <a:ea typeface="ＭＳ Ｐゴシック" pitchFamily="34" charset="-128"/>
                </a:rPr>
                <a:t>✗</a:t>
              </a:r>
              <a:endParaRPr lang="en-US" sz="2500" dirty="0"/>
            </a:p>
          </p:txBody>
        </p:sp>
      </p:grpSp>
      <p:grpSp>
        <p:nvGrpSpPr>
          <p:cNvPr id="48" name="组合 47">
            <a:extLst>
              <a:ext uri="{FF2B5EF4-FFF2-40B4-BE49-F238E27FC236}">
                <a16:creationId xmlns:a16="http://schemas.microsoft.com/office/drawing/2014/main" id="{DD19C388-5F8F-4FD4-8107-D06956199352}"/>
              </a:ext>
            </a:extLst>
          </p:cNvPr>
          <p:cNvGrpSpPr/>
          <p:nvPr/>
        </p:nvGrpSpPr>
        <p:grpSpPr>
          <a:xfrm>
            <a:off x="8414210" y="3345461"/>
            <a:ext cx="4200358" cy="603194"/>
            <a:chOff x="371642" y="1570142"/>
            <a:chExt cx="4200358" cy="603194"/>
          </a:xfrm>
        </p:grpSpPr>
        <p:sp>
          <p:nvSpPr>
            <p:cNvPr id="49" name="内容占位符 2">
              <a:extLst>
                <a:ext uri="{FF2B5EF4-FFF2-40B4-BE49-F238E27FC236}">
                  <a16:creationId xmlns:a16="http://schemas.microsoft.com/office/drawing/2014/main" id="{C5DF484F-2ED9-44E6-B320-F24F85F044C3}"/>
                </a:ext>
              </a:extLst>
            </p:cNvPr>
            <p:cNvSpPr txBox="1">
              <a:spLocks/>
            </p:cNvSpPr>
            <p:nvPr/>
          </p:nvSpPr>
          <p:spPr bwMode="auto">
            <a:xfrm>
              <a:off x="371642" y="1600200"/>
              <a:ext cx="4200358" cy="57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marL="457200" lvl="1" indent="0">
                <a:buNone/>
              </a:pPr>
              <a:r>
                <a:rPr lang="en-US" sz="2000" i="0" kern="0" dirty="0"/>
                <a:t>    Model degradation</a:t>
              </a:r>
            </a:p>
          </p:txBody>
        </p:sp>
        <p:sp>
          <p:nvSpPr>
            <p:cNvPr id="50" name="矩形 49">
              <a:extLst>
                <a:ext uri="{FF2B5EF4-FFF2-40B4-BE49-F238E27FC236}">
                  <a16:creationId xmlns:a16="http://schemas.microsoft.com/office/drawing/2014/main" id="{62B11342-D33F-4893-A152-146638EDC6B6}"/>
                </a:ext>
              </a:extLst>
            </p:cNvPr>
            <p:cNvSpPr/>
            <p:nvPr/>
          </p:nvSpPr>
          <p:spPr>
            <a:xfrm>
              <a:off x="680382" y="1570142"/>
              <a:ext cx="505267" cy="477054"/>
            </a:xfrm>
            <a:prstGeom prst="rect">
              <a:avLst/>
            </a:prstGeom>
          </p:spPr>
          <p:txBody>
            <a:bodyPr wrap="none">
              <a:spAutoFit/>
            </a:bodyPr>
            <a:lstStyle/>
            <a:p>
              <a:r>
                <a:rPr lang="en-US" sz="2500" i="0" dirty="0">
                  <a:solidFill>
                    <a:srgbClr val="8B3012"/>
                  </a:solidFill>
                  <a:ea typeface="ＭＳ Ｐゴシック" pitchFamily="34" charset="-128"/>
                </a:rPr>
                <a:t>✗</a:t>
              </a:r>
              <a:endParaRPr lang="en-US" sz="2500" dirty="0"/>
            </a:p>
          </p:txBody>
        </p:sp>
      </p:grpSp>
      <p:graphicFrame>
        <p:nvGraphicFramePr>
          <p:cNvPr id="54" name="对象 53">
            <a:extLst>
              <a:ext uri="{FF2B5EF4-FFF2-40B4-BE49-F238E27FC236}">
                <a16:creationId xmlns:a16="http://schemas.microsoft.com/office/drawing/2014/main" id="{17D587BF-4F4F-4447-8523-A27D18298EFA}"/>
              </a:ext>
            </a:extLst>
          </p:cNvPr>
          <p:cNvGraphicFramePr>
            <a:graphicFrameLocks noChangeAspect="1"/>
          </p:cNvGraphicFramePr>
          <p:nvPr>
            <p:extLst>
              <p:ext uri="{D42A27DB-BD31-4B8C-83A1-F6EECF244321}">
                <p14:modId xmlns:p14="http://schemas.microsoft.com/office/powerpoint/2010/main" val="4160025722"/>
              </p:ext>
            </p:extLst>
          </p:nvPr>
        </p:nvGraphicFramePr>
        <p:xfrm>
          <a:off x="10436225" y="2354263"/>
          <a:ext cx="1225550" cy="446087"/>
        </p:xfrm>
        <a:graphic>
          <a:graphicData uri="http://schemas.openxmlformats.org/presentationml/2006/ole">
            <mc:AlternateContent xmlns:mc="http://schemas.openxmlformats.org/markup-compatibility/2006">
              <mc:Choice xmlns:v="urn:schemas-microsoft-com:vml" Requires="v">
                <p:oleObj spid="_x0000_s21621" name="Equation" r:id="rId7" imgW="698400" imgH="253800" progId="Equation.DSMT4">
                  <p:embed/>
                </p:oleObj>
              </mc:Choice>
              <mc:Fallback>
                <p:oleObj name="Equation" r:id="rId7" imgW="698400" imgH="253800" progId="Equation.DSMT4">
                  <p:embed/>
                  <p:pic>
                    <p:nvPicPr>
                      <p:cNvPr id="43" name="对象 42">
                        <a:extLst>
                          <a:ext uri="{FF2B5EF4-FFF2-40B4-BE49-F238E27FC236}">
                            <a16:creationId xmlns:a16="http://schemas.microsoft.com/office/drawing/2014/main" id="{F45C68FC-14E9-4B04-A0A7-DF3A1C2D2B35}"/>
                          </a:ext>
                        </a:extLst>
                      </p:cNvPr>
                      <p:cNvPicPr/>
                      <p:nvPr/>
                    </p:nvPicPr>
                    <p:blipFill>
                      <a:blip r:embed="rId8"/>
                      <a:stretch>
                        <a:fillRect/>
                      </a:stretch>
                    </p:blipFill>
                    <p:spPr>
                      <a:xfrm>
                        <a:off x="10436225" y="2354263"/>
                        <a:ext cx="1225550" cy="446087"/>
                      </a:xfrm>
                      <a:prstGeom prst="rect">
                        <a:avLst/>
                      </a:prstGeom>
                    </p:spPr>
                  </p:pic>
                </p:oleObj>
              </mc:Fallback>
            </mc:AlternateContent>
          </a:graphicData>
        </a:graphic>
      </p:graphicFrame>
      <p:sp>
        <p:nvSpPr>
          <p:cNvPr id="69" name="内容占位符 2">
            <a:extLst>
              <a:ext uri="{FF2B5EF4-FFF2-40B4-BE49-F238E27FC236}">
                <a16:creationId xmlns:a16="http://schemas.microsoft.com/office/drawing/2014/main" id="{0DF6AE45-AA11-4E16-9ABD-0FC23CE3A5E8}"/>
              </a:ext>
            </a:extLst>
          </p:cNvPr>
          <p:cNvSpPr txBox="1">
            <a:spLocks/>
          </p:cNvSpPr>
          <p:nvPr/>
        </p:nvSpPr>
        <p:spPr bwMode="auto">
          <a:xfrm>
            <a:off x="239493" y="4379728"/>
            <a:ext cx="4082023" cy="16627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i="0" kern="0" dirty="0"/>
              <a:t>Mobile edge computing</a:t>
            </a:r>
          </a:p>
          <a:p>
            <a:r>
              <a:rPr lang="en-US" altLang="zh-CN" i="0" kern="0" dirty="0"/>
              <a:t>Offloading strategy</a:t>
            </a:r>
          </a:p>
          <a:p>
            <a:r>
              <a:rPr lang="en-US" altLang="zh-CN" i="0" kern="0" dirty="0"/>
              <a:t>Adaptive optimization</a:t>
            </a:r>
          </a:p>
          <a:p>
            <a:pPr marL="0" indent="0">
              <a:buFont typeface="Wingdings" charset="2"/>
              <a:buNone/>
            </a:pPr>
            <a:endParaRPr lang="en-US" i="0" kern="0" dirty="0"/>
          </a:p>
        </p:txBody>
      </p:sp>
      <p:grpSp>
        <p:nvGrpSpPr>
          <p:cNvPr id="70" name="组合 69">
            <a:extLst>
              <a:ext uri="{FF2B5EF4-FFF2-40B4-BE49-F238E27FC236}">
                <a16:creationId xmlns:a16="http://schemas.microsoft.com/office/drawing/2014/main" id="{19CD16B4-FB45-421B-B3ED-FA2E6FD19D00}"/>
              </a:ext>
            </a:extLst>
          </p:cNvPr>
          <p:cNvGrpSpPr/>
          <p:nvPr/>
        </p:nvGrpSpPr>
        <p:grpSpPr>
          <a:xfrm>
            <a:off x="396580" y="2992102"/>
            <a:ext cx="4200358" cy="603194"/>
            <a:chOff x="371642" y="1570142"/>
            <a:chExt cx="4200358" cy="603194"/>
          </a:xfrm>
        </p:grpSpPr>
        <p:sp>
          <p:nvSpPr>
            <p:cNvPr id="71" name="内容占位符 2">
              <a:extLst>
                <a:ext uri="{FF2B5EF4-FFF2-40B4-BE49-F238E27FC236}">
                  <a16:creationId xmlns:a16="http://schemas.microsoft.com/office/drawing/2014/main" id="{E02FB51D-C7B2-4FC2-BE78-35B0FACEE35F}"/>
                </a:ext>
              </a:extLst>
            </p:cNvPr>
            <p:cNvSpPr txBox="1">
              <a:spLocks/>
            </p:cNvSpPr>
            <p:nvPr/>
          </p:nvSpPr>
          <p:spPr bwMode="auto">
            <a:xfrm>
              <a:off x="371642" y="1600200"/>
              <a:ext cx="4200358" cy="57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marL="457200" lvl="1" indent="0">
                <a:buNone/>
              </a:pPr>
              <a:r>
                <a:rPr lang="en-US" sz="2000" i="0" kern="0" dirty="0"/>
                <a:t>    User-perceived latency</a:t>
              </a:r>
            </a:p>
          </p:txBody>
        </p:sp>
        <p:sp>
          <p:nvSpPr>
            <p:cNvPr id="72" name="矩形 71">
              <a:extLst>
                <a:ext uri="{FF2B5EF4-FFF2-40B4-BE49-F238E27FC236}">
                  <a16:creationId xmlns:a16="http://schemas.microsoft.com/office/drawing/2014/main" id="{FA25DCD8-E3D5-4E9C-AFB2-9AC48EF67630}"/>
                </a:ext>
              </a:extLst>
            </p:cNvPr>
            <p:cNvSpPr/>
            <p:nvPr/>
          </p:nvSpPr>
          <p:spPr>
            <a:xfrm>
              <a:off x="680382" y="1570142"/>
              <a:ext cx="505267" cy="477054"/>
            </a:xfrm>
            <a:prstGeom prst="rect">
              <a:avLst/>
            </a:prstGeom>
          </p:spPr>
          <p:txBody>
            <a:bodyPr wrap="none">
              <a:spAutoFit/>
            </a:bodyPr>
            <a:lstStyle/>
            <a:p>
              <a:r>
                <a:rPr lang="en-US" sz="2500" i="0" dirty="0">
                  <a:solidFill>
                    <a:srgbClr val="8B3012"/>
                  </a:solidFill>
                  <a:ea typeface="ＭＳ Ｐゴシック" pitchFamily="34" charset="-128"/>
                </a:rPr>
                <a:t>✗</a:t>
              </a:r>
              <a:endParaRPr lang="en-US" sz="2500" dirty="0"/>
            </a:p>
          </p:txBody>
        </p:sp>
      </p:grpSp>
      <p:grpSp>
        <p:nvGrpSpPr>
          <p:cNvPr id="73" name="组合 72">
            <a:extLst>
              <a:ext uri="{FF2B5EF4-FFF2-40B4-BE49-F238E27FC236}">
                <a16:creationId xmlns:a16="http://schemas.microsoft.com/office/drawing/2014/main" id="{731132DB-14C7-48CE-9294-36E0CAD46121}"/>
              </a:ext>
            </a:extLst>
          </p:cNvPr>
          <p:cNvGrpSpPr/>
          <p:nvPr/>
        </p:nvGrpSpPr>
        <p:grpSpPr>
          <a:xfrm>
            <a:off x="396580" y="3375519"/>
            <a:ext cx="4200358" cy="603194"/>
            <a:chOff x="371642" y="1570142"/>
            <a:chExt cx="4200358" cy="603194"/>
          </a:xfrm>
        </p:grpSpPr>
        <p:sp>
          <p:nvSpPr>
            <p:cNvPr id="74" name="内容占位符 2">
              <a:extLst>
                <a:ext uri="{FF2B5EF4-FFF2-40B4-BE49-F238E27FC236}">
                  <a16:creationId xmlns:a16="http://schemas.microsoft.com/office/drawing/2014/main" id="{6C3D8BC6-781C-4FA1-BCC7-9DD67F6EA820}"/>
                </a:ext>
              </a:extLst>
            </p:cNvPr>
            <p:cNvSpPr txBox="1">
              <a:spLocks/>
            </p:cNvSpPr>
            <p:nvPr/>
          </p:nvSpPr>
          <p:spPr bwMode="auto">
            <a:xfrm>
              <a:off x="371642" y="1600200"/>
              <a:ext cx="4200358" cy="57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marL="457200" lvl="1" indent="0">
                <a:buNone/>
              </a:pPr>
              <a:r>
                <a:rPr lang="en-US" sz="2000" i="0" kern="0" dirty="0"/>
                <a:t>    Energy management</a:t>
              </a:r>
            </a:p>
          </p:txBody>
        </p:sp>
        <p:sp>
          <p:nvSpPr>
            <p:cNvPr id="75" name="矩形 74">
              <a:extLst>
                <a:ext uri="{FF2B5EF4-FFF2-40B4-BE49-F238E27FC236}">
                  <a16:creationId xmlns:a16="http://schemas.microsoft.com/office/drawing/2014/main" id="{B77D6045-127E-4039-AFA4-FE7FFB0037B8}"/>
                </a:ext>
              </a:extLst>
            </p:cNvPr>
            <p:cNvSpPr/>
            <p:nvPr/>
          </p:nvSpPr>
          <p:spPr>
            <a:xfrm>
              <a:off x="680382" y="1570142"/>
              <a:ext cx="505267" cy="477054"/>
            </a:xfrm>
            <a:prstGeom prst="rect">
              <a:avLst/>
            </a:prstGeom>
          </p:spPr>
          <p:txBody>
            <a:bodyPr wrap="none">
              <a:spAutoFit/>
            </a:bodyPr>
            <a:lstStyle/>
            <a:p>
              <a:r>
                <a:rPr lang="en-US" sz="2500" i="0" dirty="0">
                  <a:solidFill>
                    <a:srgbClr val="8B3012"/>
                  </a:solidFill>
                  <a:ea typeface="ＭＳ Ｐゴシック" pitchFamily="34" charset="-128"/>
                </a:rPr>
                <a:t>✗</a:t>
              </a:r>
              <a:endParaRPr lang="en-US" sz="2500" dirty="0"/>
            </a:p>
          </p:txBody>
        </p:sp>
      </p:grpSp>
      <p:grpSp>
        <p:nvGrpSpPr>
          <p:cNvPr id="76" name="组合 75">
            <a:extLst>
              <a:ext uri="{FF2B5EF4-FFF2-40B4-BE49-F238E27FC236}">
                <a16:creationId xmlns:a16="http://schemas.microsoft.com/office/drawing/2014/main" id="{80A0E8AF-71F8-44C2-BA0F-C8904DCF1C7B}"/>
              </a:ext>
            </a:extLst>
          </p:cNvPr>
          <p:cNvGrpSpPr/>
          <p:nvPr/>
        </p:nvGrpSpPr>
        <p:grpSpPr>
          <a:xfrm>
            <a:off x="396580" y="3801048"/>
            <a:ext cx="4200358" cy="603194"/>
            <a:chOff x="371642" y="1570142"/>
            <a:chExt cx="4200358" cy="603194"/>
          </a:xfrm>
        </p:grpSpPr>
        <p:sp>
          <p:nvSpPr>
            <p:cNvPr id="77" name="内容占位符 2">
              <a:extLst>
                <a:ext uri="{FF2B5EF4-FFF2-40B4-BE49-F238E27FC236}">
                  <a16:creationId xmlns:a16="http://schemas.microsoft.com/office/drawing/2014/main" id="{98E9281C-5C38-40D5-95F7-5D5EC270D291}"/>
                </a:ext>
              </a:extLst>
            </p:cNvPr>
            <p:cNvSpPr txBox="1">
              <a:spLocks/>
            </p:cNvSpPr>
            <p:nvPr/>
          </p:nvSpPr>
          <p:spPr bwMode="auto">
            <a:xfrm>
              <a:off x="371642" y="1600200"/>
              <a:ext cx="4200358" cy="573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0" fontAlgn="base" hangingPunct="0">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0" fontAlgn="base" hangingPunct="0">
                <a:spcBef>
                  <a:spcPct val="20000"/>
                </a:spcBef>
                <a:spcAft>
                  <a:spcPct val="0"/>
                </a:spcAft>
                <a:buClr>
                  <a:schemeClr val="accent5">
                    <a:lumMod val="50000"/>
                  </a:schemeClr>
                </a:buClr>
                <a:buSzPct val="70000"/>
                <a:buFont typeface="Wingdings" pitchFamily="-107" charset="2"/>
                <a:buChar char="v"/>
                <a:defRPr sz="2200">
                  <a:solidFill>
                    <a:schemeClr val="tx1"/>
                  </a:solidFill>
                  <a:latin typeface="+mn-lt"/>
                  <a:ea typeface="ＭＳ Ｐゴシック" pitchFamily="-112" charset="-128"/>
                  <a:cs typeface="Arial"/>
                </a:defRPr>
              </a:lvl3pPr>
              <a:lvl4pPr marL="1600200" indent="-228600" algn="l" rtl="0" eaLnBrk="0" fontAlgn="base" hangingPunct="0">
                <a:spcBef>
                  <a:spcPct val="20000"/>
                </a:spcBef>
                <a:spcAft>
                  <a:spcPct val="0"/>
                </a:spcAft>
                <a:buClr>
                  <a:schemeClr val="accent5">
                    <a:lumMod val="50000"/>
                  </a:schemeClr>
                </a:buClr>
                <a:buSzPct val="90000"/>
                <a:buFont typeface="Wingdings" pitchFamily="-107" charset="2"/>
                <a:buChar char="q"/>
                <a:defRPr sz="2200">
                  <a:solidFill>
                    <a:schemeClr val="tx1"/>
                  </a:solidFill>
                  <a:latin typeface="+mn-lt"/>
                  <a:ea typeface="ＭＳ Ｐゴシック" pitchFamily="-112" charset="-128"/>
                  <a:cs typeface="Arial"/>
                </a:defRPr>
              </a:lvl4pPr>
              <a:lvl5pPr marL="2057400" indent="-228600" algn="l" rtl="0" eaLnBrk="0" fontAlgn="base" hangingPunct="0">
                <a:spcBef>
                  <a:spcPct val="20000"/>
                </a:spcBef>
                <a:spcAft>
                  <a:spcPct val="0"/>
                </a:spcAft>
                <a:buClr>
                  <a:srgbClr val="2A7E54"/>
                </a:buClr>
                <a:buFont typeface="Wingdings" pitchFamily="-107" charset="2"/>
                <a:buChar char="Ø"/>
                <a:defRPr sz="2200">
                  <a:solidFill>
                    <a:schemeClr val="tx1"/>
                  </a:solidFill>
                  <a:latin typeface="+mn-lt"/>
                  <a:ea typeface="ＭＳ Ｐゴシック" pitchFamily="-112" charset="-128"/>
                  <a:cs typeface="Arial"/>
                </a:defRPr>
              </a:lvl5pPr>
              <a:lvl6pPr marL="25146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fontAlgn="base">
                <a:spcBef>
                  <a:spcPct val="20000"/>
                </a:spcBef>
                <a:spcAft>
                  <a:spcPct val="0"/>
                </a:spcAft>
                <a:buClr>
                  <a:srgbClr val="2A7E54"/>
                </a:buClr>
                <a:buFont typeface="Wingdings" pitchFamily="2" charset="2"/>
                <a:buChar char="Ø"/>
                <a:defRPr sz="2000">
                  <a:solidFill>
                    <a:schemeClr val="tx1"/>
                  </a:solidFill>
                  <a:latin typeface="+mn-lt"/>
                </a:defRPr>
              </a:lvl9pPr>
            </a:lstStyle>
            <a:p>
              <a:pPr marL="457200" lvl="1" indent="0">
                <a:buNone/>
              </a:pPr>
              <a:r>
                <a:rPr lang="en-US" sz="2000" i="0" kern="0" dirty="0"/>
                <a:t>    Privacy concern</a:t>
              </a:r>
            </a:p>
          </p:txBody>
        </p:sp>
        <p:sp>
          <p:nvSpPr>
            <p:cNvPr id="78" name="矩形 77">
              <a:extLst>
                <a:ext uri="{FF2B5EF4-FFF2-40B4-BE49-F238E27FC236}">
                  <a16:creationId xmlns:a16="http://schemas.microsoft.com/office/drawing/2014/main" id="{093659FA-F760-4355-AB72-E7690DD9AFAB}"/>
                </a:ext>
              </a:extLst>
            </p:cNvPr>
            <p:cNvSpPr/>
            <p:nvPr/>
          </p:nvSpPr>
          <p:spPr>
            <a:xfrm>
              <a:off x="680382" y="1570142"/>
              <a:ext cx="505267" cy="477054"/>
            </a:xfrm>
            <a:prstGeom prst="rect">
              <a:avLst/>
            </a:prstGeom>
          </p:spPr>
          <p:txBody>
            <a:bodyPr wrap="none">
              <a:spAutoFit/>
            </a:bodyPr>
            <a:lstStyle/>
            <a:p>
              <a:r>
                <a:rPr lang="en-US" sz="2500" i="0" dirty="0">
                  <a:solidFill>
                    <a:srgbClr val="8B3012"/>
                  </a:solidFill>
                  <a:ea typeface="ＭＳ Ｐゴシック" pitchFamily="34" charset="-128"/>
                </a:rPr>
                <a:t>✗</a:t>
              </a:r>
              <a:endParaRPr lang="en-US" sz="2500" dirty="0"/>
            </a:p>
          </p:txBody>
        </p:sp>
      </p:grpSp>
      <p:graphicFrame>
        <p:nvGraphicFramePr>
          <p:cNvPr id="79" name="对象 78">
            <a:extLst>
              <a:ext uri="{FF2B5EF4-FFF2-40B4-BE49-F238E27FC236}">
                <a16:creationId xmlns:a16="http://schemas.microsoft.com/office/drawing/2014/main" id="{BD5D973F-13F9-4EF6-B8B1-21EB41BDE8D7}"/>
              </a:ext>
            </a:extLst>
          </p:cNvPr>
          <p:cNvGraphicFramePr>
            <a:graphicFrameLocks noChangeAspect="1"/>
          </p:cNvGraphicFramePr>
          <p:nvPr>
            <p:extLst>
              <p:ext uri="{D42A27DB-BD31-4B8C-83A1-F6EECF244321}">
                <p14:modId xmlns:p14="http://schemas.microsoft.com/office/powerpoint/2010/main" val="1397601315"/>
              </p:ext>
            </p:extLst>
          </p:nvPr>
        </p:nvGraphicFramePr>
        <p:xfrm>
          <a:off x="2947988" y="2257425"/>
          <a:ext cx="1181100" cy="446088"/>
        </p:xfrm>
        <a:graphic>
          <a:graphicData uri="http://schemas.openxmlformats.org/presentationml/2006/ole">
            <mc:AlternateContent xmlns:mc="http://schemas.openxmlformats.org/markup-compatibility/2006">
              <mc:Choice xmlns:v="urn:schemas-microsoft-com:vml" Requires="v">
                <p:oleObj spid="_x0000_s21622" name="Equation" r:id="rId9" imgW="672840" imgH="253800" progId="Equation.DSMT4">
                  <p:embed/>
                </p:oleObj>
              </mc:Choice>
              <mc:Fallback>
                <p:oleObj name="Equation" r:id="rId9" imgW="672840" imgH="253800" progId="Equation.DSMT4">
                  <p:embed/>
                  <p:pic>
                    <p:nvPicPr>
                      <p:cNvPr id="43" name="对象 42">
                        <a:extLst>
                          <a:ext uri="{FF2B5EF4-FFF2-40B4-BE49-F238E27FC236}">
                            <a16:creationId xmlns:a16="http://schemas.microsoft.com/office/drawing/2014/main" id="{F45C68FC-14E9-4B04-A0A7-DF3A1C2D2B35}"/>
                          </a:ext>
                        </a:extLst>
                      </p:cNvPr>
                      <p:cNvPicPr/>
                      <p:nvPr/>
                    </p:nvPicPr>
                    <p:blipFill>
                      <a:blip r:embed="rId10"/>
                      <a:stretch>
                        <a:fillRect/>
                      </a:stretch>
                    </p:blipFill>
                    <p:spPr>
                      <a:xfrm>
                        <a:off x="2947988" y="2257425"/>
                        <a:ext cx="1181100" cy="446088"/>
                      </a:xfrm>
                      <a:prstGeom prst="rect">
                        <a:avLst/>
                      </a:prstGeom>
                    </p:spPr>
                  </p:pic>
                </p:oleObj>
              </mc:Fallback>
            </mc:AlternateContent>
          </a:graphicData>
        </a:graphic>
      </p:graphicFrame>
      <p:graphicFrame>
        <p:nvGraphicFramePr>
          <p:cNvPr id="80" name="对象 79">
            <a:extLst>
              <a:ext uri="{FF2B5EF4-FFF2-40B4-BE49-F238E27FC236}">
                <a16:creationId xmlns:a16="http://schemas.microsoft.com/office/drawing/2014/main" id="{148076C7-84D6-4531-80FF-546F34B77C2E}"/>
              </a:ext>
            </a:extLst>
          </p:cNvPr>
          <p:cNvGraphicFramePr>
            <a:graphicFrameLocks noChangeAspect="1"/>
          </p:cNvGraphicFramePr>
          <p:nvPr>
            <p:extLst>
              <p:ext uri="{D42A27DB-BD31-4B8C-83A1-F6EECF244321}">
                <p14:modId xmlns:p14="http://schemas.microsoft.com/office/powerpoint/2010/main" val="205364007"/>
              </p:ext>
            </p:extLst>
          </p:nvPr>
        </p:nvGraphicFramePr>
        <p:xfrm>
          <a:off x="3001963" y="1954213"/>
          <a:ext cx="1268412" cy="447675"/>
        </p:xfrm>
        <a:graphic>
          <a:graphicData uri="http://schemas.openxmlformats.org/presentationml/2006/ole">
            <mc:AlternateContent xmlns:mc="http://schemas.openxmlformats.org/markup-compatibility/2006">
              <mc:Choice xmlns:v="urn:schemas-microsoft-com:vml" Requires="v">
                <p:oleObj spid="_x0000_s21623" name="Equation" r:id="rId11" imgW="723600" imgH="253800" progId="Equation.DSMT4">
                  <p:embed/>
                </p:oleObj>
              </mc:Choice>
              <mc:Fallback>
                <p:oleObj name="Equation" r:id="rId11" imgW="723600" imgH="253800" progId="Equation.DSMT4">
                  <p:embed/>
                  <p:pic>
                    <p:nvPicPr>
                      <p:cNvPr id="79" name="对象 78">
                        <a:extLst>
                          <a:ext uri="{FF2B5EF4-FFF2-40B4-BE49-F238E27FC236}">
                            <a16:creationId xmlns:a16="http://schemas.microsoft.com/office/drawing/2014/main" id="{BD5D973F-13F9-4EF6-B8B1-21EB41BDE8D7}"/>
                          </a:ext>
                        </a:extLst>
                      </p:cNvPr>
                      <p:cNvPicPr/>
                      <p:nvPr/>
                    </p:nvPicPr>
                    <p:blipFill>
                      <a:blip r:embed="rId12"/>
                      <a:stretch>
                        <a:fillRect/>
                      </a:stretch>
                    </p:blipFill>
                    <p:spPr>
                      <a:xfrm>
                        <a:off x="3001963" y="1954213"/>
                        <a:ext cx="1268412" cy="447675"/>
                      </a:xfrm>
                      <a:prstGeom prst="rect">
                        <a:avLst/>
                      </a:prstGeom>
                    </p:spPr>
                  </p:pic>
                </p:oleObj>
              </mc:Fallback>
            </mc:AlternateContent>
          </a:graphicData>
        </a:graphic>
      </p:graphicFrame>
      <p:graphicFrame>
        <p:nvGraphicFramePr>
          <p:cNvPr id="81" name="对象 80">
            <a:extLst>
              <a:ext uri="{FF2B5EF4-FFF2-40B4-BE49-F238E27FC236}">
                <a16:creationId xmlns:a16="http://schemas.microsoft.com/office/drawing/2014/main" id="{E6089556-0D50-423B-8E34-5CCDF1151014}"/>
              </a:ext>
            </a:extLst>
          </p:cNvPr>
          <p:cNvGraphicFramePr>
            <a:graphicFrameLocks noChangeAspect="1"/>
          </p:cNvGraphicFramePr>
          <p:nvPr>
            <p:extLst>
              <p:ext uri="{D42A27DB-BD31-4B8C-83A1-F6EECF244321}">
                <p14:modId xmlns:p14="http://schemas.microsoft.com/office/powerpoint/2010/main" val="2387887092"/>
              </p:ext>
            </p:extLst>
          </p:nvPr>
        </p:nvGraphicFramePr>
        <p:xfrm>
          <a:off x="4868516" y="4117674"/>
          <a:ext cx="2292350" cy="447675"/>
        </p:xfrm>
        <a:graphic>
          <a:graphicData uri="http://schemas.openxmlformats.org/presentationml/2006/ole">
            <mc:AlternateContent xmlns:mc="http://schemas.openxmlformats.org/markup-compatibility/2006">
              <mc:Choice xmlns:v="urn:schemas-microsoft-com:vml" Requires="v">
                <p:oleObj spid="_x0000_s21624" name="Equation" r:id="rId13" imgW="1307880" imgH="253800" progId="Equation.DSMT4">
                  <p:embed/>
                </p:oleObj>
              </mc:Choice>
              <mc:Fallback>
                <p:oleObj name="Equation" r:id="rId13" imgW="1307880" imgH="253800" progId="Equation.DSMT4">
                  <p:embed/>
                  <p:pic>
                    <p:nvPicPr>
                      <p:cNvPr id="80" name="对象 79">
                        <a:extLst>
                          <a:ext uri="{FF2B5EF4-FFF2-40B4-BE49-F238E27FC236}">
                            <a16:creationId xmlns:a16="http://schemas.microsoft.com/office/drawing/2014/main" id="{148076C7-84D6-4531-80FF-546F34B77C2E}"/>
                          </a:ext>
                        </a:extLst>
                      </p:cNvPr>
                      <p:cNvPicPr/>
                      <p:nvPr/>
                    </p:nvPicPr>
                    <p:blipFill>
                      <a:blip r:embed="rId14"/>
                      <a:stretch>
                        <a:fillRect/>
                      </a:stretch>
                    </p:blipFill>
                    <p:spPr>
                      <a:xfrm>
                        <a:off x="4868516" y="4117674"/>
                        <a:ext cx="2292350" cy="447675"/>
                      </a:xfrm>
                      <a:prstGeom prst="rect">
                        <a:avLst/>
                      </a:prstGeom>
                    </p:spPr>
                  </p:pic>
                </p:oleObj>
              </mc:Fallback>
            </mc:AlternateContent>
          </a:graphicData>
        </a:graphic>
      </p:graphicFrame>
    </p:spTree>
    <p:extLst>
      <p:ext uri="{BB962C8B-B14F-4D97-AF65-F5344CB8AC3E}">
        <p14:creationId xmlns:p14="http://schemas.microsoft.com/office/powerpoint/2010/main" val="368753660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55639E-F5C8-DBA4-39B3-704B99766E32}"/>
              </a:ext>
            </a:extLst>
          </p:cNvPr>
          <p:cNvSpPr/>
          <p:nvPr/>
        </p:nvSpPr>
        <p:spPr>
          <a:xfrm rot="21374395">
            <a:off x="4137646" y="2967335"/>
            <a:ext cx="3916714" cy="923330"/>
          </a:xfrm>
          <a:prstGeom prst="rect">
            <a:avLst/>
          </a:prstGeom>
          <a:noFill/>
        </p:spPr>
        <p:txBody>
          <a:bodyPr wrap="none" lIns="91440" tIns="45720" rIns="91440" bIns="45720">
            <a:prstTxWarp prst="textWave1">
              <a:avLst/>
            </a:prstTxWarp>
            <a:spAutoFit/>
          </a:bodyPr>
          <a:lstStyle/>
          <a:p>
            <a:pPr algn="ctr"/>
            <a:r>
              <a:rPr lang="en-US" altLang="zh-CN" sz="5400" b="1" cap="none" spc="0">
                <a:ln w="12700">
                  <a:solidFill>
                    <a:srgbClr val="FFFF00"/>
                  </a:solidFill>
                  <a:prstDash val="solid"/>
                </a:ln>
                <a:solidFill>
                  <a:srgbClr val="FFC000"/>
                </a:solidFill>
                <a:effectLst>
                  <a:innerShdw blurRad="63500" dist="50800" dir="2700000">
                    <a:prstClr val="black">
                      <a:alpha val="50000"/>
                    </a:prstClr>
                  </a:innerShdw>
                </a:effectLst>
              </a:rPr>
              <a:t>Thank You!</a:t>
            </a:r>
            <a:endParaRPr lang="zh-CN" altLang="en-US" sz="5400" b="1" cap="none" spc="0">
              <a:ln w="12700">
                <a:solidFill>
                  <a:srgbClr val="FFFF00"/>
                </a:solidFill>
                <a:prstDash val="solid"/>
              </a:ln>
              <a:solidFill>
                <a:srgbClr val="FFC000"/>
              </a:solidFill>
              <a:effectLst>
                <a:innerShdw blurRad="63500" dist="50800" dir="2700000">
                  <a:prstClr val="black">
                    <a:alpha val="50000"/>
                  </a:prstClr>
                </a:innerShdw>
              </a:effectLst>
            </a:endParaRPr>
          </a:p>
        </p:txBody>
      </p:sp>
    </p:spTree>
    <p:extLst>
      <p:ext uri="{BB962C8B-B14F-4D97-AF65-F5344CB8AC3E}">
        <p14:creationId xmlns:p14="http://schemas.microsoft.com/office/powerpoint/2010/main" val="207611440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ADDFD-EBAB-AFC6-A686-9AC76A1B58FF}"/>
              </a:ext>
            </a:extLst>
          </p:cNvPr>
          <p:cNvSpPr>
            <a:spLocks noGrp="1"/>
          </p:cNvSpPr>
          <p:nvPr>
            <p:ph type="title"/>
          </p:nvPr>
        </p:nvSpPr>
        <p:spPr/>
        <p:txBody>
          <a:bodyPr/>
          <a:lstStyle/>
          <a:p>
            <a:r>
              <a:rPr lang="en-US" altLang="zh-CN" sz="3600" i="0" dirty="0">
                <a:latin typeface="Times New Roman" panose="02020603050405020304" pitchFamily="18" charset="0"/>
                <a:cs typeface="Times New Roman" panose="02020603050405020304" pitchFamily="18" charset="0"/>
              </a:rPr>
              <a:t>Prior</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works</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a:t>
            </a:r>
            <a:r>
              <a:rPr lang="zh-CN" altLang="en-US" sz="3600" i="0" dirty="0">
                <a:latin typeface="Times New Roman" panose="02020603050405020304" pitchFamily="18" charset="0"/>
                <a:cs typeface="Times New Roman" panose="02020603050405020304" pitchFamily="18" charset="0"/>
              </a:rPr>
              <a:t> </a:t>
            </a:r>
            <a:r>
              <a:rPr lang="en-US" altLang="zh-CN" sz="3600" i="0" dirty="0">
                <a:latin typeface="Times New Roman" panose="02020603050405020304" pitchFamily="18" charset="0"/>
                <a:cs typeface="Times New Roman" panose="02020603050405020304" pitchFamily="18" charset="0"/>
              </a:rPr>
              <a:t>Non-</a:t>
            </a:r>
            <a:r>
              <a:rPr lang="en-US" altLang="zh-CN" sz="3600" i="0" dirty="0" err="1">
                <a:latin typeface="Times New Roman" panose="02020603050405020304" pitchFamily="18" charset="0"/>
                <a:cs typeface="Times New Roman" panose="02020603050405020304" pitchFamily="18" charset="0"/>
              </a:rPr>
              <a:t>i.i.d</a:t>
            </a:r>
            <a:r>
              <a:rPr lang="en-US" altLang="zh-CN" sz="3600" i="0" dirty="0">
                <a:latin typeface="Times New Roman" panose="02020603050405020304" pitchFamily="18" charset="0"/>
                <a:cs typeface="Times New Roman" panose="02020603050405020304" pitchFamily="18" charset="0"/>
              </a:rPr>
              <a:t> Issue</a:t>
            </a:r>
            <a:endParaRPr lang="zh-CN" altLang="en-US" dirty="0"/>
          </a:p>
        </p:txBody>
      </p:sp>
      <p:sp>
        <p:nvSpPr>
          <p:cNvPr id="3" name="内容占位符 2">
            <a:extLst>
              <a:ext uri="{FF2B5EF4-FFF2-40B4-BE49-F238E27FC236}">
                <a16:creationId xmlns:a16="http://schemas.microsoft.com/office/drawing/2014/main" id="{E2839A5E-ED03-B298-0795-404D906A07AF}"/>
              </a:ext>
            </a:extLst>
          </p:cNvPr>
          <p:cNvSpPr>
            <a:spLocks noGrp="1"/>
          </p:cNvSpPr>
          <p:nvPr>
            <p:ph idx="1"/>
          </p:nvPr>
        </p:nvSpPr>
        <p:spPr>
          <a:xfrm>
            <a:off x="406400" y="1330457"/>
            <a:ext cx="5920828" cy="3886200"/>
          </a:xfrm>
        </p:spPr>
        <p:txBody>
          <a:bodyPr/>
          <a:lstStyle/>
          <a:p>
            <a:r>
              <a:rPr lang="en-US" altLang="zh-CN" dirty="0"/>
              <a:t>Non-</a:t>
            </a:r>
            <a:r>
              <a:rPr lang="en-US" altLang="zh-CN" dirty="0" err="1"/>
              <a:t>i.i.d</a:t>
            </a:r>
            <a:r>
              <a:rPr lang="en-US" altLang="zh-CN" dirty="0"/>
              <a:t>. definition on ML</a:t>
            </a:r>
            <a:r>
              <a:rPr lang="zh-CN" altLang="en-US" dirty="0"/>
              <a:t>（</a:t>
            </a:r>
            <a:r>
              <a:rPr lang="en-US" altLang="zh-CN" dirty="0"/>
              <a:t>Dataset shift</a:t>
            </a:r>
            <a:r>
              <a:rPr lang="zh-CN" altLang="en-US" dirty="0"/>
              <a:t>）</a:t>
            </a:r>
            <a:endParaRPr lang="en-US" altLang="zh-CN" dirty="0"/>
          </a:p>
          <a:p>
            <a:pPr lvl="1"/>
            <a:r>
              <a:rPr lang="en-US" altLang="zh-CN" dirty="0"/>
              <a:t>Learning target of classification:</a:t>
            </a:r>
          </a:p>
          <a:p>
            <a:pPr lvl="1"/>
            <a:endParaRPr lang="en-US" altLang="zh-CN" dirty="0"/>
          </a:p>
          <a:p>
            <a:pPr lvl="1"/>
            <a:endParaRPr lang="en-US" altLang="zh-CN" dirty="0"/>
          </a:p>
          <a:p>
            <a:pPr lvl="1"/>
            <a:endParaRPr lang="en-US" altLang="zh-CN" dirty="0"/>
          </a:p>
          <a:p>
            <a:pPr lvl="1"/>
            <a:endParaRPr lang="en-US" altLang="zh-CN" dirty="0"/>
          </a:p>
          <a:p>
            <a:pPr lvl="1"/>
            <a:r>
              <a:rPr lang="en-US" altLang="zh-CN" dirty="0"/>
              <a:t>Covariate shift</a:t>
            </a:r>
          </a:p>
          <a:p>
            <a:pPr lvl="1"/>
            <a:endParaRPr lang="en-US" altLang="zh-CN" dirty="0"/>
          </a:p>
          <a:p>
            <a:pPr lvl="1"/>
            <a:r>
              <a:rPr lang="en-US" altLang="zh-CN" dirty="0"/>
              <a:t>Prior probability shift</a:t>
            </a:r>
          </a:p>
          <a:p>
            <a:pPr lvl="1"/>
            <a:endParaRPr lang="en-US" altLang="zh-CN" dirty="0"/>
          </a:p>
          <a:p>
            <a:pPr lvl="1"/>
            <a:r>
              <a:rPr lang="en-US" altLang="zh-CN" dirty="0"/>
              <a:t>Concept shift</a:t>
            </a:r>
          </a:p>
          <a:p>
            <a:pPr marL="914400" lvl="2" indent="0">
              <a:buNone/>
            </a:pPr>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p:txBody>
      </p:sp>
      <p:sp>
        <p:nvSpPr>
          <p:cNvPr id="4" name="Slide Number Placeholder 3">
            <a:extLst>
              <a:ext uri="{FF2B5EF4-FFF2-40B4-BE49-F238E27FC236}">
                <a16:creationId xmlns:a16="http://schemas.microsoft.com/office/drawing/2014/main" id="{D37C408B-3826-CBE5-E818-43E29F5C7B93}"/>
              </a:ext>
            </a:extLst>
          </p:cNvPr>
          <p:cNvSpPr>
            <a:spLocks noGrp="1"/>
          </p:cNvSpPr>
          <p:nvPr>
            <p:ph type="sldNum" sz="quarter" idx="11"/>
          </p:nvPr>
        </p:nvSpPr>
        <p:spPr/>
        <p:txBody>
          <a:bodyPr/>
          <a:lstStyle/>
          <a:p>
            <a:fld id="{B2B05758-BB4F-4559-81AD-225F352C8527}" type="slidenum">
              <a:rPr lang="zh-CN" altLang="en-US" smtClean="0"/>
              <a:t>32</a:t>
            </a:fld>
            <a:endParaRPr lang="zh-CN" altLang="en-US"/>
          </a:p>
        </p:txBody>
      </p:sp>
      <p:sp>
        <p:nvSpPr>
          <p:cNvPr id="21" name="文本框 20">
            <a:extLst>
              <a:ext uri="{FF2B5EF4-FFF2-40B4-BE49-F238E27FC236}">
                <a16:creationId xmlns:a16="http://schemas.microsoft.com/office/drawing/2014/main" id="{B08BFEDD-1428-49FD-A5DC-87F75271FC2D}"/>
              </a:ext>
            </a:extLst>
          </p:cNvPr>
          <p:cNvSpPr txBox="1"/>
          <p:nvPr/>
        </p:nvSpPr>
        <p:spPr>
          <a:xfrm>
            <a:off x="198145" y="6201247"/>
            <a:ext cx="11181055" cy="230832"/>
          </a:xfrm>
          <a:prstGeom prst="rect">
            <a:avLst/>
          </a:prstGeom>
          <a:noFill/>
        </p:spPr>
        <p:txBody>
          <a:bodyPr wrap="square" rtlCol="0">
            <a:spAutoFit/>
          </a:bodyPr>
          <a:lstStyle/>
          <a:p>
            <a:r>
              <a:rPr lang="en-US" altLang="zh-CN" sz="900" i="0" dirty="0">
                <a:latin typeface="+mn-lt"/>
                <a:ea typeface="宋体" panose="02010600030101010101" pitchFamily="2" charset="-122"/>
              </a:rPr>
              <a:t>[1]</a:t>
            </a:r>
            <a:r>
              <a:rPr lang="en-US" altLang="zh-CN" sz="900" b="0" i="0" dirty="0">
                <a:solidFill>
                  <a:srgbClr val="222222"/>
                </a:solidFill>
                <a:effectLst/>
                <a:latin typeface="Arial" panose="020B0604020202020204" pitchFamily="34" charset="0"/>
              </a:rPr>
              <a:t> </a:t>
            </a:r>
            <a:r>
              <a:rPr lang="en-US" altLang="zh-CN" sz="900" b="0" i="0" dirty="0" err="1">
                <a:solidFill>
                  <a:srgbClr val="222222"/>
                </a:solidFill>
                <a:effectLst/>
                <a:latin typeface="Arial" panose="020B0604020202020204" pitchFamily="34" charset="0"/>
              </a:rPr>
              <a:t>Kairouz</a:t>
            </a:r>
            <a:r>
              <a:rPr lang="en-US" altLang="zh-CN" sz="900" b="0" i="0" dirty="0">
                <a:solidFill>
                  <a:srgbClr val="222222"/>
                </a:solidFill>
                <a:effectLst/>
                <a:latin typeface="Arial" panose="020B0604020202020204" pitchFamily="34" charset="0"/>
              </a:rPr>
              <a:t> P, McMahan H B, Avent B, et al. Advances and open problems in federated learning[J]. Foundations and trends® in machine learning, 2021, 14(1–2): 1-210.</a:t>
            </a:r>
            <a:endParaRPr lang="zh-CN" altLang="en-US" sz="900" i="0" dirty="0">
              <a:latin typeface="+mn-lt"/>
              <a:ea typeface="宋体" panose="02010600030101010101" pitchFamily="2" charset="-122"/>
            </a:endParaRPr>
          </a:p>
        </p:txBody>
      </p:sp>
      <p:sp>
        <p:nvSpPr>
          <p:cNvPr id="6" name="内容占位符 2">
            <a:extLst>
              <a:ext uri="{FF2B5EF4-FFF2-40B4-BE49-F238E27FC236}">
                <a16:creationId xmlns:a16="http://schemas.microsoft.com/office/drawing/2014/main" id="{71B49995-2116-4FD5-BC4C-BF2AB6AD1D72}"/>
              </a:ext>
            </a:extLst>
          </p:cNvPr>
          <p:cNvSpPr txBox="1">
            <a:spLocks/>
          </p:cNvSpPr>
          <p:nvPr/>
        </p:nvSpPr>
        <p:spPr bwMode="auto">
          <a:xfrm>
            <a:off x="6096000" y="1346437"/>
            <a:ext cx="6663559" cy="47550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0000CC"/>
              </a:buClr>
              <a:buSzPct val="85000"/>
              <a:buFont typeface="Wingdings" charset="2"/>
              <a:buChar char="q"/>
              <a:defRPr sz="2400">
                <a:solidFill>
                  <a:srgbClr val="0000DA"/>
                </a:solidFill>
                <a:latin typeface="+mn-lt"/>
                <a:ea typeface="ＭＳ Ｐゴシック" pitchFamily="-112" charset="-128"/>
                <a:cs typeface="Arial"/>
              </a:defRPr>
            </a:lvl1pPr>
            <a:lvl2pPr marL="742950" indent="-285750" algn="l" rtl="0" eaLnBrk="1" fontAlgn="base" hangingPunct="1">
              <a:spcBef>
                <a:spcPct val="20000"/>
              </a:spcBef>
              <a:spcAft>
                <a:spcPct val="0"/>
              </a:spcAft>
              <a:buClr>
                <a:schemeClr val="accent5">
                  <a:lumMod val="50000"/>
                </a:schemeClr>
              </a:buClr>
              <a:buSzPct val="85000"/>
              <a:buFont typeface="Wingdings" charset="2"/>
              <a:buChar char="Ø"/>
              <a:defRPr sz="2200">
                <a:solidFill>
                  <a:schemeClr val="tx1"/>
                </a:solidFill>
                <a:latin typeface="+mn-lt"/>
                <a:ea typeface="ＭＳ Ｐゴシック" pitchFamily="-112" charset="-128"/>
                <a:cs typeface="Arial"/>
              </a:defRPr>
            </a:lvl2pPr>
            <a:lvl3pPr marL="1143000" indent="-228600" algn="l" rtl="0" eaLnBrk="1" fontAlgn="base" hangingPunct="1">
              <a:spcBef>
                <a:spcPct val="20000"/>
              </a:spcBef>
              <a:spcAft>
                <a:spcPct val="0"/>
              </a:spcAft>
              <a:buClr>
                <a:schemeClr val="accent5">
                  <a:lumMod val="50000"/>
                </a:schemeClr>
              </a:buClr>
              <a:buSzPct val="70000"/>
              <a:buFont typeface="Wingdings" pitchFamily="-107" charset="2"/>
              <a:buChar char="v"/>
              <a:defRPr sz="2000">
                <a:solidFill>
                  <a:schemeClr val="tx1"/>
                </a:solidFill>
                <a:latin typeface="+mn-lt"/>
                <a:ea typeface="ＭＳ Ｐゴシック" pitchFamily="-112" charset="-128"/>
                <a:cs typeface="Arial"/>
              </a:defRPr>
            </a:lvl3pPr>
            <a:lvl4pPr marL="1600200" indent="-228600" algn="l" rtl="0" eaLnBrk="1" fontAlgn="base" hangingPunct="1">
              <a:spcBef>
                <a:spcPct val="20000"/>
              </a:spcBef>
              <a:spcAft>
                <a:spcPct val="0"/>
              </a:spcAft>
              <a:buClr>
                <a:schemeClr val="accent5">
                  <a:lumMod val="50000"/>
                </a:schemeClr>
              </a:buClr>
              <a:buSzPct val="90000"/>
              <a:buFont typeface="Wingdings" pitchFamily="-107" charset="2"/>
              <a:buChar char="q"/>
              <a:defRPr sz="2000">
                <a:solidFill>
                  <a:schemeClr val="tx1"/>
                </a:solidFill>
                <a:latin typeface="+mn-lt"/>
                <a:ea typeface="ＭＳ Ｐゴシック" pitchFamily="-112" charset="-128"/>
                <a:cs typeface="Arial"/>
              </a:defRPr>
            </a:lvl4pPr>
            <a:lvl5pPr marL="2057400" indent="-228600" algn="l" rtl="0" eaLnBrk="1" fontAlgn="base" hangingPunct="1">
              <a:spcBef>
                <a:spcPct val="20000"/>
              </a:spcBef>
              <a:spcAft>
                <a:spcPct val="0"/>
              </a:spcAft>
              <a:buClr>
                <a:srgbClr val="2A7E54"/>
              </a:buClr>
              <a:buFont typeface="Wingdings" pitchFamily="-107" charset="2"/>
              <a:buChar char="Ø"/>
              <a:defRPr sz="2000">
                <a:solidFill>
                  <a:schemeClr val="tx1"/>
                </a:solidFill>
                <a:latin typeface="+mn-lt"/>
                <a:ea typeface="ＭＳ Ｐゴシック" pitchFamily="-112" charset="-128"/>
                <a:cs typeface="Arial"/>
              </a:defRPr>
            </a:lvl5pPr>
            <a:lvl6pPr marL="25146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6pPr>
            <a:lvl7pPr marL="29718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7pPr>
            <a:lvl8pPr marL="34290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8pPr>
            <a:lvl9pPr marL="3886200" indent="-228600" algn="l" rtl="0" eaLnBrk="1" fontAlgn="base" hangingPunct="1">
              <a:spcBef>
                <a:spcPct val="20000"/>
              </a:spcBef>
              <a:spcAft>
                <a:spcPct val="0"/>
              </a:spcAft>
              <a:buClr>
                <a:srgbClr val="2A7E54"/>
              </a:buClr>
              <a:buFont typeface="Wingdings" pitchFamily="2" charset="2"/>
              <a:buChar char="Ø"/>
              <a:defRPr sz="2000">
                <a:solidFill>
                  <a:schemeClr val="tx1"/>
                </a:solidFill>
                <a:latin typeface="+mn-lt"/>
              </a:defRPr>
            </a:lvl9pPr>
          </a:lstStyle>
          <a:p>
            <a:r>
              <a:rPr lang="en-US" altLang="zh-CN" i="0" kern="0" dirty="0"/>
              <a:t>Non-</a:t>
            </a:r>
            <a:r>
              <a:rPr lang="en-US" altLang="zh-CN" i="0" kern="0" dirty="0" err="1"/>
              <a:t>i.i.d</a:t>
            </a:r>
            <a:r>
              <a:rPr lang="en-US" altLang="zh-CN" i="0" kern="0" dirty="0"/>
              <a:t>. definition on FL </a:t>
            </a:r>
            <a:r>
              <a:rPr lang="en-US" altLang="zh-CN" i="0" baseline="30000" dirty="0">
                <a:latin typeface="Times New Roman" panose="02020603050405020304" pitchFamily="18" charset="0"/>
                <a:cs typeface="Times New Roman" panose="02020603050405020304" pitchFamily="18" charset="0"/>
              </a:rPr>
              <a:t>[1]</a:t>
            </a:r>
            <a:endParaRPr lang="en-US" altLang="zh-CN" i="0" kern="0" dirty="0"/>
          </a:p>
          <a:p>
            <a:pPr lvl="1"/>
            <a:r>
              <a:rPr lang="en-US" altLang="zh-CN" i="0" kern="0" dirty="0"/>
              <a:t>Covariate shift (feature distribution skew)</a:t>
            </a:r>
          </a:p>
          <a:p>
            <a:pPr lvl="1"/>
            <a:endParaRPr lang="en-US" altLang="zh-CN" i="0" kern="0" dirty="0"/>
          </a:p>
          <a:p>
            <a:pPr lvl="1"/>
            <a:r>
              <a:rPr lang="en-US" altLang="zh-CN" i="0" kern="0" dirty="0"/>
              <a:t>Prior probability shift (label distribution skew)</a:t>
            </a:r>
          </a:p>
          <a:p>
            <a:pPr lvl="1"/>
            <a:endParaRPr lang="en-US" altLang="zh-CN" i="0" kern="0" dirty="0"/>
          </a:p>
          <a:p>
            <a:pPr lvl="1"/>
            <a:r>
              <a:rPr lang="en-US" altLang="zh-CN" i="0" kern="0" dirty="0"/>
              <a:t>Concept shift I (same label, different features)</a:t>
            </a:r>
          </a:p>
          <a:p>
            <a:pPr lvl="1"/>
            <a:endParaRPr lang="en-US" altLang="zh-CN" i="0" kern="0" dirty="0"/>
          </a:p>
          <a:p>
            <a:pPr lvl="1"/>
            <a:r>
              <a:rPr lang="en-US" altLang="zh-CN" i="0" kern="0" dirty="0"/>
              <a:t>Concept shift II (same feature, different labels)</a:t>
            </a:r>
          </a:p>
          <a:p>
            <a:pPr lvl="1"/>
            <a:endParaRPr lang="en-US" altLang="zh-CN" i="0" kern="0" dirty="0"/>
          </a:p>
          <a:p>
            <a:pPr lvl="1"/>
            <a:r>
              <a:rPr lang="en-US" altLang="zh-CN" i="0" kern="0" dirty="0"/>
              <a:t>Quantity skew</a:t>
            </a:r>
          </a:p>
          <a:p>
            <a:pPr marL="914400" lvl="2" indent="0">
              <a:buFont typeface="Wingdings" pitchFamily="-107" charset="2"/>
              <a:buNone/>
            </a:pPr>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a:p>
            <a:pPr lvl="2"/>
            <a:endParaRPr lang="en-US" altLang="zh-CN" i="0" kern="0" dirty="0"/>
          </a:p>
        </p:txBody>
      </p:sp>
      <p:graphicFrame>
        <p:nvGraphicFramePr>
          <p:cNvPr id="8" name="对象 7">
            <a:extLst>
              <a:ext uri="{FF2B5EF4-FFF2-40B4-BE49-F238E27FC236}">
                <a16:creationId xmlns:a16="http://schemas.microsoft.com/office/drawing/2014/main" id="{CC7FB8E6-CCC3-47E1-8D1E-18F8BF9040EB}"/>
              </a:ext>
            </a:extLst>
          </p:cNvPr>
          <p:cNvGraphicFramePr>
            <a:graphicFrameLocks noChangeAspect="1"/>
          </p:cNvGraphicFramePr>
          <p:nvPr/>
        </p:nvGraphicFramePr>
        <p:xfrm>
          <a:off x="1282700" y="4103793"/>
          <a:ext cx="4349750" cy="485775"/>
        </p:xfrm>
        <a:graphic>
          <a:graphicData uri="http://schemas.openxmlformats.org/presentationml/2006/ole">
            <mc:AlternateContent xmlns:mc="http://schemas.openxmlformats.org/markup-compatibility/2006">
              <mc:Choice xmlns:v="urn:schemas-microsoft-com:vml" Requires="v">
                <p:oleObj spid="_x0000_s36887" name="Equation" r:id="rId4" imgW="2501640" imgH="279360" progId="Equation.DSMT4">
                  <p:embed/>
                </p:oleObj>
              </mc:Choice>
              <mc:Fallback>
                <p:oleObj name="Equation" r:id="rId4" imgW="2501640" imgH="279360" progId="Equation.DSMT4">
                  <p:embed/>
                  <p:pic>
                    <p:nvPicPr>
                      <p:cNvPr id="8" name="对象 7">
                        <a:extLst>
                          <a:ext uri="{FF2B5EF4-FFF2-40B4-BE49-F238E27FC236}">
                            <a16:creationId xmlns:a16="http://schemas.microsoft.com/office/drawing/2014/main" id="{CC7FB8E6-CCC3-47E1-8D1E-18F8BF9040EB}"/>
                          </a:ext>
                        </a:extLst>
                      </p:cNvPr>
                      <p:cNvPicPr/>
                      <p:nvPr/>
                    </p:nvPicPr>
                    <p:blipFill>
                      <a:blip r:embed="rId5"/>
                      <a:stretch>
                        <a:fillRect/>
                      </a:stretch>
                    </p:blipFill>
                    <p:spPr>
                      <a:xfrm>
                        <a:off x="1282700" y="4103793"/>
                        <a:ext cx="4349750" cy="4857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4A12177-2F2A-42C7-A7A8-8F68E32BD213}"/>
              </a:ext>
            </a:extLst>
          </p:cNvPr>
          <p:cNvGraphicFramePr>
            <a:graphicFrameLocks noChangeAspect="1"/>
          </p:cNvGraphicFramePr>
          <p:nvPr/>
        </p:nvGraphicFramePr>
        <p:xfrm>
          <a:off x="1150938" y="4853313"/>
          <a:ext cx="4371975" cy="485775"/>
        </p:xfrm>
        <a:graphic>
          <a:graphicData uri="http://schemas.openxmlformats.org/presentationml/2006/ole">
            <mc:AlternateContent xmlns:mc="http://schemas.openxmlformats.org/markup-compatibility/2006">
              <mc:Choice xmlns:v="urn:schemas-microsoft-com:vml" Requires="v">
                <p:oleObj spid="_x0000_s36888" name="Equation" r:id="rId6" imgW="2514600" imgH="279360" progId="Equation.DSMT4">
                  <p:embed/>
                </p:oleObj>
              </mc:Choice>
              <mc:Fallback>
                <p:oleObj name="Equation" r:id="rId6" imgW="2514600" imgH="279360" progId="Equation.DSMT4">
                  <p:embed/>
                  <p:pic>
                    <p:nvPicPr>
                      <p:cNvPr id="9" name="对象 8">
                        <a:extLst>
                          <a:ext uri="{FF2B5EF4-FFF2-40B4-BE49-F238E27FC236}">
                            <a16:creationId xmlns:a16="http://schemas.microsoft.com/office/drawing/2014/main" id="{94A12177-2F2A-42C7-A7A8-8F68E32BD213}"/>
                          </a:ext>
                        </a:extLst>
                      </p:cNvPr>
                      <p:cNvPicPr/>
                      <p:nvPr/>
                    </p:nvPicPr>
                    <p:blipFill>
                      <a:blip r:embed="rId7"/>
                      <a:stretch>
                        <a:fillRect/>
                      </a:stretch>
                    </p:blipFill>
                    <p:spPr>
                      <a:xfrm>
                        <a:off x="1150938" y="4853313"/>
                        <a:ext cx="4371975" cy="4857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60A529F-7EFC-4F8E-89A6-8FD893027550}"/>
              </a:ext>
            </a:extLst>
          </p:cNvPr>
          <p:cNvGraphicFramePr>
            <a:graphicFrameLocks noChangeAspect="1"/>
          </p:cNvGraphicFramePr>
          <p:nvPr/>
        </p:nvGraphicFramePr>
        <p:xfrm>
          <a:off x="1150938" y="5759047"/>
          <a:ext cx="4351338" cy="485775"/>
        </p:xfrm>
        <a:graphic>
          <a:graphicData uri="http://schemas.openxmlformats.org/presentationml/2006/ole">
            <mc:AlternateContent xmlns:mc="http://schemas.openxmlformats.org/markup-compatibility/2006">
              <mc:Choice xmlns:v="urn:schemas-microsoft-com:vml" Requires="v">
                <p:oleObj spid="_x0000_s36889" name="Equation" r:id="rId8" imgW="2501640" imgH="279360" progId="Equation.DSMT4">
                  <p:embed/>
                </p:oleObj>
              </mc:Choice>
              <mc:Fallback>
                <p:oleObj name="Equation" r:id="rId8" imgW="2501640" imgH="279360" progId="Equation.DSMT4">
                  <p:embed/>
                  <p:pic>
                    <p:nvPicPr>
                      <p:cNvPr id="10" name="对象 9">
                        <a:extLst>
                          <a:ext uri="{FF2B5EF4-FFF2-40B4-BE49-F238E27FC236}">
                            <a16:creationId xmlns:a16="http://schemas.microsoft.com/office/drawing/2014/main" id="{D60A529F-7EFC-4F8E-89A6-8FD893027550}"/>
                          </a:ext>
                        </a:extLst>
                      </p:cNvPr>
                      <p:cNvPicPr/>
                      <p:nvPr/>
                    </p:nvPicPr>
                    <p:blipFill>
                      <a:blip r:embed="rId9"/>
                      <a:stretch>
                        <a:fillRect/>
                      </a:stretch>
                    </p:blipFill>
                    <p:spPr>
                      <a:xfrm>
                        <a:off x="1150938" y="5759047"/>
                        <a:ext cx="4351338" cy="48577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F103A027-6D8A-404E-883C-4068B9A02AFC}"/>
              </a:ext>
            </a:extLst>
          </p:cNvPr>
          <p:cNvGraphicFramePr>
            <a:graphicFrameLocks noChangeAspect="1"/>
          </p:cNvGraphicFramePr>
          <p:nvPr/>
        </p:nvGraphicFramePr>
        <p:xfrm>
          <a:off x="8424863" y="5356225"/>
          <a:ext cx="1082675" cy="485775"/>
        </p:xfrm>
        <a:graphic>
          <a:graphicData uri="http://schemas.openxmlformats.org/presentationml/2006/ole">
            <mc:AlternateContent xmlns:mc="http://schemas.openxmlformats.org/markup-compatibility/2006">
              <mc:Choice xmlns:v="urn:schemas-microsoft-com:vml" Requires="v">
                <p:oleObj spid="_x0000_s36890" name="Equation" r:id="rId10" imgW="622080" imgH="279360" progId="Equation.DSMT4">
                  <p:embed/>
                </p:oleObj>
              </mc:Choice>
              <mc:Fallback>
                <p:oleObj name="Equation" r:id="rId10" imgW="622080" imgH="279360" progId="Equation.DSMT4">
                  <p:embed/>
                  <p:pic>
                    <p:nvPicPr>
                      <p:cNvPr id="11" name="对象 10">
                        <a:extLst>
                          <a:ext uri="{FF2B5EF4-FFF2-40B4-BE49-F238E27FC236}">
                            <a16:creationId xmlns:a16="http://schemas.microsoft.com/office/drawing/2014/main" id="{F103A027-6D8A-404E-883C-4068B9A02AFC}"/>
                          </a:ext>
                        </a:extLst>
                      </p:cNvPr>
                      <p:cNvPicPr/>
                      <p:nvPr/>
                    </p:nvPicPr>
                    <p:blipFill>
                      <a:blip r:embed="rId11"/>
                      <a:stretch>
                        <a:fillRect/>
                      </a:stretch>
                    </p:blipFill>
                    <p:spPr>
                      <a:xfrm>
                        <a:off x="8424863" y="5356225"/>
                        <a:ext cx="1082675" cy="48577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1038D7FB-E428-4001-B9F0-FF72E1B5AF1F}"/>
              </a:ext>
            </a:extLst>
          </p:cNvPr>
          <p:cNvGraphicFramePr>
            <a:graphicFrameLocks noChangeAspect="1"/>
          </p:cNvGraphicFramePr>
          <p:nvPr/>
        </p:nvGraphicFramePr>
        <p:xfrm>
          <a:off x="7662863" y="3760788"/>
          <a:ext cx="3600450" cy="485775"/>
        </p:xfrm>
        <a:graphic>
          <a:graphicData uri="http://schemas.openxmlformats.org/presentationml/2006/ole">
            <mc:AlternateContent xmlns:mc="http://schemas.openxmlformats.org/markup-compatibility/2006">
              <mc:Choice xmlns:v="urn:schemas-microsoft-com:vml" Requires="v">
                <p:oleObj spid="_x0000_s36891" name="Equation" r:id="rId12" imgW="2070000" imgH="279360" progId="Equation.DSMT4">
                  <p:embed/>
                </p:oleObj>
              </mc:Choice>
              <mc:Fallback>
                <p:oleObj name="Equation" r:id="rId12" imgW="2070000" imgH="279360" progId="Equation.DSMT4">
                  <p:embed/>
                  <p:pic>
                    <p:nvPicPr>
                      <p:cNvPr id="12" name="对象 11">
                        <a:extLst>
                          <a:ext uri="{FF2B5EF4-FFF2-40B4-BE49-F238E27FC236}">
                            <a16:creationId xmlns:a16="http://schemas.microsoft.com/office/drawing/2014/main" id="{1038D7FB-E428-4001-B9F0-FF72E1B5AF1F}"/>
                          </a:ext>
                        </a:extLst>
                      </p:cNvPr>
                      <p:cNvPicPr/>
                      <p:nvPr/>
                    </p:nvPicPr>
                    <p:blipFill>
                      <a:blip r:embed="rId13"/>
                      <a:stretch>
                        <a:fillRect/>
                      </a:stretch>
                    </p:blipFill>
                    <p:spPr>
                      <a:xfrm>
                        <a:off x="7662863" y="3760788"/>
                        <a:ext cx="3600450" cy="48577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833107C-7DB4-4D42-AD81-7444250FBE5D}"/>
              </a:ext>
            </a:extLst>
          </p:cNvPr>
          <p:cNvGraphicFramePr>
            <a:graphicFrameLocks noChangeAspect="1"/>
          </p:cNvGraphicFramePr>
          <p:nvPr/>
        </p:nvGraphicFramePr>
        <p:xfrm>
          <a:off x="7673975" y="4539045"/>
          <a:ext cx="3556000" cy="485775"/>
        </p:xfrm>
        <a:graphic>
          <a:graphicData uri="http://schemas.openxmlformats.org/presentationml/2006/ole">
            <mc:AlternateContent xmlns:mc="http://schemas.openxmlformats.org/markup-compatibility/2006">
              <mc:Choice xmlns:v="urn:schemas-microsoft-com:vml" Requires="v">
                <p:oleObj spid="_x0000_s36892" name="Equation" r:id="rId14" imgW="2044440" imgH="279360" progId="Equation.DSMT4">
                  <p:embed/>
                </p:oleObj>
              </mc:Choice>
              <mc:Fallback>
                <p:oleObj name="Equation" r:id="rId14" imgW="2044440" imgH="279360" progId="Equation.DSMT4">
                  <p:embed/>
                  <p:pic>
                    <p:nvPicPr>
                      <p:cNvPr id="13" name="对象 12">
                        <a:extLst>
                          <a:ext uri="{FF2B5EF4-FFF2-40B4-BE49-F238E27FC236}">
                            <a16:creationId xmlns:a16="http://schemas.microsoft.com/office/drawing/2014/main" id="{D833107C-7DB4-4D42-AD81-7444250FBE5D}"/>
                          </a:ext>
                        </a:extLst>
                      </p:cNvPr>
                      <p:cNvPicPr/>
                      <p:nvPr/>
                    </p:nvPicPr>
                    <p:blipFill>
                      <a:blip r:embed="rId15"/>
                      <a:stretch>
                        <a:fillRect/>
                      </a:stretch>
                    </p:blipFill>
                    <p:spPr>
                      <a:xfrm>
                        <a:off x="7673975" y="4539045"/>
                        <a:ext cx="3556000" cy="485775"/>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B9D29597-DD2E-4DC5-946B-C62E00162E88}"/>
              </a:ext>
            </a:extLst>
          </p:cNvPr>
          <p:cNvGraphicFramePr>
            <a:graphicFrameLocks noChangeAspect="1"/>
          </p:cNvGraphicFramePr>
          <p:nvPr/>
        </p:nvGraphicFramePr>
        <p:xfrm>
          <a:off x="1304925" y="2125663"/>
          <a:ext cx="4283075" cy="1746250"/>
        </p:xfrm>
        <a:graphic>
          <a:graphicData uri="http://schemas.openxmlformats.org/presentationml/2006/ole">
            <mc:AlternateContent xmlns:mc="http://schemas.openxmlformats.org/markup-compatibility/2006">
              <mc:Choice xmlns:v="urn:schemas-microsoft-com:vml" Requires="v">
                <p:oleObj spid="_x0000_s36893" name="Equation" r:id="rId16" imgW="2463480" imgH="1002960" progId="Equation.DSMT4">
                  <p:embed/>
                </p:oleObj>
              </mc:Choice>
              <mc:Fallback>
                <p:oleObj name="Equation" r:id="rId16" imgW="2463480" imgH="1002960" progId="Equation.DSMT4">
                  <p:embed/>
                  <p:pic>
                    <p:nvPicPr>
                      <p:cNvPr id="15" name="对象 14">
                        <a:extLst>
                          <a:ext uri="{FF2B5EF4-FFF2-40B4-BE49-F238E27FC236}">
                            <a16:creationId xmlns:a16="http://schemas.microsoft.com/office/drawing/2014/main" id="{B9D29597-DD2E-4DC5-946B-C62E00162E88}"/>
                          </a:ext>
                        </a:extLst>
                      </p:cNvPr>
                      <p:cNvPicPr/>
                      <p:nvPr/>
                    </p:nvPicPr>
                    <p:blipFill>
                      <a:blip r:embed="rId17"/>
                      <a:stretch>
                        <a:fillRect/>
                      </a:stretch>
                    </p:blipFill>
                    <p:spPr>
                      <a:xfrm>
                        <a:off x="1304925" y="2125663"/>
                        <a:ext cx="4283075" cy="1746250"/>
                      </a:xfrm>
                      <a:prstGeom prst="rect">
                        <a:avLst/>
                      </a:prstGeom>
                    </p:spPr>
                  </p:pic>
                </p:oleObj>
              </mc:Fallback>
            </mc:AlternateContent>
          </a:graphicData>
        </a:graphic>
      </p:graphicFrame>
      <p:sp>
        <p:nvSpPr>
          <p:cNvPr id="16" name="TextBox 48">
            <a:extLst>
              <a:ext uri="{FF2B5EF4-FFF2-40B4-BE49-F238E27FC236}">
                <a16:creationId xmlns:a16="http://schemas.microsoft.com/office/drawing/2014/main" id="{3560A9C4-457D-4ACE-8C65-E1FDFF4F2853}"/>
              </a:ext>
            </a:extLst>
          </p:cNvPr>
          <p:cNvSpPr txBox="1"/>
          <p:nvPr/>
        </p:nvSpPr>
        <p:spPr>
          <a:xfrm>
            <a:off x="332828" y="2599726"/>
            <a:ext cx="2285010" cy="369332"/>
          </a:xfrm>
          <a:prstGeom prst="rect">
            <a:avLst/>
          </a:prstGeom>
          <a:noFill/>
        </p:spPr>
        <p:txBody>
          <a:bodyPr wrap="square" rtlCol="0">
            <a:spAutoFit/>
          </a:bodyPr>
          <a:lstStyle/>
          <a:p>
            <a:pPr algn="ctr"/>
            <a:r>
              <a:rPr lang="en-US" i="0" dirty="0">
                <a:latin typeface="Times New Roman" panose="02020603050405020304" pitchFamily="18" charset="0"/>
                <a:cs typeface="Times New Roman" panose="02020603050405020304" pitchFamily="18" charset="0"/>
              </a:rPr>
              <a:t>Generalization</a:t>
            </a:r>
          </a:p>
        </p:txBody>
      </p:sp>
      <p:sp>
        <p:nvSpPr>
          <p:cNvPr id="5" name="矩形 4">
            <a:extLst>
              <a:ext uri="{FF2B5EF4-FFF2-40B4-BE49-F238E27FC236}">
                <a16:creationId xmlns:a16="http://schemas.microsoft.com/office/drawing/2014/main" id="{684B28D4-B138-4FB2-A341-08DB834BD93E}"/>
              </a:ext>
            </a:extLst>
          </p:cNvPr>
          <p:cNvSpPr/>
          <p:nvPr/>
        </p:nvSpPr>
        <p:spPr bwMode="auto">
          <a:xfrm>
            <a:off x="6547945" y="2563944"/>
            <a:ext cx="5644055" cy="497486"/>
          </a:xfrm>
          <a:prstGeom prst="rect">
            <a:avLst/>
          </a:prstGeom>
          <a:noFill/>
          <a:ln w="9525" cap="flat" cmpd="sng" algn="ctr">
            <a:solidFill>
              <a:srgbClr val="FF0000"/>
            </a:solidFill>
            <a:prstDash val="lg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899903129"/>
      </p:ext>
    </p:extLst>
  </p:cSld>
  <p:clrMapOvr>
    <a:masterClrMapping/>
  </p:clrMapOvr>
  <p:transition spd="med"/>
</p:sld>
</file>

<file path=ppt/theme/theme1.xml><?xml version="1.0" encoding="utf-8"?>
<a:theme xmlns:a="http://schemas.openxmlformats.org/drawingml/2006/main" name="ProfTian_Group">
  <a:themeElements>
    <a:clrScheme name="Custom 1">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1"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ofTian_Group" id="{9A27C3D9-3926-4EA5-AEFD-6E320ABCB500}" vid="{E61E3F45-6CCB-482B-9996-4C583492891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ProfTian_Group">
  <a:themeElements>
    <a:clrScheme name="Custom 1">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1"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ofTian_Group" id="{9A27C3D9-3926-4EA5-AEFD-6E320ABCB500}" vid="{E61E3F45-6CCB-482B-9996-4C583492891A}"/>
    </a:ext>
  </a:extLst>
</a:theme>
</file>

<file path=ppt/theme/theme5.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ProfTian_Group</Template>
  <TotalTime>22107</TotalTime>
  <Words>2698</Words>
  <Application>Microsoft Office PowerPoint</Application>
  <PresentationFormat>宽屏</PresentationFormat>
  <Paragraphs>451</Paragraphs>
  <Slides>33</Slides>
  <Notes>26</Notes>
  <HiddenSlides>0</HiddenSlides>
  <MMClips>0</MMClips>
  <ScaleCrop>false</ScaleCrop>
  <HeadingPairs>
    <vt:vector size="8" baseType="variant">
      <vt:variant>
        <vt:lpstr>已用的字体</vt:lpstr>
      </vt:variant>
      <vt:variant>
        <vt:i4>7</vt:i4>
      </vt:variant>
      <vt:variant>
        <vt:lpstr>主题</vt:lpstr>
      </vt:variant>
      <vt:variant>
        <vt:i4>6</vt:i4>
      </vt:variant>
      <vt:variant>
        <vt:lpstr>嵌入 OLE 服务器</vt:lpstr>
      </vt:variant>
      <vt:variant>
        <vt:i4>2</vt:i4>
      </vt:variant>
      <vt:variant>
        <vt:lpstr>幻灯片标题</vt:lpstr>
      </vt:variant>
      <vt:variant>
        <vt:i4>33</vt:i4>
      </vt:variant>
    </vt:vector>
  </HeadingPairs>
  <TitlesOfParts>
    <vt:vector size="48" baseType="lpstr">
      <vt:lpstr>Aptos</vt:lpstr>
      <vt:lpstr>Aptos Display</vt:lpstr>
      <vt:lpstr>Arial</vt:lpstr>
      <vt:lpstr>Calibri</vt:lpstr>
      <vt:lpstr>Cambria Math</vt:lpstr>
      <vt:lpstr>Times New Roman</vt:lpstr>
      <vt:lpstr>Wingdings</vt:lpstr>
      <vt:lpstr>ProfTian_Group</vt:lpstr>
      <vt:lpstr>Office 主题​​</vt:lpstr>
      <vt:lpstr>1_Office 主题​​</vt:lpstr>
      <vt:lpstr>1_ProfTian_Group</vt:lpstr>
      <vt:lpstr>2_Office 主题​​</vt:lpstr>
      <vt:lpstr>3_Office 主题​​</vt:lpstr>
      <vt:lpstr>Equation</vt:lpstr>
      <vt:lpstr>MathType 6.0 Equation</vt:lpstr>
      <vt:lpstr>DSL-OTA: Distributed Swarm Learning with Over the Air Aggregation on Non-i.i.d. data</vt:lpstr>
      <vt:lpstr>Outline</vt:lpstr>
      <vt:lpstr>Background – Non-i.i.d. datasets</vt:lpstr>
      <vt:lpstr>Background – Why Non-i.i.d. Harmful?</vt:lpstr>
      <vt:lpstr>Background – FL &amp; Non-i.i.d. study</vt:lpstr>
      <vt:lpstr>Background - Over-the-Air (OTA)</vt:lpstr>
      <vt:lpstr>Outline</vt:lpstr>
      <vt:lpstr>Prior works – Non-i.i.d Issue</vt:lpstr>
      <vt:lpstr>Prior works – Non-i.i.d Generation</vt:lpstr>
      <vt:lpstr>Prior works – Non-i.i.d Metrics</vt:lpstr>
      <vt:lpstr>Prior works – Non-i.i.d FL</vt:lpstr>
      <vt:lpstr>Existing research – Non-i.i.d FL</vt:lpstr>
      <vt:lpstr>Prior works – Non-i.i.d DSL</vt:lpstr>
      <vt:lpstr>Outline</vt:lpstr>
      <vt:lpstr>Challenges and Motivation </vt:lpstr>
      <vt:lpstr>Proposed Method: Non-i.i.d. Metric</vt:lpstr>
      <vt:lpstr>Proposed Method: Non-i.i.d. Metric</vt:lpstr>
      <vt:lpstr>Proposed Method: DSL-OTA</vt:lpstr>
      <vt:lpstr>Proposed Method: DSL-OTA</vt:lpstr>
      <vt:lpstr>Proposed Method: DSL-OTA</vt:lpstr>
      <vt:lpstr>Outline</vt:lpstr>
      <vt:lpstr>Experiments-Setups</vt:lpstr>
      <vt:lpstr>Experiments-Main Results</vt:lpstr>
      <vt:lpstr>Experiments-Main Results</vt:lpstr>
      <vt:lpstr>Experiments-Comparable Experiments</vt:lpstr>
      <vt:lpstr>Experiments-Comparable Experiments</vt:lpstr>
      <vt:lpstr>Experiments-Online Learning</vt:lpstr>
      <vt:lpstr>Outline</vt:lpstr>
      <vt:lpstr>Summary</vt:lpstr>
      <vt:lpstr>Future Work –Decentralized DSL</vt:lpstr>
      <vt:lpstr>Future Work – Dynamic DSL</vt:lpstr>
      <vt:lpstr>PowerPoint 演示文稿</vt:lpstr>
      <vt:lpstr>Prior works – Non-i.i.d Issue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make DSL more federated</dc:title>
  <dc:creator>weishan zhang</dc:creator>
  <cp:lastModifiedBy>卓宇 姚</cp:lastModifiedBy>
  <cp:revision>287</cp:revision>
  <dcterms:created xsi:type="dcterms:W3CDTF">2024-09-25T01:30:38Z</dcterms:created>
  <dcterms:modified xsi:type="dcterms:W3CDTF">2025-03-07T03:33:52Z</dcterms:modified>
</cp:coreProperties>
</file>