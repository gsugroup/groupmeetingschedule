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  <p:sldMasterId id="2147483669" r:id="rId2"/>
    <p:sldMasterId id="2147483682" r:id="rId3"/>
    <p:sldMasterId id="2147483695" r:id="rId4"/>
    <p:sldMasterId id="2147483704" r:id="rId5"/>
    <p:sldMasterId id="2147483717" r:id="rId6"/>
  </p:sldMasterIdLst>
  <p:notesMasterIdLst>
    <p:notesMasterId r:id="rId26"/>
  </p:notesMasterIdLst>
  <p:sldIdLst>
    <p:sldId id="256" r:id="rId7"/>
    <p:sldId id="257" r:id="rId8"/>
    <p:sldId id="1836" r:id="rId9"/>
    <p:sldId id="264" r:id="rId10"/>
    <p:sldId id="1809" r:id="rId11"/>
    <p:sldId id="1815" r:id="rId12"/>
    <p:sldId id="1803" r:id="rId13"/>
    <p:sldId id="1837" r:id="rId14"/>
    <p:sldId id="1838" r:id="rId15"/>
    <p:sldId id="1839" r:id="rId16"/>
    <p:sldId id="1843" r:id="rId17"/>
    <p:sldId id="1824" r:id="rId18"/>
    <p:sldId id="1840" r:id="rId19"/>
    <p:sldId id="1804" r:id="rId20"/>
    <p:sldId id="1841" r:id="rId21"/>
    <p:sldId id="1842" r:id="rId22"/>
    <p:sldId id="1816" r:id="rId23"/>
    <p:sldId id="265" r:id="rId24"/>
    <p:sldId id="266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ＭＳ Ｐゴシック" pitchFamily="-107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99"/>
    <a:srgbClr val="6F5942"/>
    <a:srgbClr val="FFCCCC"/>
    <a:srgbClr val="3333FF"/>
    <a:srgbClr val="000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1" autoAdjust="0"/>
    <p:restoredTop sz="80632" autoAdjust="0"/>
  </p:normalViewPr>
  <p:slideViewPr>
    <p:cSldViewPr snapToGrid="0">
      <p:cViewPr varScale="1">
        <p:scale>
          <a:sx n="91" d="100"/>
          <a:sy n="91" d="100"/>
        </p:scale>
        <p:origin x="948" y="6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A0A1F-A3EE-5646-B894-8ADEFCA2BDD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2A9D3-0D19-6F43-AADD-953190CEC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8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4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28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32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35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Transmitter receiver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Why modulation? Transmit low frequency signal to high frequency to reduce the interference of other signals, achieve channel multiplexing maintain energy 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Fading: doppler shift, random fluctuations multi-path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signal distortion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04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 reporting fraction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74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03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Wide bandwidth signal transmission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30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Select orthogonal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66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packet error ratio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73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Covariate shift the distribution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Prior probability shift the labels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Concept shift the mapping function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31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Covariate shift the distribution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Prior probability shift the labels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Concept shift the mapping function is different between train set and test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94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station for k users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complex path gain \ALPHA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 time delay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Tau corresponding time delay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 pulse shaping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 antenna array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Lambda single operator wavelength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 beamformer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D_bs</a:t>
            </a:r>
            <a:r>
              <a:rPr lang="en-US" altLang="zh-CN" dirty="0"/>
              <a:t> is the length of antenna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2A9D3-0D19-6F43-AADD-953190CECF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7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860800" y="1447800"/>
            <a:ext cx="8026400" cy="2209800"/>
          </a:xfrm>
        </p:spPr>
        <p:txBody>
          <a:bodyPr/>
          <a:lstStyle>
            <a:lvl1pPr algn="r"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64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759200" y="41148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051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379200" cy="762000"/>
          </a:xfrm>
        </p:spPr>
        <p:txBody>
          <a:bodyPr/>
          <a:lstStyle>
            <a:lvl1pPr>
              <a:defRPr>
                <a:latin typeface="+mj-lt"/>
                <a:cs typeface="Arial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sz="2000">
                <a:latin typeface="+mn-lt"/>
                <a:cs typeface="Arial"/>
              </a:defRPr>
            </a:lvl3pPr>
            <a:lvl4pPr>
              <a:defRPr sz="2000">
                <a:latin typeface="+mn-lt"/>
                <a:cs typeface="Arial"/>
              </a:defRPr>
            </a:lvl4pPr>
            <a:lvl5pPr>
              <a:defRPr sz="2000">
                <a:latin typeface="+mn-lt"/>
                <a:cs typeface="Arial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8349B0-1CCA-694E-A180-DA835B016E06}" type="datetime1">
              <a:rPr lang="en-US" altLang="zh-CN" smtClean="0"/>
              <a:t>4/25/2025</a:t>
            </a:fld>
            <a:endParaRPr lang="zh-CN" altLang="en-US"/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4400" y="6400800"/>
            <a:ext cx="2844800" cy="457200"/>
          </a:xfrm>
          <a:ln/>
        </p:spPr>
        <p:txBody>
          <a:bodyPr/>
          <a:lstStyle>
            <a:lvl1pPr>
              <a:defRPr sz="1200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87620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96B29-5ACF-4449-AC21-3F57A5EE8579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06046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E2F5B-40C3-2C49-AB00-5F6BD2636155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12938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0"/>
            <a:ext cx="27432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80264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E34E1-005D-664E-B3A9-F29C991ACAD7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0774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E6FCD-07B5-8749-AE08-47CC6EE30201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3819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B56345-FBAF-C849-9D29-DA20DA6D560D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1985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3405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F4F7-AC70-374E-A059-E0C403985EEF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1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F80F3-29D0-B045-9879-3C07D32B33BF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DA26-041F-9B46-8FC8-BCAEF7F3823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0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1AC8-C80C-BA46-9663-A97F9929A3C8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6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44BA-7E3A-FC4B-B506-306341055C8A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38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C979-4E28-0544-B11B-E2BAF4C7735A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44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43A9-4C5D-114F-B94E-E6DB2AA10ED3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8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090B8-8072-2145-A7DA-F1BA1BFA8B64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9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527E-AFA8-B64E-89BE-6856A3F367A5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85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275C-32E1-BA42-BB1F-B561C83191A9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9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632C-B738-6D44-9AB2-B0755019CB18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49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4AD8-4CE4-1A43-950B-5389016C87A7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99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8370-C20F-E448-AA13-0BA032AD356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3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B59F7-D675-2B4B-9D88-CF74270EB087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5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47325-9CD2-EB4C-BBD6-AE61D4D2527A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52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8B04F-440C-8D4C-90DB-4AC7843A8746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454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6374-EE59-E745-A5E7-DFB446E293EB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38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D7729-81FE-1548-AFB6-6082E836DE31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7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D727-0A96-3644-A7C7-57D8F0716FC7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74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43E6-8614-F04B-9DE9-5B8303E42AD1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772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5F94-83B0-C74B-AF19-3157AFD0F2C7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691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C9013-C202-514F-BEE0-5F8B72362BD5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70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E89B-2501-844B-9EDB-27BD7265FCE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9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08A01-011B-0442-9A27-6233239C58BC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006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860800" y="1447800"/>
            <a:ext cx="8026400" cy="2209800"/>
          </a:xfrm>
        </p:spPr>
        <p:txBody>
          <a:bodyPr/>
          <a:lstStyle>
            <a:lvl1pPr algn="r"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64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759200" y="41148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931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379200" cy="762000"/>
          </a:xfrm>
        </p:spPr>
        <p:txBody>
          <a:bodyPr/>
          <a:lstStyle>
            <a:lvl1pPr>
              <a:defRPr>
                <a:latin typeface="+mj-lt"/>
                <a:cs typeface="Arial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sz="2000">
                <a:latin typeface="+mn-lt"/>
                <a:cs typeface="Arial"/>
              </a:defRPr>
            </a:lvl3pPr>
            <a:lvl4pPr>
              <a:defRPr sz="2000">
                <a:latin typeface="+mn-lt"/>
                <a:cs typeface="Arial"/>
              </a:defRPr>
            </a:lvl4pPr>
            <a:lvl5pPr>
              <a:defRPr sz="2000">
                <a:latin typeface="+mn-lt"/>
                <a:cs typeface="Arial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6A7B63-2C51-334A-85CB-2D730CE65D55}" type="datetime1">
              <a:rPr lang="en-US" altLang="zh-CN" smtClean="0"/>
              <a:t>4/25/2025</a:t>
            </a:fld>
            <a:endParaRPr lang="zh-CN" altLang="en-US"/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1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4400" y="6400800"/>
            <a:ext cx="2844800" cy="457200"/>
          </a:xfrm>
          <a:ln/>
        </p:spPr>
        <p:txBody>
          <a:bodyPr/>
          <a:lstStyle>
            <a:lvl1pPr>
              <a:defRPr sz="1200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2920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A3702-7AF3-1944-A78D-07CDB5DBC52E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2151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B64BB5-2CA7-6240-A357-014CC2DD19D5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74590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0"/>
            <a:ext cx="27432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80264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2771EE-4167-154C-B525-764E4604F60C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6563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32ED-3468-DD49-8E24-2CD1E46FD58C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7259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7135B-3014-5444-AE5B-9A100BD60DA1}" type="datetime1">
              <a:rPr lang="en-US" altLang="zh-CN" smtClean="0"/>
              <a:t>4/25/2025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154893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5506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DB66-D798-294C-A6FD-E08EE1F25087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94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0AA4-0651-E64B-B0D5-232CA31640B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780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0FEAF-5B8C-8545-862D-D30D6DB390B7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0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3BAE-4EFB-1B4C-A72B-B00911FCFADE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9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0C15-39B1-A440-BCAE-E0A0542D30EC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60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C3831-E9CF-8441-8AF5-9350425494FD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591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09490-AC05-2545-A942-FCE4E7EC210A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457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82B77-9AB8-7A4A-BEA4-1DC5DED230C6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174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A104-70EE-1541-82D6-09793DAA1E3F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214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F8DB-4218-5940-807B-070C6889C30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334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7E514-16F7-2348-A5EC-BCB0F685F9D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893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A6B-8848-614C-93CB-5058A23D9967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1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48E2-A2F9-9045-8399-5B11564B0043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570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EA05-A614-9742-A5EE-38383B4E2B1F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549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DFB50-F2B2-7A4E-99F3-88DE7F01CA7A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912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CA111-0945-2A4B-B20A-1206A6C5FD62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738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8249-C96C-C64B-B967-1C705E800EB5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307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AF6A-CEDA-8442-9BFE-1D5059082CBD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56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415D-4480-5D4E-A7D8-5D8C2118657C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587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CAC96-E15F-284F-86D9-EA54DF7124F4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471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E00AE-E5F6-1849-B8C1-460D68B308DE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845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545E-60CE-0144-89FC-5912C8FB8A25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854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54DF-2125-0342-B62B-B5810C987C4D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326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5732-7EA4-5D44-9804-1654F52ACA87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8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5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11379200" cy="762000"/>
          </a:xfrm>
          <a:prstGeom prst="rect">
            <a:avLst/>
          </a:prstGeom>
          <a:solidFill>
            <a:srgbClr val="5354F9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fld id="{FF2E6138-50C1-C64E-B776-0A2B93FA52A4}" type="datetime1">
              <a:rPr lang="en-US" altLang="zh-CN" smtClean="0"/>
              <a:t>4/25/2025</a:t>
            </a:fld>
            <a:endParaRPr lang="zh-CN" altLang="en-US"/>
          </a:p>
        </p:txBody>
      </p:sp>
      <p:grpSp>
        <p:nvGrpSpPr>
          <p:cNvPr id="1032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539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39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40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1800" i="0">
                <a:solidFill>
                  <a:schemeClr val="accent2"/>
                </a:solidFill>
                <a:ea typeface="+mn-ea"/>
              </a:endParaRPr>
            </a:p>
          </p:txBody>
        </p:sp>
      </p:grpSp>
      <p:sp>
        <p:nvSpPr>
          <p:cNvPr id="153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32800" y="64008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36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ＭＳ Ｐゴシック" pitchFamily="-112" charset="-128"/>
          <a:cs typeface="Helvetica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85000"/>
        <a:buFont typeface="Wingdings" charset="2"/>
        <a:buChar char="q"/>
        <a:defRPr sz="2400">
          <a:solidFill>
            <a:srgbClr val="0000DA"/>
          </a:solidFill>
          <a:latin typeface="+mn-lt"/>
          <a:ea typeface="ＭＳ Ｐゴシック" pitchFamily="-112" charset="-128"/>
          <a:cs typeface="Arial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85000"/>
        <a:buFont typeface="Wingdings" charset="2"/>
        <a:buChar char="Ø"/>
        <a:defRPr sz="2200">
          <a:solidFill>
            <a:schemeClr val="tx1"/>
          </a:solidFill>
          <a:latin typeface="+mn-lt"/>
          <a:ea typeface="ＭＳ Ｐゴシック" pitchFamily="-112" charset="-128"/>
          <a:cs typeface="Arial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70000"/>
        <a:buFont typeface="Wingdings" pitchFamily="-107" charset="2"/>
        <a:buChar char="v"/>
        <a:defRPr sz="22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90000"/>
        <a:buFont typeface="Wingdings" pitchFamily="-107" charset="2"/>
        <a:buChar char="q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-107" charset="2"/>
        <a:buChar char="Ø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2CF8F-DFCA-9249-9B0C-7BF62F6AB910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3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BDEEA-6251-7944-987D-E15CD79683D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7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5" name="Rectangle 45"/>
          <p:cNvSpPr>
            <a:spLocks noChangeArrowheads="1"/>
          </p:cNvSpPr>
          <p:nvPr/>
        </p:nvSpPr>
        <p:spPr bwMode="hidden">
          <a:xfrm>
            <a:off x="0" y="0"/>
            <a:ext cx="46736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 i="0">
              <a:latin typeface="Times New Roman" pitchFamily="18" charset="0"/>
              <a:ea typeface="+mn-ea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11379200" cy="762000"/>
          </a:xfrm>
          <a:prstGeom prst="rect">
            <a:avLst/>
          </a:prstGeom>
          <a:solidFill>
            <a:srgbClr val="5354F9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latin typeface="Arial" charset="0"/>
                <a:ea typeface="+mn-ea"/>
                <a:cs typeface="+mn-cs"/>
              </a:defRPr>
            </a:lvl1pPr>
          </a:lstStyle>
          <a:p>
            <a:fld id="{366E3027-ECD4-0841-B6C6-941CF82F0CF6}" type="datetime1">
              <a:rPr lang="en-US" altLang="zh-CN" smtClean="0"/>
              <a:t>4/25/2025</a:t>
            </a:fld>
            <a:endParaRPr lang="zh-CN" altLang="en-US"/>
          </a:p>
        </p:txBody>
      </p:sp>
      <p:grpSp>
        <p:nvGrpSpPr>
          <p:cNvPr id="1032" name="Group 41"/>
          <p:cNvGrpSpPr>
            <a:grpSpLocks/>
          </p:cNvGrpSpPr>
          <p:nvPr/>
        </p:nvGrpSpPr>
        <p:grpSpPr bwMode="auto">
          <a:xfrm>
            <a:off x="0" y="6477000"/>
            <a:ext cx="12192000" cy="381000"/>
            <a:chOff x="0" y="2880"/>
            <a:chExt cx="5760" cy="344"/>
          </a:xfrm>
        </p:grpSpPr>
        <p:sp>
          <p:nvSpPr>
            <p:cNvPr id="15392" name="Rectangle 32"/>
            <p:cNvSpPr>
              <a:spLocks noChangeArrowheads="1"/>
            </p:cNvSpPr>
            <p:nvPr/>
          </p:nvSpPr>
          <p:spPr bwMode="auto">
            <a:xfrm rot="10800000">
              <a:off x="5580" y="2889"/>
              <a:ext cx="180" cy="3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3" name="Rectangle 33"/>
            <p:cNvSpPr>
              <a:spLocks noChangeArrowheads="1"/>
            </p:cNvSpPr>
            <p:nvPr/>
          </p:nvSpPr>
          <p:spPr bwMode="auto">
            <a:xfrm rot="10800000">
              <a:off x="0" y="3072"/>
              <a:ext cx="5500" cy="14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4" name="Rectangle 34"/>
            <p:cNvSpPr>
              <a:spLocks noChangeArrowheads="1"/>
            </p:cNvSpPr>
            <p:nvPr/>
          </p:nvSpPr>
          <p:spPr bwMode="auto">
            <a:xfrm rot="10800000">
              <a:off x="5414" y="3049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5" name="Rectangle 35"/>
            <p:cNvSpPr>
              <a:spLocks noChangeArrowheads="1"/>
            </p:cNvSpPr>
            <p:nvPr/>
          </p:nvSpPr>
          <p:spPr bwMode="auto">
            <a:xfrm rot="10800000">
              <a:off x="5327" y="3137"/>
              <a:ext cx="88" cy="86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6" name="Rectangle 36"/>
            <p:cNvSpPr>
              <a:spLocks noChangeArrowheads="1"/>
            </p:cNvSpPr>
            <p:nvPr/>
          </p:nvSpPr>
          <p:spPr bwMode="auto">
            <a:xfrm rot="10800000">
              <a:off x="5327" y="3049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397" name="Rectangle 37"/>
            <p:cNvSpPr>
              <a:spLocks noChangeArrowheads="1"/>
            </p:cNvSpPr>
            <p:nvPr/>
          </p:nvSpPr>
          <p:spPr bwMode="auto">
            <a:xfrm rot="10800000">
              <a:off x="5501" y="296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hlink"/>
                </a:solidFill>
                <a:ea typeface="+mn-ea"/>
              </a:endParaRPr>
            </a:p>
          </p:txBody>
        </p:sp>
        <p:sp>
          <p:nvSpPr>
            <p:cNvPr id="15398" name="Rectangle 38"/>
            <p:cNvSpPr>
              <a:spLocks noChangeArrowheads="1"/>
            </p:cNvSpPr>
            <p:nvPr/>
          </p:nvSpPr>
          <p:spPr bwMode="auto">
            <a:xfrm rot="10800000">
              <a:off x="5587" y="3051"/>
              <a:ext cx="89" cy="8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sz="2400" i="0">
                <a:latin typeface="Times New Roman" pitchFamily="18" charset="0"/>
                <a:ea typeface="+mn-ea"/>
              </a:endParaRPr>
            </a:p>
          </p:txBody>
        </p:sp>
        <p:sp>
          <p:nvSpPr>
            <p:cNvPr id="15399" name="Rectangle 39"/>
            <p:cNvSpPr>
              <a:spLocks noChangeArrowheads="1"/>
            </p:cNvSpPr>
            <p:nvPr/>
          </p:nvSpPr>
          <p:spPr bwMode="auto">
            <a:xfrm rot="10800000">
              <a:off x="5414" y="2965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  <p:sp>
          <p:nvSpPr>
            <p:cNvPr id="15400" name="Rectangle 40"/>
            <p:cNvSpPr>
              <a:spLocks noChangeArrowheads="1"/>
            </p:cNvSpPr>
            <p:nvPr/>
          </p:nvSpPr>
          <p:spPr bwMode="auto">
            <a:xfrm rot="10800000">
              <a:off x="5501" y="2880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rot="10800000"/>
            <a:lstStyle/>
            <a:p>
              <a:pPr eaLnBrk="1" hangingPunct="1">
                <a:defRPr/>
              </a:pPr>
              <a:endParaRPr lang="en-US" i="0">
                <a:solidFill>
                  <a:schemeClr val="accent2"/>
                </a:solidFill>
                <a:ea typeface="+mn-ea"/>
              </a:endParaRPr>
            </a:p>
          </p:txBody>
        </p:sp>
      </p:grpSp>
      <p:sp>
        <p:nvSpPr>
          <p:cNvPr id="153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32800" y="64008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latin typeface="Arial"/>
                <a:cs typeface="Arial"/>
              </a:defRPr>
            </a:lvl1pPr>
          </a:lstStyle>
          <a:p>
            <a:fld id="{B2B05758-BB4F-4559-81AD-225F352C8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73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ＭＳ Ｐゴシック" pitchFamily="-112" charset="-128"/>
          <a:cs typeface="Helvetica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  <a:ea typeface="ＭＳ Ｐゴシック" pitchFamily="-112" charset="-128"/>
          <a:cs typeface="ＭＳ Ｐゴシック" pitchFamily="-11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85000"/>
        <a:buFont typeface="Wingdings" charset="2"/>
        <a:buChar char="q"/>
        <a:defRPr sz="2400">
          <a:solidFill>
            <a:srgbClr val="0000DA"/>
          </a:solidFill>
          <a:latin typeface="+mn-lt"/>
          <a:ea typeface="ＭＳ Ｐゴシック" pitchFamily="-112" charset="-128"/>
          <a:cs typeface="Arial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85000"/>
        <a:buFont typeface="Wingdings" charset="2"/>
        <a:buChar char="Ø"/>
        <a:defRPr sz="2200">
          <a:solidFill>
            <a:schemeClr val="tx1"/>
          </a:solidFill>
          <a:latin typeface="+mn-lt"/>
          <a:ea typeface="ＭＳ Ｐゴシック" pitchFamily="-112" charset="-128"/>
          <a:cs typeface="Arial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70000"/>
        <a:buFont typeface="Wingdings" pitchFamily="-107" charset="2"/>
        <a:buChar char="v"/>
        <a:defRPr sz="22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SzPct val="90000"/>
        <a:buFont typeface="Wingdings" pitchFamily="-107" charset="2"/>
        <a:buChar char="q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-107" charset="2"/>
        <a:buChar char="Ø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2A7E54"/>
        </a:buClr>
        <a:buFont typeface="Wingdings" pitchFamily="2" charset="2"/>
        <a:buChar char="Ø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A828B-3BE4-134D-A0FD-70C1FFA52D6C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BD1B1-730D-F943-A414-742CB33A94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C1897-9835-3945-B8AE-F35860980353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BCB7E-911E-C847-9261-46C1E20B5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5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6.png"/><Relationship Id="rId12" Type="http://schemas.openxmlformats.org/officeDocument/2006/relationships/image" Target="../media/image49.png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png"/><Relationship Id="rId11" Type="http://schemas.openxmlformats.org/officeDocument/2006/relationships/image" Target="../media/image42.wmf"/><Relationship Id="rId5" Type="http://schemas.openxmlformats.org/officeDocument/2006/relationships/image" Target="../media/image44.png"/><Relationship Id="rId10" Type="http://schemas.openxmlformats.org/officeDocument/2006/relationships/oleObject" Target="../embeddings/oleObject8.bin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D131B-3C02-D2F7-9992-EAB323842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741" y="1242890"/>
            <a:ext cx="9697452" cy="2209800"/>
          </a:xfrm>
          <a:solidFill>
            <a:srgbClr val="3333FF"/>
          </a:solidFill>
        </p:spPr>
        <p:txBody>
          <a:bodyPr/>
          <a:lstStyle/>
          <a:p>
            <a:pPr algn="ctr"/>
            <a:r>
              <a:rPr lang="en-US" altLang="zh-CN" sz="4400" b="1" i="0" dirty="0">
                <a:solidFill>
                  <a:srgbClr val="FFFF00"/>
                </a:solidFill>
                <a:latin typeface="Times New Roman"/>
                <a:cs typeface="Times New Roman"/>
              </a:rPr>
              <a:t>Distributed Generative AI over Wireless Communications</a:t>
            </a:r>
            <a:endParaRPr lang="en-US" altLang="zh-CN" sz="4000" b="1" i="0" dirty="0">
              <a:solidFill>
                <a:srgbClr val="FFFF00"/>
              </a:solidFill>
              <a:latin typeface="Times New Roman"/>
              <a:cs typeface="Times New Roman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9A8E9-A38E-8823-5190-155F9CFB2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641" y="3718256"/>
            <a:ext cx="8636366" cy="1752600"/>
          </a:xfrm>
        </p:spPr>
        <p:txBody>
          <a:bodyPr/>
          <a:lstStyle/>
          <a:p>
            <a:r>
              <a:rPr lang="en-US" altLang="zh-CN" sz="3000" dirty="0" err="1"/>
              <a:t>Zhuoyu</a:t>
            </a:r>
            <a:r>
              <a:rPr lang="en-US" altLang="zh-CN" sz="3000" dirty="0"/>
              <a:t> Yao,</a:t>
            </a:r>
            <a:r>
              <a:rPr lang="zh-CN" altLang="en-US" sz="3000" dirty="0"/>
              <a:t>  </a:t>
            </a:r>
            <a:r>
              <a:rPr lang="en-US" altLang="zh-CN" sz="3000" dirty="0"/>
              <a:t>Yue Wang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marL="457200" lvl="1" indent="0" algn="ctr">
              <a:buNone/>
            </a:pPr>
            <a:endParaRPr lang="en-US" altLang="zh-CN" sz="2000" dirty="0"/>
          </a:p>
          <a:p>
            <a:pPr marL="457200" lvl="1" indent="0" algn="ctr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Computer</a:t>
            </a:r>
            <a:r>
              <a:rPr lang="zh-CN" altLang="en-US" sz="2600" dirty="0">
                <a:solidFill>
                  <a:schemeClr val="tx1"/>
                </a:solidFill>
              </a:rPr>
              <a:t> </a:t>
            </a:r>
            <a:r>
              <a:rPr lang="en-US" altLang="zh-CN" sz="2600" dirty="0">
                <a:solidFill>
                  <a:schemeClr val="tx1"/>
                </a:solidFill>
              </a:rPr>
              <a:t>Science</a:t>
            </a:r>
          </a:p>
          <a:p>
            <a:pPr marL="457200" lvl="1" indent="0" algn="ctr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Georgia State University, Atlanta, GA, USA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2549A83-85EB-A3BB-1C25-11D4B6CF7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67" y="5764230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80000"/>
            </a:pPr>
            <a:r>
              <a:rPr lang="en-US" sz="2200" i="0" dirty="0">
                <a:solidFill>
                  <a:srgbClr val="076DB8"/>
                </a:solidFill>
                <a:latin typeface="+mj-lt"/>
                <a:cs typeface="Arial"/>
              </a:rPr>
              <a:t>A</a:t>
            </a:r>
            <a:r>
              <a:rPr lang="en-US" altLang="zh-CN" sz="2200" i="0" dirty="0">
                <a:solidFill>
                  <a:srgbClr val="076DB8"/>
                </a:solidFill>
                <a:latin typeface="+mj-lt"/>
                <a:cs typeface="Arial"/>
              </a:rPr>
              <a:t>pr 25</a:t>
            </a:r>
            <a:r>
              <a:rPr lang="en-US" sz="2200" i="0" dirty="0">
                <a:solidFill>
                  <a:srgbClr val="076DB8"/>
                </a:solidFill>
                <a:latin typeface="+mj-lt"/>
                <a:cs typeface="Arial"/>
              </a:rPr>
              <a:t>, 2025</a:t>
            </a:r>
          </a:p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80000"/>
            </a:pPr>
            <a:endParaRPr lang="en-US" sz="2200" i="0" dirty="0">
              <a:solidFill>
                <a:srgbClr val="076DB8"/>
              </a:solidFill>
              <a:latin typeface="+mj-lt"/>
              <a:cs typeface="Arial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0089C588-1723-4368-063E-D2C89F04F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862" y="1093770"/>
            <a:ext cx="46482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85D1200-03A8-4740-07CA-47B07D0C6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0062" y="1093770"/>
            <a:ext cx="0" cy="121920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9F3DEF89-4D2A-8982-0A70-7FC9EFDA8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6656" y="3593058"/>
            <a:ext cx="54102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4" descr="University Logos - Communications ToolKit">
            <a:extLst>
              <a:ext uri="{FF2B5EF4-FFF2-40B4-BE49-F238E27FC236}">
                <a16:creationId xmlns:a16="http://schemas.microsoft.com/office/drawing/2014/main" id="{B3B16C43-9736-BC67-BB22-40CF96C44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025" y="4429997"/>
            <a:ext cx="2659975" cy="20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3442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0FFA6-047F-CE3C-690E-2751A714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86ECD-B237-F885-4CEE-FB3F7C50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829" y="1346200"/>
            <a:ext cx="6464300" cy="3886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Distributed Generative AI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Communications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Wireless-informed distributed Generative AI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9B85-1E40-3601-29CC-AAEDC27FDA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07378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A892-DD7B-3C90-1F2E-F88AEF8D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Generative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C8A-A59B-41B1-12EC-B98D4489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28" y="1202909"/>
            <a:ext cx="6015110" cy="523220"/>
          </a:xfrm>
        </p:spPr>
        <p:txBody>
          <a:bodyPr/>
          <a:lstStyle/>
          <a:p>
            <a:r>
              <a:rPr lang="en-US" dirty="0">
                <a:latin typeface="+mj-lt"/>
              </a:rPr>
              <a:t>Generative AI</a:t>
            </a:r>
          </a:p>
          <a:p>
            <a:pPr lvl="1"/>
            <a:r>
              <a:rPr lang="en-US" dirty="0">
                <a:latin typeface="+mj-lt"/>
              </a:rPr>
              <a:t>NLP: on time interpretation</a:t>
            </a:r>
          </a:p>
          <a:p>
            <a:pPr lvl="1"/>
            <a:r>
              <a:rPr lang="en-US" dirty="0">
                <a:latin typeface="+mj-lt"/>
              </a:rPr>
              <a:t>Knowledge map: </a:t>
            </a:r>
            <a:r>
              <a:rPr lang="en-US" dirty="0" err="1">
                <a:latin typeface="+mj-lt"/>
              </a:rPr>
              <a:t>Wolfarm</a:t>
            </a:r>
            <a:r>
              <a:rPr lang="en-US" dirty="0">
                <a:latin typeface="+mj-lt"/>
              </a:rPr>
              <a:t> Alpha</a:t>
            </a:r>
          </a:p>
          <a:p>
            <a:pPr lvl="1"/>
            <a:r>
              <a:rPr lang="en-US" dirty="0">
                <a:latin typeface="+mj-lt"/>
              </a:rPr>
              <a:t>Creative design: image generation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Bottleneck.</a:t>
            </a:r>
          </a:p>
          <a:p>
            <a:pPr lvl="1"/>
            <a:r>
              <a:rPr lang="en-US" altLang="zh-CN" dirty="0">
                <a:latin typeface="+mj-lt"/>
              </a:rPr>
              <a:t>Data &amp; Computational Requirements</a:t>
            </a:r>
          </a:p>
          <a:p>
            <a:pPr lvl="2"/>
            <a:r>
              <a:rPr lang="en-US" altLang="zh-CN" dirty="0">
                <a:latin typeface="+mj-lt"/>
              </a:rPr>
              <a:t>LLaMA-2(7,13,70B) 1862GB input 16*NVIDIA A100 train 15 days 864MWh</a:t>
            </a:r>
          </a:p>
          <a:p>
            <a:pPr lvl="1"/>
            <a:r>
              <a:rPr lang="en-US" altLang="zh-CN" dirty="0">
                <a:latin typeface="+mj-lt"/>
              </a:rPr>
              <a:t>Generalization vs. Adaptability</a:t>
            </a:r>
          </a:p>
          <a:p>
            <a:pPr lvl="1"/>
            <a:r>
              <a:rPr lang="en-US" dirty="0">
                <a:latin typeface="+mj-lt"/>
              </a:rPr>
              <a:t>Privacy Concern</a:t>
            </a:r>
          </a:p>
          <a:p>
            <a:pPr lvl="1"/>
            <a:r>
              <a:rPr lang="en-US" altLang="zh-CN" dirty="0">
                <a:latin typeface="+mj-lt"/>
              </a:rPr>
              <a:t>Bias &amp; Fairness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234D4-D448-9A94-D634-BB665B409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>
                <a:latin typeface="+mj-lt"/>
              </a:rPr>
              <a:t>2</a:t>
            </a:fld>
            <a:endParaRPr lang="zh-CN" altLang="en-US" dirty="0">
              <a:latin typeface="+mj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1AEA0D-D520-4041-9F2B-0D00B8513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162" y="3214499"/>
            <a:ext cx="3726053" cy="33017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7DFBB20-5A43-454A-BCC5-5841A224D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281" y="1035455"/>
            <a:ext cx="6484968" cy="21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6363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A892-DD7B-3C90-1F2E-F88AEF8D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Generative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234D4-D448-9A94-D634-BB665B409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>
                <a:latin typeface="+mj-lt"/>
              </a:rPr>
              <a:t>3</a:t>
            </a:fld>
            <a:endParaRPr lang="zh-CN" altLang="en-US" dirty="0">
              <a:latin typeface="+mj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25F31C-8D87-E50E-A0F3-29E30EAED17E}"/>
              </a:ext>
            </a:extLst>
          </p:cNvPr>
          <p:cNvSpPr txBox="1"/>
          <p:nvPr/>
        </p:nvSpPr>
        <p:spPr>
          <a:xfrm>
            <a:off x="506547" y="1163507"/>
            <a:ext cx="52797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conservation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altLang="zh-CN" sz="2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altLang="zh-CN" sz="2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altLang="zh-CN" sz="2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F69A8E1-8120-4871-96DE-13E1F2B97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662" y="1155111"/>
            <a:ext cx="6715917" cy="261525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ADFFC1D-E452-4C44-8AD7-C298B37D1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47" y="3884704"/>
            <a:ext cx="786226" cy="786226"/>
          </a:xfrm>
          <a:prstGeom prst="rect">
            <a:avLst/>
          </a:prstGeom>
        </p:spPr>
      </p:pic>
      <p:sp>
        <p:nvSpPr>
          <p:cNvPr id="20" name="TextBox 48">
            <a:extLst>
              <a:ext uri="{FF2B5EF4-FFF2-40B4-BE49-F238E27FC236}">
                <a16:creationId xmlns:a16="http://schemas.microsoft.com/office/drawing/2014/main" id="{86292535-2918-417C-BB34-6963529D0857}"/>
              </a:ext>
            </a:extLst>
          </p:cNvPr>
          <p:cNvSpPr txBox="1"/>
          <p:nvPr/>
        </p:nvSpPr>
        <p:spPr>
          <a:xfrm>
            <a:off x="899660" y="3827192"/>
            <a:ext cx="561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achieve distributed learning?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D404C0-80B7-4BF4-8545-09E6081AC97A}"/>
              </a:ext>
            </a:extLst>
          </p:cNvPr>
          <p:cNvGrpSpPr/>
          <p:nvPr/>
        </p:nvGrpSpPr>
        <p:grpSpPr>
          <a:xfrm>
            <a:off x="1320801" y="4338146"/>
            <a:ext cx="4200358" cy="603194"/>
            <a:chOff x="371642" y="1570142"/>
            <a:chExt cx="4200358" cy="603194"/>
          </a:xfrm>
        </p:grpSpPr>
        <p:sp>
          <p:nvSpPr>
            <p:cNvPr id="31" name="内容占位符 2">
              <a:extLst>
                <a:ext uri="{FF2B5EF4-FFF2-40B4-BE49-F238E27FC236}">
                  <a16:creationId xmlns:a16="http://schemas.microsoft.com/office/drawing/2014/main" id="{055D9ECB-045D-4724-B8B2-D293BE4CF1A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71642" y="1600200"/>
              <a:ext cx="4200358" cy="573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457200" lvl="1" indent="0">
                <a:buNone/>
              </a:pPr>
              <a:r>
                <a:rPr lang="en-US" i="0" kern="0" dirty="0"/>
                <a:t>    Model deployment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08D6EC-8F45-4CE8-A58F-A4E11D83D8C2}"/>
                </a:ext>
              </a:extLst>
            </p:cNvPr>
            <p:cNvSpPr/>
            <p:nvPr/>
          </p:nvSpPr>
          <p:spPr>
            <a:xfrm>
              <a:off x="680382" y="1570142"/>
              <a:ext cx="505267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500" i="0" dirty="0">
                  <a:solidFill>
                    <a:srgbClr val="8B3012"/>
                  </a:solidFill>
                  <a:ea typeface="ＭＳ Ｐゴシック" pitchFamily="34" charset="-128"/>
                </a:rPr>
                <a:t>✗</a:t>
              </a:r>
              <a:endParaRPr lang="en-US" sz="2500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6505D1E-1A09-4F5A-B983-9A0FF4AFE48B}"/>
              </a:ext>
            </a:extLst>
          </p:cNvPr>
          <p:cNvGrpSpPr/>
          <p:nvPr/>
        </p:nvGrpSpPr>
        <p:grpSpPr>
          <a:xfrm>
            <a:off x="1320801" y="4999711"/>
            <a:ext cx="4200358" cy="653192"/>
            <a:chOff x="371642" y="2005826"/>
            <a:chExt cx="4200358" cy="653192"/>
          </a:xfrm>
        </p:grpSpPr>
        <p:sp>
          <p:nvSpPr>
            <p:cNvPr id="34" name="内容占位符 2">
              <a:extLst>
                <a:ext uri="{FF2B5EF4-FFF2-40B4-BE49-F238E27FC236}">
                  <a16:creationId xmlns:a16="http://schemas.microsoft.com/office/drawing/2014/main" id="{7D559DF2-7D32-4B85-BD28-25D43085994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71642" y="2057400"/>
              <a:ext cx="4200358" cy="601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457200" lvl="1" indent="0">
                <a:buNone/>
              </a:pPr>
              <a:r>
                <a:rPr lang="en-US" i="0" kern="0" dirty="0"/>
                <a:t>    Communication Efficiency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EC8A2B1-F52E-4EE1-9287-349BAB8D87C1}"/>
                </a:ext>
              </a:extLst>
            </p:cNvPr>
            <p:cNvSpPr/>
            <p:nvPr/>
          </p:nvSpPr>
          <p:spPr>
            <a:xfrm>
              <a:off x="680382" y="2005826"/>
              <a:ext cx="505267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500" i="0" dirty="0">
                  <a:solidFill>
                    <a:srgbClr val="8B3012"/>
                  </a:solidFill>
                  <a:ea typeface="ＭＳ Ｐゴシック" pitchFamily="34" charset="-128"/>
                </a:rPr>
                <a:t>✗</a:t>
              </a:r>
              <a:endParaRPr lang="en-US" sz="25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9777150-1C9C-4758-8D44-9B725C87DF7F}"/>
              </a:ext>
            </a:extLst>
          </p:cNvPr>
          <p:cNvGrpSpPr/>
          <p:nvPr/>
        </p:nvGrpSpPr>
        <p:grpSpPr>
          <a:xfrm>
            <a:off x="1320801" y="5711273"/>
            <a:ext cx="4200358" cy="722780"/>
            <a:chOff x="371642" y="2943269"/>
            <a:chExt cx="4200358" cy="722780"/>
          </a:xfrm>
        </p:grpSpPr>
        <p:sp>
          <p:nvSpPr>
            <p:cNvPr id="37" name="内容占位符 2">
              <a:extLst>
                <a:ext uri="{FF2B5EF4-FFF2-40B4-BE49-F238E27FC236}">
                  <a16:creationId xmlns:a16="http://schemas.microsoft.com/office/drawing/2014/main" id="{4E2DE402-D7C9-4340-9559-9204EFC6444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71642" y="2971800"/>
              <a:ext cx="4200358" cy="694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85000"/>
                <a:buFont typeface="Wingdings" charset="2"/>
                <a:buChar char="q"/>
                <a:defRPr sz="2400">
                  <a:solidFill>
                    <a:srgbClr val="0000DA"/>
                  </a:solidFill>
                  <a:latin typeface="+mn-lt"/>
                  <a:ea typeface="ＭＳ Ｐゴシック" pitchFamily="-112" charset="-128"/>
                  <a:cs typeface="Arial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85000"/>
                <a:buFont typeface="Wingdings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70000"/>
                <a:buFont typeface="Wingdings" pitchFamily="-107" charset="2"/>
                <a:buChar char="v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5">
                    <a:lumMod val="50000"/>
                  </a:schemeClr>
                </a:buClr>
                <a:buSzPct val="90000"/>
                <a:buFont typeface="Wingdings" pitchFamily="-107" charset="2"/>
                <a:buChar char="q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-107" charset="2"/>
                <a:buChar char="Ø"/>
                <a:defRPr sz="2200">
                  <a:solidFill>
                    <a:schemeClr val="tx1"/>
                  </a:solidFill>
                  <a:latin typeface="+mn-lt"/>
                  <a:ea typeface="ＭＳ Ｐゴシック" pitchFamily="-112" charset="-128"/>
                  <a:cs typeface="Arial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2A7E54"/>
                </a:buClr>
                <a:buFont typeface="Wingdings" pitchFamily="2" charset="2"/>
                <a:buChar char="Ø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457200" lvl="1" indent="0">
                <a:buNone/>
              </a:pPr>
              <a:r>
                <a:rPr lang="en-US" i="0" kern="0" dirty="0"/>
                <a:t>    Data / devices heterogeneity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1ECFCB6-0854-41BE-8782-065CD06C5A2C}"/>
                </a:ext>
              </a:extLst>
            </p:cNvPr>
            <p:cNvSpPr/>
            <p:nvPr/>
          </p:nvSpPr>
          <p:spPr>
            <a:xfrm>
              <a:off x="680382" y="2943269"/>
              <a:ext cx="505267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500" i="0" dirty="0">
                  <a:solidFill>
                    <a:srgbClr val="8B3012"/>
                  </a:solidFill>
                  <a:ea typeface="ＭＳ Ｐゴシック" pitchFamily="34" charset="-128"/>
                </a:rPr>
                <a:t>✗</a:t>
              </a:r>
              <a:endParaRPr lang="en-US" sz="2500" dirty="0"/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D4DD4DB3-DCE2-41C4-ADB1-80DCF0485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413" y="3947543"/>
            <a:ext cx="2844800" cy="237256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CC008BE-BF0B-4416-ADDA-8C15FC4A8B8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1"/>
          <a:stretch/>
        </p:blipFill>
        <p:spPr>
          <a:xfrm>
            <a:off x="9155689" y="4058024"/>
            <a:ext cx="2984013" cy="215870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40A282F6-6899-43B1-AD39-80D6DA3E1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188" y="3711869"/>
            <a:ext cx="3325205" cy="29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460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A892-DD7B-3C90-1F2E-F88AEF8D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communication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C8A-A59B-41B1-12EC-B98D4489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28" y="1202909"/>
            <a:ext cx="11057708" cy="523220"/>
          </a:xfrm>
        </p:spPr>
        <p:txBody>
          <a:bodyPr/>
          <a:lstStyle/>
          <a:p>
            <a:r>
              <a:rPr lang="en-US" dirty="0">
                <a:latin typeface="+mj-lt"/>
              </a:rPr>
              <a:t>Distributed Learning: Frequent information interaction</a:t>
            </a:r>
          </a:p>
          <a:p>
            <a:pPr lvl="1"/>
            <a:r>
              <a:rPr lang="en-US" dirty="0">
                <a:latin typeface="+mj-lt"/>
              </a:rPr>
              <a:t>Large-scale data transmission</a:t>
            </a:r>
          </a:p>
          <a:p>
            <a:pPr lvl="1"/>
            <a:r>
              <a:rPr lang="en-US" dirty="0">
                <a:latin typeface="+mj-lt"/>
              </a:rPr>
              <a:t>Real-time collaboration</a:t>
            </a:r>
          </a:p>
          <a:p>
            <a:pPr lvl="1"/>
            <a:r>
              <a:rPr lang="en-US" dirty="0">
                <a:latin typeface="+mj-lt"/>
              </a:rPr>
              <a:t>Consistency 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Things get worse in distributed generative AI</a:t>
            </a:r>
            <a:r>
              <a:rPr lang="en-US" altLang="zh-CN" baseline="30000" dirty="0">
                <a:latin typeface="+mj-lt"/>
              </a:rPr>
              <a:t>[1]</a:t>
            </a:r>
            <a:r>
              <a:rPr lang="en-US" dirty="0">
                <a:latin typeface="+mj-lt"/>
              </a:rPr>
              <a:t>.</a:t>
            </a:r>
          </a:p>
          <a:p>
            <a:pPr lvl="1"/>
            <a:r>
              <a:rPr lang="en-US" altLang="zh-CN" dirty="0">
                <a:latin typeface="+mj-lt"/>
              </a:rPr>
              <a:t>Unprecedented model scale</a:t>
            </a:r>
          </a:p>
          <a:p>
            <a:pPr lvl="1"/>
            <a:r>
              <a:rPr lang="en-US" altLang="zh-CN" dirty="0">
                <a:latin typeface="+mj-lt"/>
              </a:rPr>
              <a:t> New training paradigm</a:t>
            </a:r>
          </a:p>
          <a:p>
            <a:pPr lvl="1"/>
            <a:r>
              <a:rPr lang="en-US" dirty="0">
                <a:latin typeface="+mj-lt"/>
              </a:rPr>
              <a:t>Efficiency (reducing gradient can conserve over 90% of time! </a:t>
            </a:r>
            <a:r>
              <a:rPr lang="en-US" baseline="30000" dirty="0">
                <a:latin typeface="+mj-lt"/>
              </a:rPr>
              <a:t>[2]</a:t>
            </a:r>
            <a:r>
              <a:rPr lang="en-US" dirty="0">
                <a:latin typeface="+mj-lt"/>
              </a:rPr>
              <a:t>)</a:t>
            </a:r>
          </a:p>
          <a:p>
            <a:pPr lvl="1"/>
            <a:r>
              <a:rPr lang="en-US" dirty="0">
                <a:latin typeface="+mj-lt"/>
              </a:rPr>
              <a:t>Reliability &amp; Scalability</a:t>
            </a:r>
          </a:p>
          <a:p>
            <a:pPr lvl="1"/>
            <a:r>
              <a:rPr lang="en-US" dirty="0">
                <a:latin typeface="+mj-lt"/>
              </a:rPr>
              <a:t>P</a:t>
            </a:r>
            <a:r>
              <a:rPr lang="en-US" altLang="zh-CN" dirty="0">
                <a:latin typeface="+mj-lt"/>
              </a:rPr>
              <a:t>rivacy </a:t>
            </a:r>
            <a:r>
              <a:rPr lang="en-US" altLang="zh-CN">
                <a:latin typeface="+mj-lt"/>
              </a:rPr>
              <a:t>&amp; security</a:t>
            </a: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234D4-D448-9A94-D634-BB665B409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>
                <a:latin typeface="+mj-lt"/>
              </a:rPr>
              <a:t>4</a:t>
            </a:fld>
            <a:endParaRPr lang="zh-CN" altLang="en-US" dirty="0">
              <a:latin typeface="+mj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7B3861-20B9-4301-B40C-6C37E471824F}"/>
              </a:ext>
            </a:extLst>
          </p:cNvPr>
          <p:cNvSpPr txBox="1"/>
          <p:nvPr/>
        </p:nvSpPr>
        <p:spPr>
          <a:xfrm>
            <a:off x="543741" y="6285384"/>
            <a:ext cx="1105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 Duan J, Zhang S, Wang Z, et al. Efficient training of large language models on distributed infrastructures: a survey[J].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arXiv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preprint arXiv:2407.20018, 2024.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[2] Zhao Y, Liu Y, Peng Y, et al. Multi-resource interleaving for deep learning training[C]//Proceedings of the ACM SIGCOMM 2022 Conference. 2022: 428-440.</a:t>
            </a:r>
          </a:p>
        </p:txBody>
      </p:sp>
    </p:spTree>
    <p:extLst>
      <p:ext uri="{BB962C8B-B14F-4D97-AF65-F5344CB8AC3E}">
        <p14:creationId xmlns:p14="http://schemas.microsoft.com/office/powerpoint/2010/main" val="22526917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A892-DD7B-3C90-1F2E-F88AEF8D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Communication Efficient</a:t>
            </a:r>
            <a:r>
              <a:rPr lang="en-US" dirty="0"/>
              <a:t> Distributed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C8A-A59B-41B1-12EC-B98D4489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24" y="1038188"/>
            <a:ext cx="11466075" cy="523220"/>
          </a:xfrm>
        </p:spPr>
        <p:txBody>
          <a:bodyPr/>
          <a:lstStyle/>
          <a:p>
            <a:r>
              <a:rPr lang="en-US" dirty="0">
                <a:latin typeface="+mj-lt"/>
              </a:rPr>
              <a:t>Existing methods:</a:t>
            </a:r>
          </a:p>
          <a:p>
            <a:pPr lvl="1"/>
            <a:r>
              <a:rPr lang="en-US" dirty="0">
                <a:latin typeface="+mj-lt"/>
              </a:rPr>
              <a:t>Scheduling: traffic control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dirty="0">
                <a:latin typeface="+mj-lt"/>
              </a:rPr>
              <a:t>, resource optimization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Sparsity &amp; compression: Sparse </a:t>
            </a:r>
            <a:r>
              <a:rPr lang="en-US" dirty="0" err="1">
                <a:latin typeface="+mj-lt"/>
              </a:rPr>
              <a:t>LoRA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dirty="0">
                <a:latin typeface="+mj-lt"/>
              </a:rPr>
              <a:t>, parameter compression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dirty="0">
                <a:latin typeface="+mj-lt"/>
              </a:rPr>
              <a:t>, parameter sketch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dirty="0">
                <a:latin typeface="+mj-lt"/>
              </a:rPr>
              <a:t>, knowledge distillation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+mj-lt"/>
            </a:endParaRPr>
          </a:p>
          <a:p>
            <a:pPr lvl="1"/>
            <a:r>
              <a:rPr lang="en-US" altLang="zh-CN" b="1" u="sng" dirty="0">
                <a:latin typeface="+mj-lt"/>
              </a:rPr>
              <a:t>Collective communication</a:t>
            </a:r>
            <a:r>
              <a:rPr lang="en-US" altLang="zh-CN" dirty="0">
                <a:latin typeface="+mj-lt"/>
              </a:rPr>
              <a:t>:</a:t>
            </a:r>
            <a:r>
              <a:rPr lang="en-US" dirty="0">
                <a:latin typeface="+mj-lt"/>
              </a:rPr>
              <a:t> </a:t>
            </a:r>
            <a:r>
              <a:rPr lang="en-US" altLang="zh-CN" dirty="0">
                <a:latin typeface="+mj-lt"/>
              </a:rPr>
              <a:t>probabilistic selection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[5],[8]</a:t>
            </a:r>
            <a:r>
              <a:rPr lang="en-US" altLang="zh-CN" dirty="0">
                <a:latin typeface="+mj-lt"/>
              </a:rPr>
              <a:t>,</a:t>
            </a:r>
            <a:r>
              <a:rPr lang="en-US" dirty="0">
                <a:latin typeface="+mj-lt"/>
              </a:rPr>
              <a:t> over the air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 refactoring: decentralized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[10]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hierarchical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[11]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adaptive topological structure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234D4-D448-9A94-D634-BB665B409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>
                <a:latin typeface="+mj-lt"/>
              </a:rPr>
              <a:t>5</a:t>
            </a:fld>
            <a:endParaRPr lang="zh-CN" altLang="en-US" dirty="0">
              <a:latin typeface="+mj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5B52B0-E9D0-4CA5-985B-B38BD645C750}"/>
              </a:ext>
            </a:extLst>
          </p:cNvPr>
          <p:cNvSpPr txBox="1"/>
          <p:nvPr/>
        </p:nvSpPr>
        <p:spPr>
          <a:xfrm>
            <a:off x="132199" y="5682327"/>
            <a:ext cx="110577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[1Jin H. Communication-Efficient Distributed LLM Training with Adaptive Traffic Control[C]//2024 IEEE International Conference on Big Data (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BigData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). IEEE, 2024: 8685-8687. 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</a:rPr>
              <a:t>[2] 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Shin M J, Hwang C, Kim J, et al.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Xor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mixup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Privacy-preserving data augmentation for one-shot federated learning[J].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arXiv:2006.05148, 2020. 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</a:rPr>
              <a:t>[2]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</a:rPr>
              <a:t>Nabli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</a:rPr>
              <a:t> A, Fournier L,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</a:rPr>
              <a:t>Erbacher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</a:rPr>
              <a:t> P, et al. ACCO: Accumulate while you Communicate, Hiding Communications in Distributed LLM Training[J].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</a:rPr>
              <a:t>arXiv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</a:rPr>
              <a:t> preprint arXiv:2406.02613, 2024.</a:t>
            </a:r>
            <a:endParaRPr lang="en-US" altLang="zh-CN" sz="9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[3]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Raje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A. Communication-Efficient LLM Training for Federated Learning[D]. Carnegie Mellon University Pittsburgh, PA, 2024.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[4] Mills J, Hu J, Min G. Communication-efficient federated learning for wireless edge intelligence in IoT[J]. IEEE Internet of Things Journal, 2019, 7(7): 5986-5994.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[5] Chen M,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Shlezinger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N, Poor H V, et al. Communication-efficient federated learning[J]. Proceedings of the National Academy of Sciences, 2021, 118(17): e2024789118.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[6] Shah A, Chidambaram V, Cowan M, et al. {TACCL}: Guiding collective algorithm synthesis using communication sketches[C]//20th USENIX Symposium on Networked Systems Design and Implementation (NSDI 23). 2023: 593-612.</a:t>
            </a:r>
            <a:b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[7] Wu C, Wu F,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Lyu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L, et al. Communication-efficient federated learning via knowledge distillation[J]. Nature communications, 2022, 13(1): 2032.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[8]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Ribero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M,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Vikalo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H. Communication-efficient federated learning via optimal client sampling[J].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arXiv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preprint arXiv:2007.15197, 2020.</a:t>
            </a:r>
          </a:p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[9] Yang K, Jiang T, Shi Y, et al. Federated learning via over-the-air computation[J]. IEEE transactions on wireless communications, 2020, 19(3): 2022-2035.</a:t>
            </a:r>
          </a:p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[10]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Beltrán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E T M, Pérez M Q, Sánchez P M S, et al. Decentralized federated learning: Fundamentals, state of the art, frameworks, trends, and challenges[J]. IEEE Communications Surveys &amp; Tutorials, 2023.</a:t>
            </a:r>
          </a:p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[11]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Su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L, Lau V K N. Hierarchical federated learning for hybrid data partitioning across multitype sensors[J]. IEEE Internet of Things Journal, 2021, 8(13): 10922-10939.</a:t>
            </a:r>
          </a:p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[12]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Marfoq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O, Xu C,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Neglia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G, et al. Throughput-optimal topology design for cross-silo federated learning[J]. Advances in Neural Information Processing Systems, 2020, 33: 19478-19487.</a:t>
            </a:r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5" name="TextBox 48">
            <a:extLst>
              <a:ext uri="{FF2B5EF4-FFF2-40B4-BE49-F238E27FC236}">
                <a16:creationId xmlns:a16="http://schemas.microsoft.com/office/drawing/2014/main" id="{2C8EF078-3E67-4641-A729-E9627F80F112}"/>
              </a:ext>
            </a:extLst>
          </p:cNvPr>
          <p:cNvSpPr txBox="1"/>
          <p:nvPr/>
        </p:nvSpPr>
        <p:spPr>
          <a:xfrm>
            <a:off x="568855" y="5251466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263AA0-3AEB-47F5-BD24-6800E171A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199" y="3722212"/>
            <a:ext cx="4856568" cy="15293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9EDA54-B70B-43F9-B705-A0C9AEBB9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1880" y="3357305"/>
            <a:ext cx="2090125" cy="1946686"/>
          </a:xfrm>
          <a:prstGeom prst="rect">
            <a:avLst/>
          </a:prstGeom>
        </p:spPr>
      </p:pic>
      <p:sp>
        <p:nvSpPr>
          <p:cNvPr id="20" name="TextBox 48">
            <a:extLst>
              <a:ext uri="{FF2B5EF4-FFF2-40B4-BE49-F238E27FC236}">
                <a16:creationId xmlns:a16="http://schemas.microsoft.com/office/drawing/2014/main" id="{C1980294-0A1D-45E4-B06C-F3C53E26C34F}"/>
              </a:ext>
            </a:extLst>
          </p:cNvPr>
          <p:cNvSpPr txBox="1"/>
          <p:nvPr/>
        </p:nvSpPr>
        <p:spPr>
          <a:xfrm>
            <a:off x="4487510" y="5303991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communication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ADE3B6-CDA8-4921-B4C8-84A0ED0AD0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4"/>
          <a:stretch/>
        </p:blipFill>
        <p:spPr>
          <a:xfrm>
            <a:off x="7988299" y="3396053"/>
            <a:ext cx="4080103" cy="1784880"/>
          </a:xfrm>
          <a:prstGeom prst="rect">
            <a:avLst/>
          </a:prstGeom>
        </p:spPr>
      </p:pic>
      <p:sp>
        <p:nvSpPr>
          <p:cNvPr id="23" name="TextBox 48">
            <a:extLst>
              <a:ext uri="{FF2B5EF4-FFF2-40B4-BE49-F238E27FC236}">
                <a16:creationId xmlns:a16="http://schemas.microsoft.com/office/drawing/2014/main" id="{81637168-DE78-4F85-961D-D9AAA8AE2D2C}"/>
              </a:ext>
            </a:extLst>
          </p:cNvPr>
          <p:cNvSpPr txBox="1"/>
          <p:nvPr/>
        </p:nvSpPr>
        <p:spPr>
          <a:xfrm>
            <a:off x="8309536" y="5189937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selection</a:t>
            </a:r>
          </a:p>
        </p:txBody>
      </p:sp>
    </p:spTree>
    <p:extLst>
      <p:ext uri="{BB962C8B-B14F-4D97-AF65-F5344CB8AC3E}">
        <p14:creationId xmlns:p14="http://schemas.microsoft.com/office/powerpoint/2010/main" val="2596318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16E53-F971-2805-F546-6C1F554E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EA569-145E-DC64-8D43-2F12F0A7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194F4D-C423-9805-EB49-1460F4557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829" y="1346200"/>
            <a:ext cx="6464300" cy="3886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Distributed Generative AI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Communications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Wireless-informed distributed Generative AI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4A547-BD5E-7B7D-AA3F-28781EF18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5052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39A5E-ED03-B298-0795-404D906A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6644569" cy="3886200"/>
          </a:xfrm>
        </p:spPr>
        <p:txBody>
          <a:bodyPr/>
          <a:lstStyle/>
          <a:p>
            <a:r>
              <a:rPr lang="en-US" altLang="zh-CN" dirty="0"/>
              <a:t>Wireless communication networks</a:t>
            </a:r>
          </a:p>
          <a:p>
            <a:pPr lvl="1"/>
            <a:r>
              <a:rPr lang="en-US" altLang="zh-CN" dirty="0"/>
              <a:t>Radio communication</a:t>
            </a:r>
          </a:p>
          <a:p>
            <a:pPr lvl="1"/>
            <a:r>
              <a:rPr lang="en-US" altLang="zh-CN" dirty="0"/>
              <a:t>Cellular communication</a:t>
            </a:r>
          </a:p>
          <a:p>
            <a:pPr lvl="1"/>
            <a:r>
              <a:rPr lang="en-US" altLang="zh-CN" dirty="0"/>
              <a:t>Satellite communications</a:t>
            </a:r>
          </a:p>
          <a:p>
            <a:pPr lvl="1"/>
            <a:r>
              <a:rPr lang="en-US" altLang="zh-CN" dirty="0" err="1"/>
              <a:t>WiFi</a:t>
            </a:r>
            <a:r>
              <a:rPr lang="en-US" altLang="zh-CN" dirty="0"/>
              <a:t> &amp; Bluetooth</a:t>
            </a:r>
          </a:p>
          <a:p>
            <a:pPr lvl="1"/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en-US" altLang="zh-CN" dirty="0"/>
              <a:t>Communication Link</a:t>
            </a:r>
          </a:p>
          <a:p>
            <a:pPr lvl="1"/>
            <a:r>
              <a:rPr lang="en-US" altLang="zh-CN" dirty="0"/>
              <a:t>Modulation &amp; demodulation </a:t>
            </a:r>
          </a:p>
          <a:p>
            <a:pPr lvl="2"/>
            <a:r>
              <a:rPr lang="en-US" altLang="zh-CN" dirty="0"/>
              <a:t>efficient communication</a:t>
            </a:r>
          </a:p>
          <a:p>
            <a:pPr lvl="1"/>
            <a:r>
              <a:rPr lang="en-US" altLang="zh-CN" dirty="0"/>
              <a:t>Channel</a:t>
            </a:r>
          </a:p>
          <a:p>
            <a:pPr lvl="2"/>
            <a:r>
              <a:rPr lang="en-US" altLang="zh-CN" dirty="0"/>
              <a:t>Fading, bandwidth(throughput), path loss, shadowing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98B579-C897-452A-82EE-B168BD0EC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502" y="1126447"/>
            <a:ext cx="5274353" cy="5274353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852CC678-DBA5-4FD8-B6BA-D81A7D8404EC}"/>
              </a:ext>
            </a:extLst>
          </p:cNvPr>
          <p:cNvGrpSpPr/>
          <p:nvPr/>
        </p:nvGrpSpPr>
        <p:grpSpPr>
          <a:xfrm>
            <a:off x="6065463" y="1665352"/>
            <a:ext cx="5453064" cy="4099332"/>
            <a:chOff x="3157163" y="1733962"/>
            <a:chExt cx="5453064" cy="409933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F254FA0-1958-4269-A47B-EFD3F320B8B8}"/>
                </a:ext>
              </a:extLst>
            </p:cNvPr>
            <p:cNvSpPr/>
            <p:nvPr/>
          </p:nvSpPr>
          <p:spPr bwMode="auto">
            <a:xfrm>
              <a:off x="5056408" y="2324763"/>
              <a:ext cx="1662331" cy="37837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Encoder</a:t>
              </a:r>
              <a:endParaRPr kumimoji="0" lang="zh-CN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69B2328-2E42-456B-B887-F006C1954EA4}"/>
                </a:ext>
              </a:extLst>
            </p:cNvPr>
            <p:cNvSpPr/>
            <p:nvPr/>
          </p:nvSpPr>
          <p:spPr bwMode="auto">
            <a:xfrm>
              <a:off x="5056407" y="3006447"/>
              <a:ext cx="1662331" cy="37837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Modulator</a:t>
              </a:r>
              <a:endParaRPr kumimoji="0" lang="zh-CN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CFD948C-9A42-4299-9BA2-BA81965E39D6}"/>
                </a:ext>
              </a:extLst>
            </p:cNvPr>
            <p:cNvSpPr/>
            <p:nvPr/>
          </p:nvSpPr>
          <p:spPr bwMode="auto">
            <a:xfrm>
              <a:off x="5056405" y="4521040"/>
              <a:ext cx="1662331" cy="37837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Demodulator</a:t>
              </a:r>
              <a:endParaRPr kumimoji="0" lang="zh-CN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06C4567-E6FE-4B1D-B24D-FF9CFACB8393}"/>
                </a:ext>
              </a:extLst>
            </p:cNvPr>
            <p:cNvSpPr/>
            <p:nvPr/>
          </p:nvSpPr>
          <p:spPr bwMode="auto">
            <a:xfrm>
              <a:off x="5056406" y="3616049"/>
              <a:ext cx="1662331" cy="58774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Wireless channel</a:t>
              </a:r>
              <a:endParaRPr kumimoji="0" lang="zh-CN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51E9205-B450-42C1-BC63-35DCA517E144}"/>
                </a:ext>
              </a:extLst>
            </p:cNvPr>
            <p:cNvSpPr/>
            <p:nvPr/>
          </p:nvSpPr>
          <p:spPr bwMode="auto">
            <a:xfrm>
              <a:off x="5056405" y="5206984"/>
              <a:ext cx="1662331" cy="37837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Decoder</a:t>
              </a:r>
              <a:endParaRPr kumimoji="0" lang="zh-CN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AA42EC35-C1D0-41AD-881F-2995B73DD621}"/>
                </a:ext>
              </a:extLst>
            </p:cNvPr>
            <p:cNvCxnSpPr>
              <a:endCxn id="8" idx="0"/>
            </p:cNvCxnSpPr>
            <p:nvPr/>
          </p:nvCxnSpPr>
          <p:spPr bwMode="auto">
            <a:xfrm>
              <a:off x="5887570" y="1733962"/>
              <a:ext cx="4" cy="59080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45049EB1-E921-498A-B57E-92053F6CA754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 bwMode="auto">
            <a:xfrm flipH="1">
              <a:off x="5887573" y="2703135"/>
              <a:ext cx="1" cy="30331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92CF375A-B217-4CBC-84DA-0298B3681AF3}"/>
                </a:ext>
              </a:extLst>
            </p:cNvPr>
            <p:cNvCxnSpPr>
              <a:stCxn id="10" idx="2"/>
              <a:endCxn id="12" idx="0"/>
            </p:cNvCxnSpPr>
            <p:nvPr/>
          </p:nvCxnSpPr>
          <p:spPr bwMode="auto">
            <a:xfrm flipH="1">
              <a:off x="5887572" y="3384819"/>
              <a:ext cx="1" cy="2312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C2EA5FDE-7A5B-4297-BFE4-B93DDE3BD8EC}"/>
                </a:ext>
              </a:extLst>
            </p:cNvPr>
            <p:cNvCxnSpPr>
              <a:stCxn id="12" idx="2"/>
              <a:endCxn id="11" idx="0"/>
            </p:cNvCxnSpPr>
            <p:nvPr/>
          </p:nvCxnSpPr>
          <p:spPr bwMode="auto">
            <a:xfrm flipH="1">
              <a:off x="5887571" y="4203796"/>
              <a:ext cx="1" cy="3172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D3051211-712B-47B1-A2D0-BA3CFB6B1802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 bwMode="auto">
            <a:xfrm>
              <a:off x="5887571" y="4899412"/>
              <a:ext cx="0" cy="3075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0B0472C-5296-4F31-9D94-C90097F6CF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228"/>
            <a:stretch/>
          </p:blipFill>
          <p:spPr>
            <a:xfrm>
              <a:off x="6801300" y="2064028"/>
              <a:ext cx="1548699" cy="899841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2789477-58DB-4FA5-9E7E-E232128492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441"/>
            <a:stretch/>
          </p:blipFill>
          <p:spPr>
            <a:xfrm>
              <a:off x="6718736" y="3141328"/>
              <a:ext cx="1891491" cy="929373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AF656BFD-6E9C-4C6B-BAC7-C63CC76088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62" b="31810"/>
            <a:stretch/>
          </p:blipFill>
          <p:spPr>
            <a:xfrm>
              <a:off x="3157163" y="2779635"/>
              <a:ext cx="1891491" cy="1003199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48F3B08-57F1-495C-8675-2AD09364A3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228"/>
            <a:stretch/>
          </p:blipFill>
          <p:spPr>
            <a:xfrm>
              <a:off x="6801300" y="4933453"/>
              <a:ext cx="1548699" cy="899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5704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Communications</a:t>
            </a:r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zh-CN" altLang="en-US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39A5E-ED03-B298-0795-404D906A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8128000" cy="3886200"/>
          </a:xfrm>
        </p:spPr>
        <p:txBody>
          <a:bodyPr/>
          <a:lstStyle/>
          <a:p>
            <a:r>
              <a:rPr lang="en-US" altLang="zh-CN" dirty="0"/>
              <a:t>In-phase and quadrature components (I/Q modulation)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Improved bandwidth utilization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Benefit in high order digital modulation (Constellation map)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Reduce sideband interference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7E38E2-80B4-41FE-B57E-C510303C2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179" y="3022587"/>
            <a:ext cx="6444921" cy="29086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C97D28-2702-4104-A0A7-3A82F1E18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9" y="3121875"/>
            <a:ext cx="5842000" cy="276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488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– Channel Model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8BFEDD-1428-49FD-A5DC-87F75271FC2D}"/>
              </a:ext>
            </a:extLst>
          </p:cNvPr>
          <p:cNvSpPr txBox="1"/>
          <p:nvPr/>
        </p:nvSpPr>
        <p:spPr>
          <a:xfrm>
            <a:off x="198145" y="6318084"/>
            <a:ext cx="111810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Zou C, Yang F, Song J, et al. Channel autoencoder for wireless communication: State of the art, challenges, and trends[J]. IEEE Communications Magazine, 2021, 59(5): 136-142.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[2] Wagle S, Malhotra A, Hamidi-Rad S, et al. Physics-Informed Generative Approaches for Wireless Channel Modeling[J].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arXiv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preprint arXiv:2503.05988, 2025.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[3] Zhang X, Liu Y, Zhou S, et al. GAN-Based Channel Generation and Modeling for 6G Intelligent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IIoT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Communications[J]. IEEE Internet of Things Journal, 2025.</a:t>
            </a:r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8C7FB2-AB1D-4215-B3C4-5BD1A5F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2019314"/>
            <a:ext cx="11379200" cy="3886200"/>
          </a:xfrm>
        </p:spPr>
        <p:txBody>
          <a:bodyPr/>
          <a:lstStyle/>
          <a:p>
            <a:r>
              <a:rPr lang="en-US" altLang="zh-CN" dirty="0"/>
              <a:t>Traditional model</a:t>
            </a:r>
          </a:p>
          <a:p>
            <a:pPr lvl="1"/>
            <a:r>
              <a:rPr lang="en-US" altLang="zh-CN" dirty="0"/>
              <a:t>Pass loss</a:t>
            </a:r>
          </a:p>
          <a:p>
            <a:pPr lvl="1"/>
            <a:r>
              <a:rPr lang="en-US" altLang="zh-CN" dirty="0"/>
              <a:t>Doppler shift (Filtered white Gaussian noise model)</a:t>
            </a:r>
          </a:p>
          <a:p>
            <a:r>
              <a:rPr lang="en-US" altLang="zh-CN" dirty="0"/>
              <a:t>Generative AI based Channel modeling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54413C-952C-483C-AE38-197047172FB8}"/>
              </a:ext>
            </a:extLst>
          </p:cNvPr>
          <p:cNvSpPr txBox="1"/>
          <p:nvPr/>
        </p:nvSpPr>
        <p:spPr>
          <a:xfrm>
            <a:off x="531946" y="1003524"/>
            <a:ext cx="10567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 Quantifying the influence of wireless environments</a:t>
            </a: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B189B4A-6139-3D4A-2958-C939B9903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2466795"/>
            <a:ext cx="3987800" cy="433132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398B1F-61B1-46A0-8951-05A1F4E25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038516"/>
              </p:ext>
            </p:extLst>
          </p:nvPr>
        </p:nvGraphicFramePr>
        <p:xfrm>
          <a:off x="4162425" y="1570038"/>
          <a:ext cx="1811338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5" imgW="1041120" imgH="279360" progId="Equation.DSMT4">
                  <p:embed/>
                </p:oleObj>
              </mc:Choice>
              <mc:Fallback>
                <p:oleObj name="Equation" r:id="rId5" imgW="104112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E5ACAE2-CF2D-4121-B42B-7A5935890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2425" y="1570038"/>
                        <a:ext cx="1811338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7613F96C-7E3D-4287-9085-869C1FA30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41" y="3697868"/>
            <a:ext cx="3479960" cy="2356223"/>
          </a:xfrm>
          <a:prstGeom prst="rect">
            <a:avLst/>
          </a:prstGeom>
        </p:spPr>
      </p:pic>
      <p:sp>
        <p:nvSpPr>
          <p:cNvPr id="16" name="TextBox 48">
            <a:extLst>
              <a:ext uri="{FF2B5EF4-FFF2-40B4-BE49-F238E27FC236}">
                <a16:creationId xmlns:a16="http://schemas.microsoft.com/office/drawing/2014/main" id="{A975E23B-980E-4B75-86EF-24583EACDA93}"/>
              </a:ext>
            </a:extLst>
          </p:cNvPr>
          <p:cNvSpPr txBox="1"/>
          <p:nvPr/>
        </p:nvSpPr>
        <p:spPr>
          <a:xfrm>
            <a:off x="799941" y="6028752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 based channel model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E473AAB-B15A-4D26-BE25-DD8EDB581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8587" y="4107646"/>
            <a:ext cx="3479960" cy="1536667"/>
          </a:xfrm>
          <a:prstGeom prst="rect">
            <a:avLst/>
          </a:prstGeom>
        </p:spPr>
      </p:pic>
      <p:sp>
        <p:nvSpPr>
          <p:cNvPr id="19" name="TextBox 48">
            <a:extLst>
              <a:ext uri="{FF2B5EF4-FFF2-40B4-BE49-F238E27FC236}">
                <a16:creationId xmlns:a16="http://schemas.microsoft.com/office/drawing/2014/main" id="{56292B6C-CF33-4B27-A39F-68F86CCD0E45}"/>
              </a:ext>
            </a:extLst>
          </p:cNvPr>
          <p:cNvSpPr txBox="1"/>
          <p:nvPr/>
        </p:nvSpPr>
        <p:spPr>
          <a:xfrm>
            <a:off x="4318087" y="6028752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Physic-inspired channel model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268987D-17FC-42D6-B0F0-290E7B21D3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2422" y="3939860"/>
            <a:ext cx="4012577" cy="1283033"/>
          </a:xfrm>
          <a:prstGeom prst="rect">
            <a:avLst/>
          </a:prstGeom>
        </p:spPr>
      </p:pic>
      <p:sp>
        <p:nvSpPr>
          <p:cNvPr id="24" name="TextBox 48">
            <a:extLst>
              <a:ext uri="{FF2B5EF4-FFF2-40B4-BE49-F238E27FC236}">
                <a16:creationId xmlns:a16="http://schemas.microsoft.com/office/drawing/2014/main" id="{B904130A-5DBA-4622-BB8E-25D5885E0913}"/>
              </a:ext>
            </a:extLst>
          </p:cNvPr>
          <p:cNvSpPr txBox="1"/>
          <p:nvPr/>
        </p:nvSpPr>
        <p:spPr>
          <a:xfrm>
            <a:off x="7861923" y="5914463"/>
            <a:ext cx="37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based channel model</a:t>
            </a:r>
          </a:p>
        </p:txBody>
      </p:sp>
    </p:spTree>
    <p:extLst>
      <p:ext uri="{BB962C8B-B14F-4D97-AF65-F5344CB8AC3E}">
        <p14:creationId xmlns:p14="http://schemas.microsoft.com/office/powerpoint/2010/main" val="13506292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37851C-D328-455D-8F28-D099E5354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2" y="2416726"/>
            <a:ext cx="4130048" cy="21717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– Channel Multiplexing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8BFEDD-1428-49FD-A5DC-87F75271FC2D}"/>
              </a:ext>
            </a:extLst>
          </p:cNvPr>
          <p:cNvSpPr txBox="1"/>
          <p:nvPr/>
        </p:nvSpPr>
        <p:spPr>
          <a:xfrm>
            <a:off x="198145" y="6201247"/>
            <a:ext cx="11181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Kairouz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P, McMahan H B, Avent B, et al. Advances and open problems in federated learning[J]. Foundations and trends® in machine learning, 2021, 14(1–2): 1-210.</a:t>
            </a:r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8C7FB2-AB1D-4215-B3C4-5BD1A5F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8902700" cy="3886200"/>
          </a:xfrm>
        </p:spPr>
        <p:txBody>
          <a:bodyPr/>
          <a:lstStyle/>
          <a:p>
            <a:r>
              <a:rPr lang="en-US" altLang="zh-CN" dirty="0"/>
              <a:t> Orthogonal frequency-division multiplexing</a:t>
            </a:r>
            <a:r>
              <a:rPr lang="zh-CN" altLang="en-US" dirty="0"/>
              <a:t>（</a:t>
            </a:r>
            <a:r>
              <a:rPr lang="en-US" altLang="zh-CN" dirty="0"/>
              <a:t>OFDM for 4G and 5G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If the bandwidth of signal is lager than the channel bandwidth, the transmitted signal will be distorted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OFDM: separate the carrier wave into orthogonal sub-wave</a:t>
            </a:r>
          </a:p>
          <a:p>
            <a:pPr lvl="2"/>
            <a:r>
              <a:rPr lang="en-US" altLang="zh-CN" dirty="0"/>
              <a:t>High spectral efficiency</a:t>
            </a:r>
          </a:p>
          <a:p>
            <a:pPr lvl="2"/>
            <a:r>
              <a:rPr lang="en-US" altLang="zh-CN" dirty="0"/>
              <a:t>Robust against co-channel interference</a:t>
            </a:r>
          </a:p>
          <a:p>
            <a:pPr lvl="2"/>
            <a:r>
              <a:rPr lang="en-US" altLang="zh-CN" dirty="0"/>
              <a:t>Efficient implementation FFT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A4879C9-5F98-46B6-AF4D-9DE987F80E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2537" y="2380619"/>
            <a:ext cx="6154009" cy="42868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07D3996-B549-49CD-93DC-1DCA71124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95" y="1975190"/>
            <a:ext cx="3134162" cy="2191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C4E24FB-B9B5-4023-8DE9-EFA22DB3E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900" y="3495586"/>
            <a:ext cx="3343742" cy="638264"/>
          </a:xfrm>
          <a:prstGeom prst="rect">
            <a:avLst/>
          </a:prstGeom>
        </p:spPr>
      </p:pic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8F6F869-2A13-4A4A-AE78-0BE80D0B9F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868090"/>
              </p:ext>
            </p:extLst>
          </p:nvPr>
        </p:nvGraphicFramePr>
        <p:xfrm>
          <a:off x="6488048" y="3602037"/>
          <a:ext cx="95091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Equation" r:id="rId8" imgW="545760" imgH="253800" progId="Equation.DSMT4">
                  <p:embed/>
                </p:oleObj>
              </mc:Choice>
              <mc:Fallback>
                <p:oleObj name="Equation" r:id="rId8" imgW="545760" imgH="253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8553B9-B62C-4049-A540-CD033D8F8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88048" y="3602037"/>
                        <a:ext cx="950912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43205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B3FCF5DB-254B-45C5-9371-59332C638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775" y="3082530"/>
            <a:ext cx="6274395" cy="7422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– Channel Multiplexing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C18C7FB2-AB1D-4215-B3C4-5BD1A5F62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1142433"/>
                <a:ext cx="7372922" cy="3886200"/>
              </a:xfrm>
            </p:spPr>
            <p:txBody>
              <a:bodyPr/>
              <a:lstStyle/>
              <a:p>
                <a:r>
                  <a:rPr lang="en-US" altLang="zh-CN" dirty="0"/>
                  <a:t>OFDM</a:t>
                </a:r>
              </a:p>
              <a:p>
                <a:pPr lvl="1"/>
                <a:r>
                  <a:rPr lang="en-US" altLang="zh-CN" dirty="0"/>
                  <a:t>The transmitted signal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carrier with bandwidth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dirty="0"/>
                  <a:t> can be divided into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/>
                  <a:t> orthogonal sub signal</a:t>
                </a:r>
              </a:p>
              <a:p>
                <a:pPr lvl="1"/>
                <a:r>
                  <a:rPr lang="en-US" altLang="zh-CN" dirty="0"/>
                  <a:t>The transmitting signal is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The received signal can be reversed as</a:t>
                </a:r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C18C7FB2-AB1D-4215-B3C4-5BD1A5F62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142433"/>
                <a:ext cx="7372922" cy="3886200"/>
              </a:xfrm>
              <a:blipFill>
                <a:blip r:embed="rId4"/>
                <a:stretch>
                  <a:fillRect l="-744" t="-1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F5FE0D29-DCA2-4184-A9A4-DC532A69E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030" y="1745098"/>
            <a:ext cx="1038370" cy="28579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58F34D9-74D7-4C06-A3DF-0BD81B5B7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019" y="2365519"/>
            <a:ext cx="4298606" cy="81926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2C1E02A-5FCD-4E9A-9E6D-B9EA3D07F0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286" y="2089911"/>
            <a:ext cx="1695687" cy="25721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C906F36-9EB7-4EDD-ADA9-AA88B7E7809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" y="4208735"/>
            <a:ext cx="3126728" cy="163979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98B3C6D-DF96-4357-9D57-FAE403E06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095" y="3824755"/>
            <a:ext cx="6105670" cy="288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397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– Metrics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8C7FB2-AB1D-4215-B3C4-5BD1A5F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5763172" cy="3886200"/>
          </a:xfrm>
        </p:spPr>
        <p:txBody>
          <a:bodyPr/>
          <a:lstStyle/>
          <a:p>
            <a:r>
              <a:rPr lang="en-US" altLang="zh-CN" dirty="0"/>
              <a:t> Signal-to-Noise Ratio (SNR)</a:t>
            </a:r>
          </a:p>
          <a:p>
            <a:endParaRPr lang="en-US" altLang="zh-CN" dirty="0"/>
          </a:p>
          <a:p>
            <a:r>
              <a:rPr lang="en-US" altLang="zh-CN" dirty="0"/>
              <a:t>Bit  Error Rate (BER)</a:t>
            </a:r>
          </a:p>
          <a:p>
            <a:endParaRPr lang="en-US" altLang="zh-CN" dirty="0"/>
          </a:p>
          <a:p>
            <a:r>
              <a:rPr lang="en-US" altLang="zh-CN" dirty="0"/>
              <a:t>Throughput</a:t>
            </a:r>
          </a:p>
          <a:p>
            <a:endParaRPr lang="en-US" altLang="zh-CN" dirty="0"/>
          </a:p>
          <a:p>
            <a:r>
              <a:rPr lang="en-US" altLang="zh-CN" dirty="0"/>
              <a:t>Latency</a:t>
            </a:r>
          </a:p>
          <a:p>
            <a:pPr lvl="1"/>
            <a:r>
              <a:rPr lang="en-US" altLang="zh-CN" dirty="0"/>
              <a:t>Transmission latency</a:t>
            </a:r>
          </a:p>
          <a:p>
            <a:pPr lvl="1"/>
            <a:r>
              <a:rPr lang="en-US" altLang="zh-CN" dirty="0"/>
              <a:t>Processing latency</a:t>
            </a:r>
          </a:p>
          <a:p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F0A275-FD00-48E8-80F0-79897947C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69651"/>
              </p:ext>
            </p:extLst>
          </p:nvPr>
        </p:nvGraphicFramePr>
        <p:xfrm>
          <a:off x="4225925" y="1498600"/>
          <a:ext cx="16573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4" imgW="952200" imgH="533160" progId="Equation.DSMT4">
                  <p:embed/>
                </p:oleObj>
              </mc:Choice>
              <mc:Fallback>
                <p:oleObj name="Equation" r:id="rId4" imgW="952200" imgH="5331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36BB9CC-C47E-40B7-85C5-3B42D983EC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5925" y="1498600"/>
                        <a:ext cx="165735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E5ACAE2-CF2D-4121-B42B-7A5935890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884585"/>
              </p:ext>
            </p:extLst>
          </p:nvPr>
        </p:nvGraphicFramePr>
        <p:xfrm>
          <a:off x="4049713" y="2655888"/>
          <a:ext cx="20542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6" name="Equation" r:id="rId6" imgW="1180800" imgH="291960" progId="Equation.DSMT4">
                  <p:embed/>
                </p:oleObj>
              </mc:Choice>
              <mc:Fallback>
                <p:oleObj name="Equation" r:id="rId6" imgW="1180800" imgH="291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BF0A275-FD00-48E8-80F0-79897947C8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49713" y="2655888"/>
                        <a:ext cx="2054225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B8553B9-B62C-4049-A540-CD033D8F86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556001"/>
              </p:ext>
            </p:extLst>
          </p:nvPr>
        </p:nvGraphicFramePr>
        <p:xfrm>
          <a:off x="4265613" y="3417888"/>
          <a:ext cx="88423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7" name="Equation" r:id="rId8" imgW="507960" imgH="304560" progId="Equation.DSMT4">
                  <p:embed/>
                </p:oleObj>
              </mc:Choice>
              <mc:Fallback>
                <p:oleObj name="Equation" r:id="rId8" imgW="50796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E5ACAE2-CF2D-4121-B42B-7A5935890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65613" y="3417888"/>
                        <a:ext cx="884237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87151D6-009E-4F03-AC19-418401D09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669054"/>
              </p:ext>
            </p:extLst>
          </p:nvPr>
        </p:nvGraphicFramePr>
        <p:xfrm>
          <a:off x="3662363" y="3871913"/>
          <a:ext cx="2565400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8" name="Equation" r:id="rId10" imgW="1473120" imgH="1015920" progId="Equation.DSMT4">
                  <p:embed/>
                </p:oleObj>
              </mc:Choice>
              <mc:Fallback>
                <p:oleObj name="Equation" r:id="rId10" imgW="1473120" imgH="10159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8553B9-B62C-4049-A540-CD033D8F8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62363" y="3871913"/>
                        <a:ext cx="2565400" cy="176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51334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643C-B0B1-FEFB-1A7A-C504EE68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21B45-7B06-FABC-6A8B-9841DA8A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7E70C7-1D63-A0F1-3702-EBCF951F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828" y="1346200"/>
            <a:ext cx="9253071" cy="3886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Distributed Generative AI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Wireless Communications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Wireless-informed distributed Generative AI</a:t>
            </a:r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7476D-5606-8508-D3D2-25933D2BBD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057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altLang="zh-CN" dirty="0"/>
              <a:t>Multiple access channel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8BFEDD-1428-49FD-A5DC-87F75271FC2D}"/>
              </a:ext>
            </a:extLst>
          </p:cNvPr>
          <p:cNvSpPr txBox="1"/>
          <p:nvPr/>
        </p:nvSpPr>
        <p:spPr>
          <a:xfrm>
            <a:off x="198145" y="6388609"/>
            <a:ext cx="1118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 </a:t>
            </a:r>
            <a:r>
              <a:rPr lang="en-US" altLang="zh-CN" sz="900" i="0" dirty="0" err="1">
                <a:latin typeface="+mn-lt"/>
                <a:ea typeface="宋体" panose="02010600030101010101" pitchFamily="2" charset="-122"/>
              </a:rPr>
              <a:t>Şahin</a:t>
            </a:r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 A, Yang R. A survey on over-the-air computation[J]. IEEE Communications Surveys &amp; Tutorials, 2023, 25(3): 1877-1908.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[2] Zheng J, </a:t>
            </a:r>
            <a:r>
              <a:rPr lang="en-US" altLang="zh-CN" sz="900" i="0" dirty="0" err="1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Niyato</a:t>
            </a:r>
            <a:r>
              <a:rPr lang="en-US" altLang="zh-CN" sz="900" i="0" dirty="0">
                <a:solidFill>
                  <a:srgbClr val="22222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D, Zhang H, et al. Over-the-air Wireless Federated Learning Model for Generative AI[J]. IEEE Network, 2025.</a:t>
            </a:r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8C7FB2-AB1D-4215-B3C4-5BD1A5F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9232900" cy="3886200"/>
          </a:xfrm>
        </p:spPr>
        <p:txBody>
          <a:bodyPr/>
          <a:lstStyle/>
          <a:p>
            <a:r>
              <a:rPr lang="en-US" altLang="zh-CN" dirty="0"/>
              <a:t> Multiple access channel</a:t>
            </a:r>
          </a:p>
          <a:p>
            <a:pPr lvl="2"/>
            <a:r>
              <a:rPr lang="en-US" altLang="zh-CN" dirty="0"/>
              <a:t>Allow over the air analog aggregation of via simultaneous transmission </a:t>
            </a:r>
          </a:p>
          <a:p>
            <a:pPr lvl="2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17CF88-3C06-4ACE-8CF2-F9EBD4E8A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047" y="3624241"/>
            <a:ext cx="1828159" cy="18281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80BBEE-68DD-41E1-9781-001C56638B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068" y="1330457"/>
            <a:ext cx="1828159" cy="1775712"/>
          </a:xfrm>
          <a:prstGeom prst="rect">
            <a:avLst/>
          </a:prstGeom>
        </p:spPr>
      </p:pic>
      <p:sp>
        <p:nvSpPr>
          <p:cNvPr id="11" name="Right Arrow 4">
            <a:extLst>
              <a:ext uri="{FF2B5EF4-FFF2-40B4-BE49-F238E27FC236}">
                <a16:creationId xmlns:a16="http://schemas.microsoft.com/office/drawing/2014/main" id="{ACA064AD-0C66-4C22-95EC-1244D3BE717F}"/>
              </a:ext>
            </a:extLst>
          </p:cNvPr>
          <p:cNvSpPr/>
          <p:nvPr/>
        </p:nvSpPr>
        <p:spPr>
          <a:xfrm rot="5400000">
            <a:off x="10258247" y="3177941"/>
            <a:ext cx="718017" cy="704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B8E1A3-2BB8-4977-99C0-14F1B93C0CDE}"/>
              </a:ext>
            </a:extLst>
          </p:cNvPr>
          <p:cNvSpPr txBox="1"/>
          <p:nvPr/>
        </p:nvSpPr>
        <p:spPr>
          <a:xfrm>
            <a:off x="5042138" y="5741525"/>
            <a:ext cx="9232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efficiency: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8AF83F6-6E6D-4D2E-8283-4334970B2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33938"/>
              </p:ext>
            </p:extLst>
          </p:nvPr>
        </p:nvGraphicFramePr>
        <p:xfrm>
          <a:off x="9298923" y="5675289"/>
          <a:ext cx="16351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6" imgW="939600" imgH="393480" progId="Equation.DSMT4">
                  <p:embed/>
                </p:oleObj>
              </mc:Choice>
              <mc:Fallback>
                <p:oleObj name="Equation" r:id="rId6" imgW="939600" imgH="3934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CB5B903-3E73-427C-A1B7-7EA5680F1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98923" y="5675289"/>
                        <a:ext cx="1635125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7592701-634C-4178-B7E3-DD5983C370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1720" y="2127052"/>
            <a:ext cx="2501380" cy="42737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5EDBD2C-454B-4BF7-82B5-D5C272DF8A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223" y="2173998"/>
            <a:ext cx="4645129" cy="3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7507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altLang="zh-CN" sz="36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bit Compressive Sensing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8BFEDD-1428-49FD-A5DC-87F75271FC2D}"/>
              </a:ext>
            </a:extLst>
          </p:cNvPr>
          <p:cNvSpPr txBox="1"/>
          <p:nvPr/>
        </p:nvSpPr>
        <p:spPr>
          <a:xfrm>
            <a:off x="198145" y="6201247"/>
            <a:ext cx="11181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Fan X, Wang Y,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Huo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Y, et al. 1-bit compressive sensing for efficient federated learning over the air[J]. IEEE transactions on wireless communications, 2022, 22(3): 2139-2155.</a:t>
            </a:r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18C7FB2-AB1D-4215-B3C4-5BD1A5F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9232900" cy="3886200"/>
          </a:xfrm>
        </p:spPr>
        <p:txBody>
          <a:bodyPr/>
          <a:lstStyle/>
          <a:p>
            <a:r>
              <a:rPr lang="en-US" altLang="zh-CN" dirty="0"/>
              <a:t> Algorithm</a:t>
            </a:r>
          </a:p>
          <a:p>
            <a:pPr lvl="1"/>
            <a:r>
              <a:rPr lang="en-US" altLang="zh-CN" dirty="0"/>
              <a:t>Top-k </a:t>
            </a:r>
            <a:r>
              <a:rPr lang="en-US" altLang="zh-CN" dirty="0" err="1"/>
              <a:t>Sparsification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Dimensionality Reduction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Quantization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Analog Aggregation Transmission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Reconstruction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FE2501-F961-4F98-9D9F-177A5B7EB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875" y="5500587"/>
            <a:ext cx="3953427" cy="3620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1E1127-0220-4C1E-8833-77F9C23B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818" y="5105722"/>
            <a:ext cx="2181529" cy="3238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3D90950-5997-4857-89CE-2EBC6F310F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405" y="4406078"/>
            <a:ext cx="3181794" cy="6858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A2C45B-9722-4158-A9ED-4C0D327566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405" y="3792798"/>
            <a:ext cx="2934109" cy="7240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82E7E0D-478E-420C-A399-56C23D9F4A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427" y="2520977"/>
            <a:ext cx="4105848" cy="75258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FADD718-3A02-4A47-86F4-3D3565106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348" y="1767662"/>
            <a:ext cx="2353003" cy="45726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6534902-68D7-4BE9-98D9-1EE2253A1051}"/>
              </a:ext>
            </a:extLst>
          </p:cNvPr>
          <p:cNvSpPr txBox="1"/>
          <p:nvPr/>
        </p:nvSpPr>
        <p:spPr>
          <a:xfrm>
            <a:off x="2678246" y="1208957"/>
            <a:ext cx="105678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efficiency: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CB5B903-3E73-427C-A1B7-7EA5680F1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0684"/>
              </p:ext>
            </p:extLst>
          </p:nvPr>
        </p:nvGraphicFramePr>
        <p:xfrm>
          <a:off x="6851650" y="1096963"/>
          <a:ext cx="187801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10" imgW="1079280" imgH="393480" progId="Equation.DSMT4">
                  <p:embed/>
                </p:oleObj>
              </mc:Choice>
              <mc:Fallback>
                <p:oleObj name="Equation" r:id="rId10" imgW="1079280" imgH="393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8553B9-B62C-4049-A540-CD033D8F8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51650" y="1096963"/>
                        <a:ext cx="1878013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BB0F678-8FC2-480F-96D1-65576B9C6D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5108" y="1111659"/>
            <a:ext cx="2735633" cy="48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647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E1113BE-CCC3-4090-93F1-1723ACE93C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58924" y="4205919"/>
            <a:ext cx="2994249" cy="197678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7ADDFD-EBAB-AFC6-A686-9AC76A1B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Channel Modeling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39A5E-ED03-B298-0795-404D906A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330457"/>
            <a:ext cx="10972800" cy="3886200"/>
          </a:xfrm>
        </p:spPr>
        <p:txBody>
          <a:bodyPr/>
          <a:lstStyle/>
          <a:p>
            <a:r>
              <a:rPr lang="en-US" altLang="zh-CN" dirty="0"/>
              <a:t>Key point: make the channel model more reliable.</a:t>
            </a:r>
          </a:p>
          <a:p>
            <a:pPr lvl="1"/>
            <a:r>
              <a:rPr lang="en-US" altLang="zh-CN" dirty="0"/>
              <a:t>D-delayed MIMO channel.</a:t>
            </a:r>
            <a:r>
              <a:rPr lang="en-US" altLang="zh-CN" i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</a:t>
            </a: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Time-varying channel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impulse response of ODFM </a:t>
            </a: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408B-3826-CBE5-E818-43E29F5C7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8BFEDD-1428-49FD-A5DC-87F75271FC2D}"/>
              </a:ext>
            </a:extLst>
          </p:cNvPr>
          <p:cNvSpPr txBox="1"/>
          <p:nvPr/>
        </p:nvSpPr>
        <p:spPr>
          <a:xfrm>
            <a:off x="198145" y="6201247"/>
            <a:ext cx="111810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0" dirty="0">
                <a:latin typeface="+mn-lt"/>
                <a:ea typeface="宋体" panose="02010600030101010101" pitchFamily="2" charset="-122"/>
              </a:rPr>
              <a:t>[1]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Elbir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 M,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Coleri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S. Federated learning for channel estimation in conventional and RIS-assisted massive MIMO[J]. IEEE transactions on wireless communications, 2021, 21(6): 4255-4268..</a:t>
            </a:r>
          </a:p>
          <a:p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Ma Z, Liu Y, Miao Y, et al. 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Flgan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Gan-based unbiased federated learning under non-</a:t>
            </a:r>
            <a:r>
              <a:rPr lang="en-US" altLang="zh-CN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iid</a:t>
            </a:r>
            <a:r>
              <a:rPr lang="en-US" altLang="zh-CN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settings[J]. IEEE Transactions on Knowledge and Data Engineering, 2023, 36(4): 1566-1581.</a:t>
            </a:r>
          </a:p>
          <a:p>
            <a:endParaRPr lang="zh-CN" altLang="en-US" sz="900" i="0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759F0F-B949-4997-B97A-ED5A709E6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47" y="2105812"/>
            <a:ext cx="4753638" cy="1076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CAA205-C2AE-4E92-8BF7-C72ABFA83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37" y="3109772"/>
            <a:ext cx="4601217" cy="5048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F1042C3-916A-414F-8ADE-5D750DBF01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659" y="3467325"/>
            <a:ext cx="2667372" cy="8573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7C98B4B-C21F-40F5-A3E0-B4D1C788A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7783" y="4245877"/>
            <a:ext cx="3772426" cy="4096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8026339-29EC-46FD-A537-4A791AC77B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685" y="5402087"/>
            <a:ext cx="3832875" cy="8308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1BEE57-E805-4ECA-A8D2-27D91F0F1B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902" y="2657320"/>
            <a:ext cx="2335930" cy="18202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CE33EE-74DD-41F4-B791-C995107A90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501" y="1075747"/>
            <a:ext cx="1964379" cy="15738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EF221F9-522A-4391-8BD3-2162175165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033" y="1076184"/>
            <a:ext cx="2030567" cy="157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6921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B861-A924-2E3A-D70E-EFCB4D9E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&amp; 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ED5F-A432-252E-94C0-D720FE76D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79548"/>
            <a:ext cx="10972800" cy="1562100"/>
          </a:xfrm>
        </p:spPr>
        <p:txBody>
          <a:bodyPr/>
          <a:lstStyle/>
          <a:p>
            <a:r>
              <a:rPr lang="en-US" sz="2800" dirty="0"/>
              <a:t>Decentralized </a:t>
            </a:r>
            <a:r>
              <a:rPr lang="en-US" altLang="zh-CN" sz="2800" dirty="0"/>
              <a:t>distributed learning framework</a:t>
            </a:r>
            <a:r>
              <a:rPr lang="zh-CN" altLang="en-US" sz="2800" dirty="0"/>
              <a:t>：</a:t>
            </a:r>
            <a:r>
              <a:rPr lang="en-US" altLang="zh-CN" sz="2800" dirty="0"/>
              <a:t> </a:t>
            </a:r>
            <a:r>
              <a:rPr lang="en-US" sz="2800" dirty="0"/>
              <a:t>Adaptive topological</a:t>
            </a:r>
          </a:p>
          <a:p>
            <a:pPr lvl="1"/>
            <a:r>
              <a:rPr lang="en-US" altLang="zh-CN" sz="2400" dirty="0"/>
              <a:t>stochastic communication channel</a:t>
            </a:r>
          </a:p>
          <a:p>
            <a:pPr lvl="1"/>
            <a:r>
              <a:rPr lang="en-US" altLang="zh-CN" sz="2400" dirty="0"/>
              <a:t>collaborative learning scheme (Maximum independent set)</a:t>
            </a:r>
          </a:p>
          <a:p>
            <a:pPr lvl="1"/>
            <a:r>
              <a:rPr lang="en-US" altLang="zh-CN" sz="2400" dirty="0"/>
              <a:t>Wireless inspired communication model (why we need 1 bit transmission?)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7E7ED-1523-94D6-2C05-905272608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05758-BB4F-4559-81AD-225F352C8527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D2832DE-4F57-48C5-A8EE-C86BB194D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546" y="3587455"/>
            <a:ext cx="7977254" cy="284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950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955639E-F5C8-DBA4-39B3-704B99766E32}"/>
              </a:ext>
            </a:extLst>
          </p:cNvPr>
          <p:cNvSpPr/>
          <p:nvPr/>
        </p:nvSpPr>
        <p:spPr>
          <a:xfrm rot="21374395">
            <a:off x="4137646" y="2967335"/>
            <a:ext cx="3916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altLang="zh-CN" sz="5400" b="1" cap="none" spc="0">
                <a:ln w="12700">
                  <a:solidFill>
                    <a:srgbClr val="FFFF00"/>
                  </a:solidFill>
                  <a:prstDash val="solid"/>
                </a:ln>
                <a:solidFill>
                  <a:srgbClr val="FFC000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Thank You!</a:t>
            </a:r>
            <a:endParaRPr lang="zh-CN" altLang="en-US" sz="5400" b="1" cap="none" spc="0">
              <a:ln w="12700">
                <a:solidFill>
                  <a:srgbClr val="FFFF00"/>
                </a:solidFill>
                <a:prstDash val="solid"/>
              </a:ln>
              <a:solidFill>
                <a:srgbClr val="FFC000"/>
              </a:solidFill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611440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rofTian_Grou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ofTian_Group" id="{9A27C3D9-3926-4EA5-AEFD-6E320ABCB500}" vid="{E61E3F45-6CCB-482B-9996-4C583492891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rofTian_Group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ofTian_Group" id="{9A27C3D9-3926-4EA5-AEFD-6E320ABCB500}" vid="{E61E3F45-6CCB-482B-9996-4C583492891A}"/>
    </a:ext>
  </a:extLst>
</a:theme>
</file>

<file path=ppt/theme/theme5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ProfTian_Group</Template>
  <TotalTime>24235</TotalTime>
  <Words>1658</Words>
  <Application>Microsoft Office PowerPoint</Application>
  <PresentationFormat>宽屏</PresentationFormat>
  <Paragraphs>243</Paragraphs>
  <Slides>19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Times New Roman</vt:lpstr>
      <vt:lpstr>Wingdings</vt:lpstr>
      <vt:lpstr>ProfTian_Group</vt:lpstr>
      <vt:lpstr>Office 主题​​</vt:lpstr>
      <vt:lpstr>1_Office 主题​​</vt:lpstr>
      <vt:lpstr>1_ProfTian_Group</vt:lpstr>
      <vt:lpstr>2_Office 主题​​</vt:lpstr>
      <vt:lpstr>3_Office 主题​​</vt:lpstr>
      <vt:lpstr>Equation</vt:lpstr>
      <vt:lpstr>Distributed Generative AI over Wireless Communications</vt:lpstr>
      <vt:lpstr>Outline</vt:lpstr>
      <vt:lpstr>Generative AI</vt:lpstr>
      <vt:lpstr>Distributed Generative AI</vt:lpstr>
      <vt:lpstr>Why communication important?</vt:lpstr>
      <vt:lpstr>Communication Efficient Distributed Generative AI</vt:lpstr>
      <vt:lpstr>Outline</vt:lpstr>
      <vt:lpstr>Wireless Communication</vt:lpstr>
      <vt:lpstr>Wireless Communications – Signal Processing</vt:lpstr>
      <vt:lpstr>Wireless Communication – Channel Model</vt:lpstr>
      <vt:lpstr>Wireless Communication – Channel Multiplexing</vt:lpstr>
      <vt:lpstr>Wireless Communication – Channel Multiplexing</vt:lpstr>
      <vt:lpstr>Wireless Communication – Metrics</vt:lpstr>
      <vt:lpstr>Outline</vt:lpstr>
      <vt:lpstr>Efficiency: Multiple access channel</vt:lpstr>
      <vt:lpstr>Efficiency: One bit Compressive Sensing</vt:lpstr>
      <vt:lpstr>Reliability: Channel Modeling</vt:lpstr>
      <vt:lpstr>Inspiration &amp; Future works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make DSL more federated</dc:title>
  <dc:creator>weishan zhang</dc:creator>
  <cp:lastModifiedBy>卓宇 姚</cp:lastModifiedBy>
  <cp:revision>345</cp:revision>
  <dcterms:created xsi:type="dcterms:W3CDTF">2024-09-25T01:30:38Z</dcterms:created>
  <dcterms:modified xsi:type="dcterms:W3CDTF">2025-04-25T13:45:23Z</dcterms:modified>
</cp:coreProperties>
</file>