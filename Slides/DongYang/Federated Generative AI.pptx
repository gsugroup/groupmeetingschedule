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  <p:sldMasterId id="2147483669" r:id="rId2"/>
    <p:sldMasterId id="2147483682" r:id="rId3"/>
    <p:sldMasterId id="2147483695" r:id="rId4"/>
    <p:sldMasterId id="2147483704" r:id="rId5"/>
    <p:sldMasterId id="2147483717" r:id="rId6"/>
  </p:sldMasterIdLst>
  <p:notesMasterIdLst>
    <p:notesMasterId r:id="rId28"/>
  </p:notesMasterIdLst>
  <p:sldIdLst>
    <p:sldId id="256" r:id="rId7"/>
    <p:sldId id="257" r:id="rId8"/>
    <p:sldId id="1734" r:id="rId9"/>
    <p:sldId id="1887" r:id="rId10"/>
    <p:sldId id="1889" r:id="rId11"/>
    <p:sldId id="1891" r:id="rId12"/>
    <p:sldId id="1888" r:id="rId13"/>
    <p:sldId id="1890" r:id="rId14"/>
    <p:sldId id="1893" r:id="rId15"/>
    <p:sldId id="1883" r:id="rId16"/>
    <p:sldId id="1895" r:id="rId17"/>
    <p:sldId id="1896" r:id="rId18"/>
    <p:sldId id="1884" r:id="rId19"/>
    <p:sldId id="1898" r:id="rId20"/>
    <p:sldId id="1885" r:id="rId21"/>
    <p:sldId id="1900" r:id="rId22"/>
    <p:sldId id="1886" r:id="rId23"/>
    <p:sldId id="1901" r:id="rId24"/>
    <p:sldId id="1899" r:id="rId25"/>
    <p:sldId id="266" r:id="rId26"/>
    <p:sldId id="1897" r:id="rId2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9CFF"/>
    <a:srgbClr val="7D7DCD"/>
    <a:srgbClr val="A60304"/>
    <a:srgbClr val="940505"/>
    <a:srgbClr val="B50104"/>
    <a:srgbClr val="0000DA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20"/>
    <p:restoredTop sz="88906" autoAdjust="0"/>
  </p:normalViewPr>
  <p:slideViewPr>
    <p:cSldViewPr snapToGrid="0">
      <p:cViewPr varScale="1">
        <p:scale>
          <a:sx n="99" d="100"/>
          <a:sy n="99" d="100"/>
        </p:scale>
        <p:origin x="1440" y="176"/>
      </p:cViewPr>
      <p:guideLst>
        <p:guide orient="horz" pos="2184"/>
        <p:guide pos="3840"/>
      </p:guideLst>
    </p:cSldViewPr>
  </p:slideViewPr>
  <p:notesTextViewPr>
    <p:cViewPr>
      <p:scale>
        <a:sx n="80" d="100"/>
        <a:sy n="8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A0A1F-A3EE-5646-B894-8ADEFCA2BDDE}" type="datetimeFigureOut">
              <a:rPr lang="en-US" smtClean="0"/>
              <a:t>4/4/25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2A9D3-0D19-6F43-AADD-953190CEC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8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4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85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38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65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14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16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03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03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77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59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21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03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91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38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52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92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8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86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62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64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860800" y="1447800"/>
            <a:ext cx="8026400" cy="2209800"/>
          </a:xfrm>
        </p:spPr>
        <p:txBody>
          <a:bodyPr/>
          <a:lstStyle>
            <a:lvl1pPr algn="r"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64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759200" y="4114800"/>
            <a:ext cx="8026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0511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11379200" cy="762000"/>
          </a:xfrm>
        </p:spPr>
        <p:txBody>
          <a:bodyPr/>
          <a:lstStyle>
            <a:lvl1pPr>
              <a:defRPr>
                <a:latin typeface="+mj-lt"/>
                <a:cs typeface="Arial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sz="2000">
                <a:latin typeface="+mn-lt"/>
                <a:cs typeface="Arial"/>
              </a:defRPr>
            </a:lvl3pPr>
            <a:lvl4pPr>
              <a:defRPr sz="2000">
                <a:latin typeface="+mn-lt"/>
                <a:cs typeface="Arial"/>
              </a:defRPr>
            </a:lvl4pPr>
            <a:lvl5pPr>
              <a:defRPr sz="2000">
                <a:latin typeface="+mn-lt"/>
                <a:cs typeface="Arial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8349B0-1CCA-694E-A180-DA835B016E06}" type="datetime1">
              <a:rPr lang="en-US" altLang="zh-CN" smtClean="0"/>
              <a:t>4/4/25</a:t>
            </a:fld>
            <a:endParaRPr lang="zh-CN" altLang="en-US"/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4400" y="6400800"/>
            <a:ext cx="2844800" cy="457200"/>
          </a:xfrm>
          <a:ln/>
        </p:spPr>
        <p:txBody>
          <a:bodyPr/>
          <a:lstStyle>
            <a:lvl1pPr>
              <a:defRPr sz="1200">
                <a:solidFill>
                  <a:schemeClr val="accent2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87620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896B29-5ACF-4449-AC21-3F57A5EE8579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06046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1E2F5B-40C3-2C49-AB00-5F6BD2636155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12938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04800"/>
            <a:ext cx="27432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80264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E34E1-005D-664E-B3A9-F29C991ACAD7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70774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E6FCD-07B5-8749-AE08-47CC6EE30201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38191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B56345-FBAF-C849-9D29-DA20DA6D560D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1985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3405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F4F7-AC70-374E-A059-E0C403985EEF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1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80F3-29D0-B045-9879-3C07D32B33BF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DA26-041F-9B46-8FC8-BCAEF7F3823E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0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1AC8-C80C-BA46-9663-A97F9929A3C8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86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44BA-7E3A-FC4B-B506-306341055C8A}" type="datetime1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38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C979-4E28-0544-B11B-E2BAF4C7735A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44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43A9-4C5D-114F-B94E-E6DB2AA10ED3}" type="datetime1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83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090B8-8072-2145-A7DA-F1BA1BFA8B64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9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527E-AFA8-B64E-89BE-6856A3F367A5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85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275C-32E1-BA42-BB1F-B561C83191A9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89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1632C-B738-6D44-9AB2-B0755019CB18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49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4AD8-4CE4-1A43-950B-5389016C87A7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99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8370-C20F-E448-AA13-0BA032AD3566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36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9F7-D675-2B4B-9D88-CF74270EB087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5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47325-9CD2-EB4C-BBD6-AE61D4D2527A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52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B04F-440C-8D4C-90DB-4AC7843A8746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454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6374-EE59-E745-A5E7-DFB446E293EB}" type="datetime1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38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D7729-81FE-1548-AFB6-6082E836DE31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74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D727-0A96-3644-A7C7-57D8F0716FC7}" type="datetime1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74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43E6-8614-F04B-9DE9-5B8303E42AD1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772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5F94-83B0-C74B-AF19-3157AFD0F2C7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691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C9013-C202-514F-BEE0-5F8B72362BD5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70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E89B-2501-844B-9EDB-27BD7265FCE6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9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08A01-011B-0442-9A27-6233239C58BC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006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860800" y="1447800"/>
            <a:ext cx="8026400" cy="2209800"/>
          </a:xfrm>
        </p:spPr>
        <p:txBody>
          <a:bodyPr/>
          <a:lstStyle>
            <a:lvl1pPr algn="r"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64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759200" y="4114800"/>
            <a:ext cx="8026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931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11379200" cy="762000"/>
          </a:xfrm>
        </p:spPr>
        <p:txBody>
          <a:bodyPr/>
          <a:lstStyle>
            <a:lvl1pPr>
              <a:defRPr>
                <a:latin typeface="+mj-lt"/>
                <a:cs typeface="Arial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sz="2000">
                <a:latin typeface="+mn-lt"/>
                <a:cs typeface="Arial"/>
              </a:defRPr>
            </a:lvl3pPr>
            <a:lvl4pPr>
              <a:defRPr sz="2000">
                <a:latin typeface="+mn-lt"/>
                <a:cs typeface="Arial"/>
              </a:defRPr>
            </a:lvl4pPr>
            <a:lvl5pPr>
              <a:defRPr sz="2000">
                <a:latin typeface="+mn-lt"/>
                <a:cs typeface="Arial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6A7B63-2C51-334A-85CB-2D730CE65D55}" type="datetime1">
              <a:rPr lang="en-US" altLang="zh-CN" smtClean="0"/>
              <a:t>4/4/25</a:t>
            </a:fld>
            <a:endParaRPr lang="zh-CN" altLang="en-US"/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4400" y="6400800"/>
            <a:ext cx="2844800" cy="457200"/>
          </a:xfrm>
          <a:ln/>
        </p:spPr>
        <p:txBody>
          <a:bodyPr/>
          <a:lstStyle>
            <a:lvl1pPr>
              <a:defRPr sz="1200">
                <a:solidFill>
                  <a:schemeClr val="accent2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2920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A3702-7AF3-1944-A78D-07CDB5DBC52E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72151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B64BB5-2CA7-6240-A357-014CC2DD19D5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745903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04800"/>
            <a:ext cx="27432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80264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2771EE-4167-154C-B525-764E4604F60C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6563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32ED-3468-DD49-8E24-2CD1E46FD58C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7259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37135B-3014-5444-AE5B-9A100BD60DA1}" type="datetime1">
              <a:rPr lang="en-US" altLang="zh-CN" smtClean="0"/>
              <a:t>4/4/25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154893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5506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DB66-D798-294C-A6FD-E08EE1F25087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944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0AA4-0651-E64B-B0D5-232CA31640BB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780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0FEAF-5B8C-8545-862D-D30D6DB390B7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10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3BAE-4EFB-1B4C-A72B-B00911FCFADE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69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0C15-39B1-A440-BCAE-E0A0542D30EC}" type="datetime1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660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C3831-E9CF-8441-8AF5-9350425494FD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591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09490-AC05-2545-A942-FCE4E7EC210A}" type="datetime1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457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82B77-9AB8-7A4A-BEA4-1DC5DED230C6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174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A104-70EE-1541-82D6-09793DAA1E3F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214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F8DB-4218-5940-807B-070C6889C30E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334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E514-16F7-2348-A5EC-BCB0F685F9DB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893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A6B-8848-614C-93CB-5058A23D9967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01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48E2-A2F9-9045-8399-5B11564B0043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570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EA05-A614-9742-A5EE-38383B4E2B1F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549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DFB50-F2B2-7A4E-99F3-88DE7F01CA7A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912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CA111-0945-2A4B-B20A-1206A6C5FD62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738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8249-C96C-C64B-B967-1C705E800EB5}" type="datetime1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307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AF6A-CEDA-8442-9BFE-1D5059082CBD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56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415D-4480-5D4E-A7D8-5D8C2118657C}" type="datetime1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587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AC96-E15F-284F-86D9-EA54DF7124F4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471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00AE-E5F6-1849-B8C1-460D68B308DE}" type="datetime1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845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545E-60CE-0144-89FC-5912C8FB8A25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54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54DF-2125-0342-B62B-B5810C987C4D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326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732-7EA4-5D44-9804-1654F52ACA87}" type="datetime1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8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5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11379200" cy="762000"/>
          </a:xfrm>
          <a:prstGeom prst="rect">
            <a:avLst/>
          </a:prstGeom>
          <a:solidFill>
            <a:srgbClr val="5354F9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fld id="{FF2E6138-50C1-C64E-B776-0A2B93FA52A4}" type="datetime1">
              <a:rPr lang="en-US" altLang="zh-CN" smtClean="0"/>
              <a:t>4/4/25</a:t>
            </a:fld>
            <a:endParaRPr lang="zh-CN" altLang="en-US"/>
          </a:p>
        </p:txBody>
      </p:sp>
      <p:grpSp>
        <p:nvGrpSpPr>
          <p:cNvPr id="1032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539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39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40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ea typeface="+mn-ea"/>
              </a:endParaRPr>
            </a:p>
          </p:txBody>
        </p:sp>
      </p:grpSp>
      <p:sp>
        <p:nvSpPr>
          <p:cNvPr id="153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32800" y="64008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36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ＭＳ Ｐゴシック" pitchFamily="-112" charset="-128"/>
          <a:cs typeface="Helvetica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85000"/>
        <a:buFont typeface="Wingdings" charset="2"/>
        <a:buChar char="q"/>
        <a:defRPr sz="2400">
          <a:solidFill>
            <a:srgbClr val="0000DA"/>
          </a:solidFill>
          <a:latin typeface="+mn-lt"/>
          <a:ea typeface="ＭＳ Ｐゴシック" pitchFamily="-112" charset="-128"/>
          <a:cs typeface="Arial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85000"/>
        <a:buFont typeface="Wingdings" charset="2"/>
        <a:buChar char="Ø"/>
        <a:defRPr sz="2200">
          <a:solidFill>
            <a:schemeClr val="tx1"/>
          </a:solidFill>
          <a:latin typeface="+mn-lt"/>
          <a:ea typeface="ＭＳ Ｐゴシック" pitchFamily="-112" charset="-128"/>
          <a:cs typeface="Arial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70000"/>
        <a:buFont typeface="Wingdings" pitchFamily="-107" charset="2"/>
        <a:buChar char="v"/>
        <a:defRPr sz="22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90000"/>
        <a:buFont typeface="Wingdings" pitchFamily="-107" charset="2"/>
        <a:buChar char="q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-107" charset="2"/>
        <a:buChar char="Ø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2CF8F-DFCA-9249-9B0C-7BF62F6AB910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3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BDEEA-6251-7944-987D-E15CD79683DE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7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5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11379200" cy="762000"/>
          </a:xfrm>
          <a:prstGeom prst="rect">
            <a:avLst/>
          </a:prstGeom>
          <a:solidFill>
            <a:srgbClr val="5354F9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fld id="{366E3027-ECD4-0841-B6C6-941CF82F0CF6}" type="datetime1">
              <a:rPr lang="en-US" altLang="zh-CN" smtClean="0"/>
              <a:t>4/4/25</a:t>
            </a:fld>
            <a:endParaRPr lang="zh-CN" altLang="en-US"/>
          </a:p>
        </p:txBody>
      </p:sp>
      <p:grpSp>
        <p:nvGrpSpPr>
          <p:cNvPr id="1032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539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39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40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ea typeface="+mn-ea"/>
              </a:endParaRPr>
            </a:p>
          </p:txBody>
        </p:sp>
      </p:grpSp>
      <p:sp>
        <p:nvSpPr>
          <p:cNvPr id="153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32800" y="64008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73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ＭＳ Ｐゴシック" pitchFamily="-112" charset="-128"/>
          <a:cs typeface="Helvetica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85000"/>
        <a:buFont typeface="Wingdings" charset="2"/>
        <a:buChar char="q"/>
        <a:defRPr sz="2400">
          <a:solidFill>
            <a:srgbClr val="0000DA"/>
          </a:solidFill>
          <a:latin typeface="+mn-lt"/>
          <a:ea typeface="ＭＳ Ｐゴシック" pitchFamily="-112" charset="-128"/>
          <a:cs typeface="Arial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85000"/>
        <a:buFont typeface="Wingdings" charset="2"/>
        <a:buChar char="Ø"/>
        <a:defRPr sz="2200">
          <a:solidFill>
            <a:schemeClr val="tx1"/>
          </a:solidFill>
          <a:latin typeface="+mn-lt"/>
          <a:ea typeface="ＭＳ Ｐゴシック" pitchFamily="-112" charset="-128"/>
          <a:cs typeface="Arial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70000"/>
        <a:buFont typeface="Wingdings" pitchFamily="-107" charset="2"/>
        <a:buChar char="v"/>
        <a:defRPr sz="22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90000"/>
        <a:buFont typeface="Wingdings" pitchFamily="-107" charset="2"/>
        <a:buChar char="q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-107" charset="2"/>
        <a:buChar char="Ø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A828B-3BE4-134D-A0FD-70C1FFA52D6C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C1897-9835-3945-B8AE-F35860980353}" type="datetime1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3.png"/><Relationship Id="rId5" Type="http://schemas.openxmlformats.org/officeDocument/2006/relationships/hyperlink" Target="https://openai.com/index/introducing-4o-image-generation/" TargetMode="External"/><Relationship Id="rId4" Type="http://schemas.openxmlformats.org/officeDocument/2006/relationships/hyperlink" Target="https://openai.com/index/chatgpt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D131B-3C02-D2F7-9992-EAB323842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741" y="1242890"/>
            <a:ext cx="9697452" cy="2209800"/>
          </a:xfrm>
          <a:solidFill>
            <a:srgbClr val="3333FF"/>
          </a:solidFill>
        </p:spPr>
        <p:txBody>
          <a:bodyPr/>
          <a:lstStyle/>
          <a:p>
            <a:pPr algn="ctr"/>
            <a:r>
              <a:rPr lang="en-US" altLang="zh-CN" sz="5300" b="1" i="0" dirty="0">
                <a:solidFill>
                  <a:srgbClr val="FFFF00"/>
                </a:solidFill>
                <a:latin typeface="Times New Roman"/>
                <a:cs typeface="Times New Roman"/>
              </a:rPr>
              <a:t>Federated Generative AI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2549A83-85EB-A3BB-1C25-11D4B6CF7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24" y="5734135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en-US" sz="2200" i="0" dirty="0">
                <a:solidFill>
                  <a:srgbClr val="076DB8"/>
                </a:solidFill>
                <a:latin typeface="+mj-lt"/>
                <a:cs typeface="Arial"/>
              </a:rPr>
              <a:t>Apr 4, 2025</a:t>
            </a:r>
          </a:p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80000"/>
            </a:pPr>
            <a:endParaRPr lang="en-US" sz="2200" i="0" dirty="0">
              <a:solidFill>
                <a:srgbClr val="076DB8"/>
              </a:solidFill>
              <a:latin typeface="+mj-lt"/>
              <a:cs typeface="Arial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0089C588-1723-4368-063E-D2C89F04F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862" y="1093770"/>
            <a:ext cx="46482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D85D1200-03A8-4740-07CA-47B07D0C6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40062" y="1093770"/>
            <a:ext cx="0" cy="121920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9F3DEF89-4D2A-8982-0A70-7FC9EFDA8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6656" y="3593058"/>
            <a:ext cx="54102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4" descr="University Logos - Communications ToolKit">
            <a:extLst>
              <a:ext uri="{FF2B5EF4-FFF2-40B4-BE49-F238E27FC236}">
                <a16:creationId xmlns:a16="http://schemas.microsoft.com/office/drawing/2014/main" id="{B3B16C43-9736-BC67-BB22-40CF96C44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875" y="4389692"/>
            <a:ext cx="2659975" cy="20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副标题 2">
            <a:extLst>
              <a:ext uri="{FF2B5EF4-FFF2-40B4-BE49-F238E27FC236}">
                <a16:creationId xmlns:a16="http://schemas.microsoft.com/office/drawing/2014/main" id="{5373DA6F-F8A4-533F-3C0B-589562336048}"/>
              </a:ext>
            </a:extLst>
          </p:cNvPr>
          <p:cNvSpPr txBox="1">
            <a:spLocks/>
          </p:cNvSpPr>
          <p:nvPr/>
        </p:nvSpPr>
        <p:spPr bwMode="auto">
          <a:xfrm>
            <a:off x="1949666" y="3712324"/>
            <a:ext cx="863636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pitchFamily="2" charset="2"/>
              <a:buNone/>
              <a:defRPr sz="26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altLang="zh-CN" sz="3000" i="0" kern="0" dirty="0"/>
              <a:t>                     Dong</a:t>
            </a:r>
            <a:r>
              <a:rPr lang="zh-CN" altLang="en-US" sz="3000" i="0" kern="0" dirty="0"/>
              <a:t> </a:t>
            </a:r>
            <a:r>
              <a:rPr lang="en-US" altLang="zh-CN" sz="3000" i="0" kern="0" dirty="0"/>
              <a:t>Yang, Yue Wang</a:t>
            </a:r>
            <a:endParaRPr lang="en-US" altLang="zh-CN" sz="2000" i="0" kern="0" dirty="0"/>
          </a:p>
          <a:p>
            <a:pPr marL="457200" lvl="1" indent="0">
              <a:buFont typeface="Wingdings" charset="2"/>
              <a:buNone/>
            </a:pPr>
            <a:r>
              <a:rPr lang="zh-CN" altLang="en-US" sz="2000" i="0" kern="0" dirty="0"/>
              <a:t>                                </a:t>
            </a:r>
            <a:r>
              <a:rPr lang="en-US" altLang="zh-CN" sz="2600" i="0" kern="0" dirty="0"/>
              <a:t>Computer</a:t>
            </a:r>
            <a:r>
              <a:rPr lang="zh-CN" altLang="en-US" sz="2600" i="0" kern="0" dirty="0"/>
              <a:t> </a:t>
            </a:r>
            <a:r>
              <a:rPr lang="en-US" altLang="zh-CN" sz="2600" i="0" kern="0" dirty="0"/>
              <a:t>Science</a:t>
            </a:r>
          </a:p>
          <a:p>
            <a:pPr marL="457200" lvl="1" indent="0">
              <a:buFont typeface="Wingdings" charset="2"/>
              <a:buNone/>
            </a:pPr>
            <a:r>
              <a:rPr lang="zh-CN" altLang="en-US" sz="2600" i="0" kern="0" dirty="0"/>
              <a:t>         </a:t>
            </a:r>
            <a:r>
              <a:rPr lang="en-US" altLang="zh-CN" sz="2600" i="0" kern="0" dirty="0"/>
              <a:t>Georgia State University, Atlanta, GA, USA</a:t>
            </a:r>
          </a:p>
        </p:txBody>
      </p:sp>
    </p:spTree>
    <p:extLst>
      <p:ext uri="{BB962C8B-B14F-4D97-AF65-F5344CB8AC3E}">
        <p14:creationId xmlns:p14="http://schemas.microsoft.com/office/powerpoint/2010/main" val="9043442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0FFA6-047F-CE3C-690E-2751A714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86ECD-B237-F885-4CEE-FB3F7C50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694" y="1485900"/>
            <a:ext cx="6464300" cy="3886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Introduction</a:t>
            </a:r>
          </a:p>
          <a:p>
            <a:pPr>
              <a:lnSpc>
                <a:spcPct val="200000"/>
              </a:lnSpc>
            </a:pPr>
            <a:r>
              <a:rPr lang="en-US" dirty="0"/>
              <a:t>Federated GAN </a:t>
            </a:r>
          </a:p>
          <a:p>
            <a:pPr>
              <a:lnSpc>
                <a:spcPct val="200000"/>
              </a:lnSpc>
            </a:pPr>
            <a:r>
              <a:rPr lang="en-US" dirty="0"/>
              <a:t>Federated VAE </a:t>
            </a:r>
          </a:p>
          <a:p>
            <a:pPr>
              <a:lnSpc>
                <a:spcPct val="200000"/>
              </a:lnSpc>
            </a:pPr>
            <a:r>
              <a:rPr lang="en-US" dirty="0"/>
              <a:t>Federated Diffusion Model</a:t>
            </a:r>
          </a:p>
          <a:p>
            <a:pPr>
              <a:lnSpc>
                <a:spcPct val="200000"/>
              </a:lnSpc>
            </a:pPr>
            <a:r>
              <a:rPr lang="en-US" dirty="0"/>
              <a:t>Federated Transformer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9B85-1E40-3601-29CC-AAEDC27FDA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07378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5DA44-A2BE-6B17-9A8A-0E19F270C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04" y="1035103"/>
            <a:ext cx="9944100" cy="4587949"/>
          </a:xfrm>
        </p:spPr>
        <p:txBody>
          <a:bodyPr/>
          <a:lstStyle/>
          <a:p>
            <a:r>
              <a:rPr lang="en-US" altLang="zh-CN" dirty="0"/>
              <a:t>Radio</a:t>
            </a:r>
            <a:r>
              <a:rPr lang="zh-CN" altLang="en-US" dirty="0"/>
              <a:t> </a:t>
            </a:r>
            <a:r>
              <a:rPr lang="en-US" altLang="zh-CN" dirty="0"/>
              <a:t>map: </a:t>
            </a:r>
            <a:r>
              <a:rPr lang="en-US" dirty="0">
                <a:effectLst/>
              </a:rPr>
              <a:t>radio power as a function of location </a:t>
            </a:r>
            <a:r>
              <a:rPr lang="en-US" b="1" i="1" dirty="0">
                <a:effectLst/>
              </a:rPr>
              <a:t>x</a:t>
            </a:r>
            <a:r>
              <a:rPr lang="en-US" i="1" dirty="0">
                <a:effectLst/>
              </a:rPr>
              <a:t>, </a:t>
            </a:r>
            <a:r>
              <a:rPr lang="en-US" dirty="0">
                <a:effectLst/>
              </a:rPr>
              <a:t>frequency</a:t>
            </a:r>
            <a:r>
              <a:rPr lang="en-US" i="1" dirty="0">
                <a:effectLst/>
              </a:rPr>
              <a:t> </a:t>
            </a:r>
            <a:r>
              <a:rPr lang="en-US" dirty="0">
                <a:effectLst/>
              </a:rPr>
              <a:t>𝑓 </a:t>
            </a:r>
            <a:r>
              <a:rPr lang="zh-CN" altLang="en-US" i="1" dirty="0">
                <a:effectLst/>
              </a:rPr>
              <a:t> </a:t>
            </a:r>
            <a:r>
              <a:rPr lang="en-US" dirty="0">
                <a:effectLst/>
              </a:rPr>
              <a:t>and</a:t>
            </a:r>
            <a:r>
              <a:rPr lang="en-US" altLang="zh-CN" dirty="0"/>
              <a:t>/or</a:t>
            </a:r>
            <a:r>
              <a:rPr lang="zh-CN" altLang="en-US" dirty="0"/>
              <a:t> </a:t>
            </a:r>
            <a:r>
              <a:rPr lang="en-US" dirty="0">
                <a:effectLst/>
              </a:rPr>
              <a:t>with time</a:t>
            </a:r>
            <a:r>
              <a:rPr lang="en-US" i="1" dirty="0">
                <a:effectLst/>
              </a:rPr>
              <a:t> </a:t>
            </a:r>
            <a:r>
              <a:rPr lang="en-US" dirty="0">
                <a:effectLst/>
              </a:rPr>
              <a:t>𝑡</a:t>
            </a:r>
            <a:r>
              <a:rPr lang="en-US" i="1" dirty="0">
                <a:effectLst/>
              </a:rPr>
              <a:t> </a:t>
            </a:r>
            <a:r>
              <a:rPr lang="en-US" dirty="0"/>
              <a:t>denoted by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7">
                <a:extLst>
                  <a:ext uri="{FF2B5EF4-FFF2-40B4-BE49-F238E27FC236}">
                    <a16:creationId xmlns:a16="http://schemas.microsoft.com/office/drawing/2014/main" id="{14785F4D-BF8C-93BC-86FE-C6CFC7FA95EF}"/>
                  </a:ext>
                </a:extLst>
              </p:cNvPr>
              <p:cNvSpPr txBox="1"/>
              <p:nvPr/>
            </p:nvSpPr>
            <p:spPr>
              <a:xfrm>
                <a:off x="3619264" y="1435274"/>
                <a:ext cx="15544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l-GR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7">
                <a:extLst>
                  <a:ext uri="{FF2B5EF4-FFF2-40B4-BE49-F238E27FC236}">
                    <a16:creationId xmlns:a16="http://schemas.microsoft.com/office/drawing/2014/main" id="{14785F4D-BF8C-93BC-86FE-C6CFC7FA9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264" y="1435274"/>
                <a:ext cx="1554400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 descr="A diagram of a cloud with a diagram of a cloud&#10;&#10;Description automatically generated">
            <a:extLst>
              <a:ext uri="{FF2B5EF4-FFF2-40B4-BE49-F238E27FC236}">
                <a16:creationId xmlns:a16="http://schemas.microsoft.com/office/drawing/2014/main" id="{9D4A796C-9BFC-201B-0E6B-871E52AB7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928" y="1909465"/>
            <a:ext cx="8938144" cy="4719935"/>
          </a:xfrm>
          <a:prstGeom prst="rect">
            <a:avLst/>
          </a:prstGeom>
        </p:spPr>
      </p:pic>
      <p:pic>
        <p:nvPicPr>
          <p:cNvPr id="7" name="Picture 6" descr="A purple square with a small dot&#10;&#10;Description automatically generated">
            <a:extLst>
              <a:ext uri="{FF2B5EF4-FFF2-40B4-BE49-F238E27FC236}">
                <a16:creationId xmlns:a16="http://schemas.microsoft.com/office/drawing/2014/main" id="{83D0E237-26C7-F118-AB15-411592370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136" y="2506094"/>
            <a:ext cx="947958" cy="947958"/>
          </a:xfrm>
          <a:prstGeom prst="rect">
            <a:avLst/>
          </a:prstGeom>
        </p:spPr>
      </p:pic>
      <p:pic>
        <p:nvPicPr>
          <p:cNvPr id="6" name="Picture 5" descr="A purple and yellow squares&#10;&#10;Description automatically generated">
            <a:extLst>
              <a:ext uri="{FF2B5EF4-FFF2-40B4-BE49-F238E27FC236}">
                <a16:creationId xmlns:a16="http://schemas.microsoft.com/office/drawing/2014/main" id="{86156B0B-F46D-5C91-30BB-A728385D12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3968" y="2349681"/>
            <a:ext cx="947958" cy="947958"/>
          </a:xfrm>
          <a:prstGeom prst="rect">
            <a:avLst/>
          </a:prstGeom>
        </p:spPr>
      </p:pic>
      <p:pic>
        <p:nvPicPr>
          <p:cNvPr id="5" name="Picture 4" descr="A purple background with yellow dots&#10;&#10;Description automatically generated">
            <a:extLst>
              <a:ext uri="{FF2B5EF4-FFF2-40B4-BE49-F238E27FC236}">
                <a16:creationId xmlns:a16="http://schemas.microsoft.com/office/drawing/2014/main" id="{6F3A3C11-989D-6920-30E0-9AF2256F37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390" y="2245787"/>
            <a:ext cx="947958" cy="947958"/>
          </a:xfrm>
          <a:prstGeom prst="rect">
            <a:avLst/>
          </a:prstGeom>
        </p:spPr>
      </p:pic>
      <p:pic>
        <p:nvPicPr>
          <p:cNvPr id="8" name="Picture 7" descr="A green and purple background with black squares&#10;&#10;Description automatically generated">
            <a:extLst>
              <a:ext uri="{FF2B5EF4-FFF2-40B4-BE49-F238E27FC236}">
                <a16:creationId xmlns:a16="http://schemas.microsoft.com/office/drawing/2014/main" id="{A83994D1-3787-72E4-4B00-6EF8ADE06E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092" y="2823660"/>
            <a:ext cx="947958" cy="947958"/>
          </a:xfrm>
          <a:prstGeom prst="rect">
            <a:avLst/>
          </a:prstGeom>
        </p:spPr>
      </p:pic>
      <p:pic>
        <p:nvPicPr>
          <p:cNvPr id="9" name="Picture 8" descr="A blue and purple background with a yellow light&#10;&#10;Description automatically generated">
            <a:extLst>
              <a:ext uri="{FF2B5EF4-FFF2-40B4-BE49-F238E27FC236}">
                <a16:creationId xmlns:a16="http://schemas.microsoft.com/office/drawing/2014/main" id="{8FC61FF7-FA37-E002-22F5-3F8DBB7495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7114" y="4075387"/>
            <a:ext cx="947958" cy="94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4255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The Development  of Computing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99E22-F5B9-E517-3A09-95EDB74B0FDE}"/>
              </a:ext>
            </a:extLst>
          </p:cNvPr>
          <p:cNvSpPr txBox="1"/>
          <p:nvPr/>
        </p:nvSpPr>
        <p:spPr>
          <a:xfrm>
            <a:off x="751267" y="6320863"/>
            <a:ext cx="10689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Li, Y. Song, and S. Wang, “Intelligent computing, computational power, computational power networks and technology ecosystems,” in 2024 IEEE 14th International Conference on Electronics Information and Emergency Communication (ICEIEC). IEEE, 2024, pp. 1–8</a:t>
            </a:r>
          </a:p>
        </p:txBody>
      </p:sp>
      <p:pic>
        <p:nvPicPr>
          <p:cNvPr id="17" name="Picture 16" descr="A diagram of information on a computer&#10;&#10;Description automatically generated">
            <a:extLst>
              <a:ext uri="{FF2B5EF4-FFF2-40B4-BE49-F238E27FC236}">
                <a16:creationId xmlns:a16="http://schemas.microsoft.com/office/drawing/2014/main" id="{E41D7407-5CE3-41C3-B1C4-A5057DA47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560" y="1070537"/>
            <a:ext cx="9196880" cy="52503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6C3E63-AC8A-38C3-EA88-579D6656F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092" y="4228922"/>
            <a:ext cx="1217054" cy="1885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90BF1A-2A51-AE72-F4E9-5EF3F5B86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11" y="4107804"/>
            <a:ext cx="221179" cy="309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CE729B-4B8A-FC4C-86E7-0C4465EC1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141" y="4148985"/>
            <a:ext cx="221179" cy="309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6E5A44-0285-9902-EFFF-B177D72A4F48}"/>
              </a:ext>
            </a:extLst>
          </p:cNvPr>
          <p:cNvSpPr txBox="1"/>
          <p:nvPr/>
        </p:nvSpPr>
        <p:spPr>
          <a:xfrm>
            <a:off x="2747000" y="420344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Mainframe</a:t>
            </a:r>
          </a:p>
        </p:txBody>
      </p:sp>
    </p:spTree>
    <p:extLst>
      <p:ext uri="{BB962C8B-B14F-4D97-AF65-F5344CB8AC3E}">
        <p14:creationId xmlns:p14="http://schemas.microsoft.com/office/powerpoint/2010/main" val="42928710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</a:t>
            </a:r>
            <a:r>
              <a:rPr lang="en-US" i="0" kern="0" dirty="0"/>
              <a:t>Generative AI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87FADE-5A54-2078-EB58-B62567CFB027}"/>
              </a:ext>
            </a:extLst>
          </p:cNvPr>
          <p:cNvSpPr txBox="1">
            <a:spLocks/>
          </p:cNvSpPr>
          <p:nvPr/>
        </p:nvSpPr>
        <p:spPr bwMode="auto">
          <a:xfrm>
            <a:off x="233160" y="1011441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Generative AI - </a:t>
            </a:r>
            <a:r>
              <a:rPr lang="en-US" i="0" kern="0" dirty="0" err="1"/>
              <a:t>ChatGPT</a:t>
            </a:r>
            <a:endParaRPr lang="en-US" i="0" kern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85B7DE-FAE7-3536-3685-E990DB67E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51" y="1917190"/>
            <a:ext cx="5386249" cy="38305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99E22-F5B9-E517-3A09-95EDB74B0FDE}"/>
              </a:ext>
            </a:extLst>
          </p:cNvPr>
          <p:cNvSpPr txBox="1"/>
          <p:nvPr/>
        </p:nvSpPr>
        <p:spPr>
          <a:xfrm>
            <a:off x="837127" y="6130344"/>
            <a:ext cx="333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https://openai.com/index/chatgpt/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DCCAB6-F5DA-24AB-A13C-D8951D9B38CB}"/>
              </a:ext>
            </a:extLst>
          </p:cNvPr>
          <p:cNvSpPr txBox="1"/>
          <p:nvPr/>
        </p:nvSpPr>
        <p:spPr>
          <a:xfrm>
            <a:off x="5969820" y="6247189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https://openai.com/index/introducing-4o-image-generation/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18416C-13E6-285C-7515-229CF16EC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036" y="1127351"/>
            <a:ext cx="5173564" cy="51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698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</a:t>
            </a:r>
            <a:r>
              <a:rPr lang="en-US" i="0" kern="0" dirty="0"/>
              <a:t>Generated AI differs from traditional AI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87FADE-5A54-2078-EB58-B62567CFB027}"/>
              </a:ext>
            </a:extLst>
          </p:cNvPr>
          <p:cNvSpPr txBox="1">
            <a:spLocks/>
          </p:cNvSpPr>
          <p:nvPr/>
        </p:nvSpPr>
        <p:spPr bwMode="auto">
          <a:xfrm>
            <a:off x="406400" y="1088714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i="0" kern="0" dirty="0"/>
              <a:t>Different Models</a:t>
            </a:r>
            <a:endParaRPr lang="en-US" i="0" kern="0" dirty="0"/>
          </a:p>
        </p:txBody>
      </p:sp>
      <p:pic>
        <p:nvPicPr>
          <p:cNvPr id="6148" name="Picture 4" descr="What is GAN, the AI technique that makes computers creative? - TechTalks">
            <a:extLst>
              <a:ext uri="{FF2B5EF4-FFF2-40B4-BE49-F238E27FC236}">
                <a16:creationId xmlns:a16="http://schemas.microsoft.com/office/drawing/2014/main" id="{A3E59F93-AFCB-7CE2-A030-7D6498BB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557556"/>
            <a:ext cx="5028485" cy="219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Variational Autoencoder in TensorFlow (Python Code)">
            <a:extLst>
              <a:ext uri="{FF2B5EF4-FFF2-40B4-BE49-F238E27FC236}">
                <a16:creationId xmlns:a16="http://schemas.microsoft.com/office/drawing/2014/main" id="{B7C172DF-01EE-2CEA-0165-22866C67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66651"/>
            <a:ext cx="5052395" cy="277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A41790-AE95-30F8-D327-356CC8A44A51}"/>
              </a:ext>
            </a:extLst>
          </p:cNvPr>
          <p:cNvSpPr txBox="1"/>
          <p:nvPr/>
        </p:nvSpPr>
        <p:spPr>
          <a:xfrm>
            <a:off x="751267" y="6320863"/>
            <a:ext cx="109427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Goodfellow, J.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Pouget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-Abadie, M. Mirza, B. Xu, D.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-Farley, S.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Ozair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Courville, and Y.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Bengio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“Generative adversarial networks,” Communications of the ACM, vol. 63, no. 11, pp. 139–144, 2020. 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Pinheiro Cinelli, M.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Ara´ujo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Marins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A. Barros da Silva, and</a:t>
            </a:r>
            <a:r>
              <a:rPr lang="zh-CN" alt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Lima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Netto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“Variational autoencoder,” in Variational methods for machine learning with applications to deep networks. Springer, 2021, pp.</a:t>
            </a:r>
            <a:r>
              <a:rPr lang="zh-CN" alt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111–149.</a:t>
            </a:r>
          </a:p>
        </p:txBody>
      </p:sp>
    </p:spTree>
    <p:extLst>
      <p:ext uri="{BB962C8B-B14F-4D97-AF65-F5344CB8AC3E}">
        <p14:creationId xmlns:p14="http://schemas.microsoft.com/office/powerpoint/2010/main" val="79624390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</a:t>
            </a:r>
            <a:r>
              <a:rPr lang="en-US" i="0" kern="0" dirty="0"/>
              <a:t>Generated AI differs from traditional AI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87FADE-5A54-2078-EB58-B62567CFB027}"/>
              </a:ext>
            </a:extLst>
          </p:cNvPr>
          <p:cNvSpPr txBox="1">
            <a:spLocks/>
          </p:cNvSpPr>
          <p:nvPr/>
        </p:nvSpPr>
        <p:spPr bwMode="auto">
          <a:xfrm>
            <a:off x="406400" y="1082188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Different Dataset Requirements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9C12FE-C3D2-64D7-2B8D-C2C95445B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999" y="2233331"/>
            <a:ext cx="88900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5913A3-79BA-D50C-CFD9-4A352B899E4F}"/>
              </a:ext>
            </a:extLst>
          </p:cNvPr>
          <p:cNvSpPr txBox="1"/>
          <p:nvPr/>
        </p:nvSpPr>
        <p:spPr>
          <a:xfrm>
            <a:off x="751267" y="6320863"/>
            <a:ext cx="10689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Brown, B. Mann, N. Ryder, M. Subbiah, J. D. Kaplan, P.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Dhariwal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Neelakantan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Shyam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Sastry, A.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Askell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“Language models are few-shot learners,” Advances in neural information processing systems, vol. 33, pp. 1877–1901, 2020</a:t>
            </a:r>
          </a:p>
        </p:txBody>
      </p:sp>
    </p:spTree>
    <p:extLst>
      <p:ext uri="{BB962C8B-B14F-4D97-AF65-F5344CB8AC3E}">
        <p14:creationId xmlns:p14="http://schemas.microsoft.com/office/powerpoint/2010/main" val="41366896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</a:t>
            </a:r>
            <a:r>
              <a:rPr lang="en-US" i="0" kern="0" dirty="0"/>
              <a:t>Generated AI differs from traditional AI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87FADE-5A54-2078-EB58-B62567CFB027}"/>
              </a:ext>
            </a:extLst>
          </p:cNvPr>
          <p:cNvSpPr txBox="1">
            <a:spLocks/>
          </p:cNvSpPr>
          <p:nvPr/>
        </p:nvSpPr>
        <p:spPr bwMode="auto">
          <a:xfrm>
            <a:off x="406400" y="996696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Different Computing Resource Requirements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BAA353-6964-5158-BB68-F48E2ABB2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966" y="1415362"/>
            <a:ext cx="8930068" cy="4964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6CE879-DA51-BAC2-CBD9-BE66A032880F}"/>
              </a:ext>
            </a:extLst>
          </p:cNvPr>
          <p:cNvSpPr txBox="1"/>
          <p:nvPr/>
        </p:nvSpPr>
        <p:spPr>
          <a:xfrm>
            <a:off x="751267" y="6320863"/>
            <a:ext cx="10689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Brown, B. Mann, N. Ryder, M. Subbiah, J. D. Kaplan, P.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Dhariwal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Neelakantan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Shyam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Sastry, A.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Askell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“Language models are few-shot learners,” Advances in neural information processing systems, vol. 33, pp. 1877–1901, 2020</a:t>
            </a:r>
          </a:p>
        </p:txBody>
      </p:sp>
    </p:spTree>
    <p:extLst>
      <p:ext uri="{BB962C8B-B14F-4D97-AF65-F5344CB8AC3E}">
        <p14:creationId xmlns:p14="http://schemas.microsoft.com/office/powerpoint/2010/main" val="118506319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</a:t>
            </a:r>
            <a:r>
              <a:rPr lang="en-US" i="0" kern="0" dirty="0"/>
              <a:t>Motivation for Generative AI with FL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09D6F9-CD88-8BA1-9703-576015728F8F}"/>
              </a:ext>
            </a:extLst>
          </p:cNvPr>
          <p:cNvGrpSpPr/>
          <p:nvPr/>
        </p:nvGrpSpPr>
        <p:grpSpPr>
          <a:xfrm>
            <a:off x="281140" y="1798360"/>
            <a:ext cx="11656164" cy="731435"/>
            <a:chOff x="406400" y="1071852"/>
            <a:chExt cx="11656164" cy="731435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21EF0108-FA86-31C4-C0A5-E7FC9296A9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6400" y="1071852"/>
              <a:ext cx="4027814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i="0" kern="0" dirty="0"/>
                <a:t>Data Privacy and Security</a:t>
              </a:r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8DF51100-484C-2DA5-D0FF-F070900150CE}"/>
                </a:ext>
              </a:extLst>
            </p:cNvPr>
            <p:cNvSpPr/>
            <p:nvPr/>
          </p:nvSpPr>
          <p:spPr bwMode="auto">
            <a:xfrm>
              <a:off x="4334005" y="117367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6AD81084-5F90-3308-C390-8F5B46E0428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917857" y="1124439"/>
              <a:ext cx="4027814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Centralized data storage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04137E77-49C1-DE06-3509-E45DB6B1B737}"/>
                </a:ext>
              </a:extLst>
            </p:cNvPr>
            <p:cNvSpPr/>
            <p:nvPr/>
          </p:nvSpPr>
          <p:spPr bwMode="auto">
            <a:xfrm>
              <a:off x="8156531" y="119943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423916DA-EEF7-673F-ADFB-D74417023C7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790487" y="1150199"/>
              <a:ext cx="3272077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FL train models locally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FF470D-C19E-E321-7AB6-D48756B351A1}"/>
              </a:ext>
            </a:extLst>
          </p:cNvPr>
          <p:cNvGrpSpPr/>
          <p:nvPr/>
        </p:nvGrpSpPr>
        <p:grpSpPr>
          <a:xfrm>
            <a:off x="281140" y="2854936"/>
            <a:ext cx="11656164" cy="731435"/>
            <a:chOff x="406400" y="1071852"/>
            <a:chExt cx="11656164" cy="731435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E2FDEE56-3E88-4592-2B01-AB527933DF5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6400" y="1071852"/>
              <a:ext cx="4027814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i="0" kern="0" dirty="0"/>
                <a:t>Lower communication overhead</a:t>
              </a:r>
            </a:p>
          </p:txBody>
        </p: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5A7E4520-9578-E5C2-098B-1EF55E4658F4}"/>
                </a:ext>
              </a:extLst>
            </p:cNvPr>
            <p:cNvSpPr/>
            <p:nvPr/>
          </p:nvSpPr>
          <p:spPr bwMode="auto">
            <a:xfrm>
              <a:off x="4334005" y="117367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9FBEBCAF-4CE8-E8DD-DA34-3EC41F0908A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842701" y="1124439"/>
              <a:ext cx="4027814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Data is uploaded to server</a:t>
              </a:r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092EEE6C-2AEA-5166-7BED-72AD555F2058}"/>
                </a:ext>
              </a:extLst>
            </p:cNvPr>
            <p:cNvSpPr/>
            <p:nvPr/>
          </p:nvSpPr>
          <p:spPr bwMode="auto">
            <a:xfrm>
              <a:off x="8156531" y="119943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CE1F012C-D301-FD56-852B-9309603DFD6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790487" y="1150199"/>
              <a:ext cx="3272077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FL train models locally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F07D0E-33F0-471A-45CE-960AD64755F8}"/>
              </a:ext>
            </a:extLst>
          </p:cNvPr>
          <p:cNvGrpSpPr/>
          <p:nvPr/>
        </p:nvGrpSpPr>
        <p:grpSpPr>
          <a:xfrm>
            <a:off x="281140" y="3949090"/>
            <a:ext cx="12013156" cy="804108"/>
            <a:chOff x="406400" y="999179"/>
            <a:chExt cx="12013156" cy="804108"/>
          </a:xfrm>
        </p:grpSpPr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4F8C2302-8E35-B87C-310A-005FB818315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6400" y="1071852"/>
              <a:ext cx="4027814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i="0" kern="0" dirty="0"/>
                <a:t>Enabling Real-time Updates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F503ED55-535D-8B69-31B1-40D193831642}"/>
                </a:ext>
              </a:extLst>
            </p:cNvPr>
            <p:cNvSpPr/>
            <p:nvPr/>
          </p:nvSpPr>
          <p:spPr bwMode="auto">
            <a:xfrm>
              <a:off x="4334005" y="117367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62E33D69-FD78-84D0-1FEA-7B8D0D6DB82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842700" y="999179"/>
              <a:ext cx="3691699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Models needs to be retrained for new scenarios</a:t>
              </a:r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2C14FCAD-6212-E9A9-F2E8-0187158EED5A}"/>
                </a:ext>
              </a:extLst>
            </p:cNvPr>
            <p:cNvSpPr/>
            <p:nvPr/>
          </p:nvSpPr>
          <p:spPr bwMode="auto">
            <a:xfrm>
              <a:off x="8156531" y="119943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AAC421A9-2639-DE64-C9A6-DE0D3FBDFF1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727857" y="1150199"/>
              <a:ext cx="3691699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Directly update local model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2583BD-4FCD-BAB8-2C44-63A33D81E709}"/>
              </a:ext>
            </a:extLst>
          </p:cNvPr>
          <p:cNvGrpSpPr/>
          <p:nvPr/>
        </p:nvGrpSpPr>
        <p:grpSpPr>
          <a:xfrm>
            <a:off x="281140" y="5115916"/>
            <a:ext cx="12013156" cy="779056"/>
            <a:chOff x="406400" y="1024231"/>
            <a:chExt cx="12013156" cy="779056"/>
          </a:xfrm>
        </p:grpSpPr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B240E2D8-3A02-B898-C411-E4D54A2148F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6400" y="1071852"/>
              <a:ext cx="4153074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r>
                <a:rPr lang="en-US" i="0" kern="0" dirty="0"/>
                <a:t>Enhancing Model Generalization</a:t>
              </a:r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D4CF83DC-3DA4-7045-DF62-79611B18ED60}"/>
                </a:ext>
              </a:extLst>
            </p:cNvPr>
            <p:cNvSpPr/>
            <p:nvPr/>
          </p:nvSpPr>
          <p:spPr bwMode="auto">
            <a:xfrm>
              <a:off x="4334005" y="117367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BB65CE38-33DF-C8C7-5B4C-18603CB072E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917856" y="1024231"/>
              <a:ext cx="3173957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Centralized data lead to bias</a:t>
              </a:r>
            </a:p>
          </p:txBody>
        </p:sp>
        <p:sp>
          <p:nvSpPr>
            <p:cNvPr id="30" name="Right Arrow 29">
              <a:extLst>
                <a:ext uri="{FF2B5EF4-FFF2-40B4-BE49-F238E27FC236}">
                  <a16:creationId xmlns:a16="http://schemas.microsoft.com/office/drawing/2014/main" id="{C4B243F7-F0C4-14C8-E92A-D81A4A3230CF}"/>
                </a:ext>
              </a:extLst>
            </p:cNvPr>
            <p:cNvSpPr/>
            <p:nvPr/>
          </p:nvSpPr>
          <p:spPr bwMode="auto">
            <a:xfrm>
              <a:off x="8156531" y="1199431"/>
              <a:ext cx="526093" cy="363255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7D0AE10E-418E-0F21-F56B-8F35CA4256F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727857" y="1150199"/>
              <a:ext cx="3691699" cy="65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0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i="0" kern="0" dirty="0"/>
                <a:t>Provide customized local model updates</a:t>
              </a:r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EE0F49B-6F81-199E-B1A9-5F1B55454395}"/>
              </a:ext>
            </a:extLst>
          </p:cNvPr>
          <p:cNvSpPr txBox="1">
            <a:spLocks/>
          </p:cNvSpPr>
          <p:nvPr/>
        </p:nvSpPr>
        <p:spPr bwMode="auto">
          <a:xfrm>
            <a:off x="4792596" y="1120915"/>
            <a:ext cx="3173957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b="1" i="0" kern="0" dirty="0"/>
              <a:t>Traditional ML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8616E3B4-AB39-5DA9-DF04-59EDB7BEF7EE}"/>
              </a:ext>
            </a:extLst>
          </p:cNvPr>
          <p:cNvSpPr txBox="1">
            <a:spLocks/>
          </p:cNvSpPr>
          <p:nvPr/>
        </p:nvSpPr>
        <p:spPr bwMode="auto">
          <a:xfrm>
            <a:off x="8369821" y="1085656"/>
            <a:ext cx="3173957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b="1" i="0" kern="0" dirty="0"/>
              <a:t>FL</a:t>
            </a:r>
          </a:p>
        </p:txBody>
      </p:sp>
    </p:spTree>
    <p:extLst>
      <p:ext uri="{BB962C8B-B14F-4D97-AF65-F5344CB8AC3E}">
        <p14:creationId xmlns:p14="http://schemas.microsoft.com/office/powerpoint/2010/main" val="323775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GAN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59AB14-E525-5DE2-3E17-623A5B860531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The Loose Coupling Model of Federated GANs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C3E4C-568D-91C5-36FB-54ACD4727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58" y="1474181"/>
            <a:ext cx="8125965" cy="4867913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D8D5C9AD-666B-3919-D5D6-B502A4280BE0}"/>
              </a:ext>
            </a:extLst>
          </p:cNvPr>
          <p:cNvSpPr txBox="1"/>
          <p:nvPr/>
        </p:nvSpPr>
        <p:spPr>
          <a:xfrm>
            <a:off x="132809" y="6343361"/>
            <a:ext cx="11926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9pPr>
          </a:lstStyle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Zhang, L. Zhao, K. Yu, G. Min, A. Y. Al-Dubai, and A. Y.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Zomaya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novel federated learning scheme for generative adversarial networks,” IEEE Transactions on Mobile Computing, vol. 23, no. 5, pp. 3633–3649, 2023.</a:t>
            </a:r>
          </a:p>
        </p:txBody>
      </p:sp>
    </p:spTree>
    <p:extLst>
      <p:ext uri="{BB962C8B-B14F-4D97-AF65-F5344CB8AC3E}">
        <p14:creationId xmlns:p14="http://schemas.microsoft.com/office/powerpoint/2010/main" val="16942918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GAN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59AB14-E525-5DE2-3E17-623A5B860531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The Tight Coupling Model of Federated GANs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142B09-F321-006F-C9DF-9EAB818B1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321" y="1494730"/>
            <a:ext cx="9361357" cy="4738643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7520CC09-8BCD-92D8-C993-02F8D1FE47DB}"/>
              </a:ext>
            </a:extLst>
          </p:cNvPr>
          <p:cNvSpPr txBox="1"/>
          <p:nvPr/>
        </p:nvSpPr>
        <p:spPr>
          <a:xfrm>
            <a:off x="132809" y="6343361"/>
            <a:ext cx="11926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9pPr>
          </a:lstStyle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Xin, W. Yang, Y.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Chen, S. Wang, and L. Huang, “Private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fl-gan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Differential privacy synthetic data generation based on federated learning,” in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Icassp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2020-2020 IEEE international conference on acoustics,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and signal processing (ICASSP). IEEE, 2020, pp. 2927–2931.</a:t>
            </a:r>
          </a:p>
        </p:txBody>
      </p:sp>
    </p:spTree>
    <p:extLst>
      <p:ext uri="{BB962C8B-B14F-4D97-AF65-F5344CB8AC3E}">
        <p14:creationId xmlns:p14="http://schemas.microsoft.com/office/powerpoint/2010/main" val="2439606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GAN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59AB14-E525-5DE2-3E17-623A5B860531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The Flexible Coupling Model of Federated GANs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92B91-89FD-D88A-BC2E-EDD0BF89C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96" y="1617393"/>
            <a:ext cx="9041807" cy="4783407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0B96B70A-BD2C-483C-254F-7C91FA8C1657}"/>
              </a:ext>
            </a:extLst>
          </p:cNvPr>
          <p:cNvSpPr txBox="1"/>
          <p:nvPr/>
        </p:nvSpPr>
        <p:spPr>
          <a:xfrm>
            <a:off x="132809" y="6433514"/>
            <a:ext cx="11926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9pPr>
          </a:lstStyle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Wu, X. Chen, Z. Zhou, and J. Zhang, “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Fedhome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Cloud-edge based personalized federated learning for in-home health monitoring,” IEEE Transactions on Mobile Computing, vol. 21, no. 8, pp. 2818–2832, 2020.</a:t>
            </a:r>
          </a:p>
        </p:txBody>
      </p:sp>
    </p:spTree>
    <p:extLst>
      <p:ext uri="{BB962C8B-B14F-4D97-AF65-F5344CB8AC3E}">
        <p14:creationId xmlns:p14="http://schemas.microsoft.com/office/powerpoint/2010/main" val="23457388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VAE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synthetic data generation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2491EB-4CEC-C770-0B4D-1BC3658132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" r="-185"/>
          <a:stretch/>
        </p:blipFill>
        <p:spPr>
          <a:xfrm>
            <a:off x="102486" y="1435925"/>
            <a:ext cx="11965018" cy="255388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45B0F0-26E3-5EB6-44A0-DD4BEBC565C6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FL in Non-IID Settings and synthetic data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5C9AD-666B-3919-D5D6-B502A4280BE0}"/>
              </a:ext>
            </a:extLst>
          </p:cNvPr>
          <p:cNvSpPr txBox="1"/>
          <p:nvPr/>
        </p:nvSpPr>
        <p:spPr>
          <a:xfrm>
            <a:off x="102486" y="6192073"/>
            <a:ext cx="115915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Chen and H.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Vikalo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“Federated learning in non-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iid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settings aided by differentially private synthetic data,” in Proceedings of the IEEE/CVF Conference on Computer Vision and Pattern Recognition, 2023, pp. 5027–503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Yang, M. Ge, K. Xiang, X. Bai, and H. Li, “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Fedvae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Communication-efficient federated learning with non-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iid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private data,” IEEE Systems Journal, vol. 17, no. 3, pp. 4798–4808, 2023.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J.-h. Duan, W. Li, D. Zou, R. Li, and S. Lu, “Federated learning with data-agnostic distribution fusion,” in Proceedings of the IEEE/CVF Conference on Computer Vision and Pattern Recognition, 2023, pp. 8074–808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0E4E67-0103-A645-DD96-B07A569B0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267" y="4069743"/>
            <a:ext cx="9557466" cy="206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3167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VAE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dirty="0"/>
              <a:t>gradient inversion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5C9AD-666B-3919-D5D6-B502A4280BE0}"/>
              </a:ext>
            </a:extLst>
          </p:cNvPr>
          <p:cNvSpPr txBox="1"/>
          <p:nvPr/>
        </p:nvSpPr>
        <p:spPr>
          <a:xfrm>
            <a:off x="102486" y="6114799"/>
            <a:ext cx="119263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Liu, X. Luo, Z. Zhao, Z. Chang, M. Pan, P. Li, G. Min, and H. Li,“Fed2vaes: An efficient privacy-preserving federated learning approach based on variational autoencoders,” in ICC 2024-IEEE International Conference on Communications. IEEE, 2024, pp. 2634–263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Issa, N.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Moustafa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Turnbull, and K.-K. R. Choo, “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Rve-pfl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Robust variational encoder-based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federated learning against model inversion attacks,” IEEE Transactions on Information Forensics and Security,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3E1D5F-2887-DE35-F053-59CE67AA6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79" y="1645661"/>
            <a:ext cx="9842442" cy="420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936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690CD-111C-AD7A-FFED-28DF23A523BB}"/>
              </a:ext>
            </a:extLst>
          </p:cNvPr>
          <p:cNvSpPr txBox="1"/>
          <p:nvPr/>
        </p:nvSpPr>
        <p:spPr>
          <a:xfrm>
            <a:off x="132809" y="6229290"/>
            <a:ext cx="11926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Peng, X. Wang, S. Chen, H. Rao, C. Shen, and J. Jiang, “Federated learning for diffusion models,” IEEE Transactions on Cognitive Communications and Networking, 2025.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Zhao, F. Yang, and G. Liang, “Federated learning based on diffusion model to cope with non-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iid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data,” in Chinese Conference on Pattern Recognition and Computer Vision (PRCV). Springer, 2023, pp. 220–231.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7EC86-2516-82B1-1E0B-A2F262A6C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411" y="1396512"/>
            <a:ext cx="8069177" cy="460417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F5DA3D-14CB-18E0-BFD9-37B71EF71D56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FL in Non-IID Settings and synthetic data generation</a:t>
            </a:r>
          </a:p>
        </p:txBody>
      </p:sp>
    </p:spTree>
    <p:extLst>
      <p:ext uri="{BB962C8B-B14F-4D97-AF65-F5344CB8AC3E}">
        <p14:creationId xmlns:p14="http://schemas.microsoft.com/office/powerpoint/2010/main" val="166706356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690CD-111C-AD7A-FFED-28DF23A523BB}"/>
              </a:ext>
            </a:extLst>
          </p:cNvPr>
          <p:cNvSpPr txBox="1"/>
          <p:nvPr/>
        </p:nvSpPr>
        <p:spPr>
          <a:xfrm>
            <a:off x="102486" y="6273823"/>
            <a:ext cx="11926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V. Stanley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Jothiraj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Mashhadi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“Phoenix: A federated generative diffusion model,” in Companion Proceedings of the ACM Web Conference 2024, 2024, pp. 1568–1577.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Di, H. Shi, X. Wang, R. Ma, and Y. Liu, “Federated recommender system based on diffusion augmentation and guided denoising,” ACM Transactions on Information Systems, vol. 43, no. 2, pp. 1–36, 2025.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F5DA3D-14CB-18E0-BFD9-37B71EF71D56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FL in Non-IID Settings and Decoupling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E3AFC-EC7D-B837-C9E5-03ACAA958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576" y="1484243"/>
            <a:ext cx="4674024" cy="477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412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Transformer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D8AC0-D149-B241-F235-FE5A447E2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00" y="1069197"/>
            <a:ext cx="6025595" cy="5006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CCAC31-F2EE-B25E-20E0-20E6FD51D82A}"/>
              </a:ext>
            </a:extLst>
          </p:cNvPr>
          <p:cNvSpPr txBox="1"/>
          <p:nvPr/>
        </p:nvSpPr>
        <p:spPr>
          <a:xfrm>
            <a:off x="103607" y="6189993"/>
            <a:ext cx="119263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Tan, G. Long, J. Ma, L. Liu, T. Zhou, and J. Jiang, “Federated learning from pre-trained models: A contrastive learning approach,” Advances in neural information processing systems, vol. 35, pp. 19 332–19 344, 2022.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Chen, Y. Zhang, D.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Krompass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Gu, and V.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Tresp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Feddat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approach for foundation model finetuning in multi-modal heterogeneous federated learning,” in Proceedings of the AAAI Conference on Artificial</a:t>
            </a:r>
          </a:p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Intelligence, vol. 38, no. 10, 2024, pp. 11 285–11 293.</a:t>
            </a:r>
          </a:p>
        </p:txBody>
      </p:sp>
    </p:spTree>
    <p:extLst>
      <p:ext uri="{BB962C8B-B14F-4D97-AF65-F5344CB8AC3E}">
        <p14:creationId xmlns:p14="http://schemas.microsoft.com/office/powerpoint/2010/main" val="353216801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Transformer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CAC31-F2EE-B25E-20E0-20E6FD51D82A}"/>
              </a:ext>
            </a:extLst>
          </p:cNvPr>
          <p:cNvSpPr txBox="1"/>
          <p:nvPr/>
        </p:nvSpPr>
        <p:spPr>
          <a:xfrm>
            <a:off x="103607" y="6216497"/>
            <a:ext cx="11926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Li, Z. Cai, J. Wang, J. Tang, W. Ding, C.-T. Lin, and Y. Shi, “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Fedtp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Federated learning by transformer personalization,” IEEE transactions on neural networks and learning systems, 2023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BFDEB-CCD8-5C13-803E-66BC6A9E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67" y="1626999"/>
            <a:ext cx="9486866" cy="429310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CA0CB7-CEB7-57F2-371F-05C147E8D60F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FL in Non-IID Settings and Transformer Personalization </a:t>
            </a:r>
          </a:p>
        </p:txBody>
      </p:sp>
    </p:spTree>
    <p:extLst>
      <p:ext uri="{BB962C8B-B14F-4D97-AF65-F5344CB8AC3E}">
        <p14:creationId xmlns:p14="http://schemas.microsoft.com/office/powerpoint/2010/main" val="67729954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4385D49-F456-63CA-8093-BA804611E4A9}"/>
              </a:ext>
            </a:extLst>
          </p:cNvPr>
          <p:cNvSpPr txBox="1">
            <a:spLocks/>
          </p:cNvSpPr>
          <p:nvPr/>
        </p:nvSpPr>
        <p:spPr bwMode="auto">
          <a:xfrm>
            <a:off x="585940" y="1798360"/>
            <a:ext cx="4027814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Diverse content generation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F51A389-4379-A30B-BE36-47F111C8281C}"/>
              </a:ext>
            </a:extLst>
          </p:cNvPr>
          <p:cNvSpPr txBox="1">
            <a:spLocks/>
          </p:cNvSpPr>
          <p:nvPr/>
        </p:nvSpPr>
        <p:spPr bwMode="auto">
          <a:xfrm>
            <a:off x="585940" y="2854936"/>
            <a:ext cx="4027814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Privacy preservation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EAA20F0-45FB-1632-537F-E30130EBABDA}"/>
              </a:ext>
            </a:extLst>
          </p:cNvPr>
          <p:cNvSpPr txBox="1">
            <a:spLocks/>
          </p:cNvSpPr>
          <p:nvPr/>
        </p:nvSpPr>
        <p:spPr bwMode="auto">
          <a:xfrm>
            <a:off x="585940" y="4021763"/>
            <a:ext cx="4027814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Synthetic data generation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2806F2FB-66EA-CEEC-B149-21AF2F92AF79}"/>
              </a:ext>
            </a:extLst>
          </p:cNvPr>
          <p:cNvSpPr/>
          <p:nvPr/>
        </p:nvSpPr>
        <p:spPr bwMode="auto">
          <a:xfrm>
            <a:off x="4613754" y="1903520"/>
            <a:ext cx="526093" cy="36325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28BB524-D6FC-179C-11AC-A1260717D97F}"/>
              </a:ext>
            </a:extLst>
          </p:cNvPr>
          <p:cNvSpPr txBox="1">
            <a:spLocks/>
          </p:cNvSpPr>
          <p:nvPr/>
        </p:nvSpPr>
        <p:spPr bwMode="auto">
          <a:xfrm>
            <a:off x="5389852" y="1798360"/>
            <a:ext cx="6510599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i="0" kern="0" dirty="0"/>
              <a:t>FL for Generated AI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F681A7FE-1AE0-588B-D5B4-CEC7C5A00950}"/>
              </a:ext>
            </a:extLst>
          </p:cNvPr>
          <p:cNvSpPr/>
          <p:nvPr/>
        </p:nvSpPr>
        <p:spPr bwMode="auto">
          <a:xfrm>
            <a:off x="4613753" y="2986626"/>
            <a:ext cx="526093" cy="36325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7C663DE-8B8C-40B8-C327-69BFDB7ECFB4}"/>
              </a:ext>
            </a:extLst>
          </p:cNvPr>
          <p:cNvSpPr txBox="1">
            <a:spLocks/>
          </p:cNvSpPr>
          <p:nvPr/>
        </p:nvSpPr>
        <p:spPr bwMode="auto">
          <a:xfrm>
            <a:off x="5422983" y="2947725"/>
            <a:ext cx="6510599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i="0" kern="0" dirty="0"/>
              <a:t>FL for Generated AI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878D52AE-AA49-ABDE-E79F-ECCACA2DCDA9}"/>
              </a:ext>
            </a:extLst>
          </p:cNvPr>
          <p:cNvSpPr/>
          <p:nvPr/>
        </p:nvSpPr>
        <p:spPr bwMode="auto">
          <a:xfrm>
            <a:off x="4613752" y="4069732"/>
            <a:ext cx="526093" cy="36325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A4803EC-A67D-1A11-C58B-E01D8E91BDAB}"/>
              </a:ext>
            </a:extLst>
          </p:cNvPr>
          <p:cNvSpPr txBox="1">
            <a:spLocks/>
          </p:cNvSpPr>
          <p:nvPr/>
        </p:nvSpPr>
        <p:spPr bwMode="auto">
          <a:xfrm>
            <a:off x="5449487" y="4021763"/>
            <a:ext cx="6510599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i="0" kern="0" dirty="0"/>
              <a:t>Generated AI for FL</a:t>
            </a:r>
          </a:p>
        </p:txBody>
      </p:sp>
    </p:spTree>
    <p:extLst>
      <p:ext uri="{BB962C8B-B14F-4D97-AF65-F5344CB8AC3E}">
        <p14:creationId xmlns:p14="http://schemas.microsoft.com/office/powerpoint/2010/main" val="2948871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955639E-F5C8-DBA4-39B3-704B99766E32}"/>
              </a:ext>
            </a:extLst>
          </p:cNvPr>
          <p:cNvSpPr/>
          <p:nvPr/>
        </p:nvSpPr>
        <p:spPr>
          <a:xfrm rot="21374395">
            <a:off x="4137646" y="2967335"/>
            <a:ext cx="3916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altLang="zh-CN" sz="5400" b="1" cap="none" spc="0">
                <a:ln w="12700">
                  <a:solidFill>
                    <a:srgbClr val="FFFF00"/>
                  </a:solidFill>
                  <a:prstDash val="solid"/>
                </a:ln>
                <a:solidFill>
                  <a:srgbClr val="FFC000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Thank You!</a:t>
            </a:r>
            <a:endParaRPr lang="zh-CN" altLang="en-US" sz="5400" b="1" cap="none" spc="0">
              <a:ln w="12700">
                <a:solidFill>
                  <a:srgbClr val="FFFF00"/>
                </a:solidFill>
                <a:prstDash val="solid"/>
              </a:ln>
              <a:solidFill>
                <a:srgbClr val="FFC000"/>
              </a:solidFill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611440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CA4-055F-CB95-C4EE-DE4CD0D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GAN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25608-652F-6905-FD41-E5136F402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A34F41-4155-408E-A897-106FC8643D9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59AB14-E525-5DE2-3E17-623A5B860531}"/>
              </a:ext>
            </a:extLst>
          </p:cNvPr>
          <p:cNvSpPr txBox="1">
            <a:spLocks/>
          </p:cNvSpPr>
          <p:nvPr/>
        </p:nvSpPr>
        <p:spPr bwMode="auto">
          <a:xfrm>
            <a:off x="406400" y="1009069"/>
            <a:ext cx="9944100" cy="65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85000"/>
              <a:buFont typeface="Wingdings" charset="2"/>
              <a:buChar char="q"/>
              <a:defRPr sz="2400">
                <a:solidFill>
                  <a:srgbClr val="0000DA"/>
                </a:solidFill>
                <a:latin typeface="+mn-lt"/>
                <a:ea typeface="ＭＳ Ｐゴシック" pitchFamily="-112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85000"/>
              <a:buFont typeface="Wingdings" charset="2"/>
              <a:buChar char="Ø"/>
              <a:defRPr sz="22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70000"/>
              <a:buFont typeface="Wingdings" pitchFamily="-107" charset="2"/>
              <a:buChar char="v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50000"/>
                </a:schemeClr>
              </a:buClr>
              <a:buSzPct val="90000"/>
              <a:buFont typeface="Wingdings" pitchFamily="-107" charset="2"/>
              <a:buChar char="q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-107" charset="2"/>
              <a:buChar char="Ø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  <a:cs typeface="Arial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A7E54"/>
              </a:buClr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i="0" kern="0" dirty="0"/>
              <a:t>the </a:t>
            </a:r>
            <a:r>
              <a:rPr lang="en-US" i="0" kern="0" dirty="0" err="1"/>
              <a:t>FedCG</a:t>
            </a:r>
            <a:r>
              <a:rPr lang="en-US" i="0" kern="0" dirty="0"/>
              <a:t>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6BCF03-9C3E-92F8-92BA-EC9D1F8B4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12" y="1662157"/>
            <a:ext cx="8900375" cy="4321490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135C985D-46EC-A701-5919-6837F7D0428B}"/>
              </a:ext>
            </a:extLst>
          </p:cNvPr>
          <p:cNvSpPr txBox="1"/>
          <p:nvPr/>
        </p:nvSpPr>
        <p:spPr>
          <a:xfrm>
            <a:off x="132809" y="6433514"/>
            <a:ext cx="11926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+mn-cs"/>
              </a:defRPr>
            </a:lvl9pPr>
          </a:lstStyle>
          <a:p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Wu, Y. Kang, J. Luo, Y. He, and Q. Yang, “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Fedcg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Leverage conditional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protecting privacy and maintaining competitive performance in federated learning,” </a:t>
            </a:r>
            <a:r>
              <a:rPr lang="en-US" sz="10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arXiv:2111.08211, 2021.</a:t>
            </a:r>
          </a:p>
        </p:txBody>
      </p:sp>
    </p:spTree>
    <p:extLst>
      <p:ext uri="{BB962C8B-B14F-4D97-AF65-F5344CB8AC3E}">
        <p14:creationId xmlns:p14="http://schemas.microsoft.com/office/powerpoint/2010/main" val="284520152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rofTian_Group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ofTian_Group" id="{9A27C3D9-3926-4EA5-AEFD-6E320ABCB500}" vid="{E61E3F45-6CCB-482B-9996-4C583492891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rofTian_Group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ofTian_Group" id="{9A27C3D9-3926-4EA5-AEFD-6E320ABCB500}" vid="{E61E3F45-6CCB-482B-9996-4C583492891A}"/>
    </a:ext>
  </a:extLst>
</a:theme>
</file>

<file path=ppt/theme/theme5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ProfTian_Group</Template>
  <TotalTime>21500</TotalTime>
  <Words>1442</Words>
  <Application>Microsoft Macintosh PowerPoint</Application>
  <PresentationFormat>Widescreen</PresentationFormat>
  <Paragraphs>129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Times New Roman</vt:lpstr>
      <vt:lpstr>Wingdings</vt:lpstr>
      <vt:lpstr>ProfTian_Group</vt:lpstr>
      <vt:lpstr>Office 主题​​</vt:lpstr>
      <vt:lpstr>1_Office 主题​​</vt:lpstr>
      <vt:lpstr>1_ProfTian_Group</vt:lpstr>
      <vt:lpstr>2_Office 主题​​</vt:lpstr>
      <vt:lpstr>3_Office 主题​​</vt:lpstr>
      <vt:lpstr>Federated Generative AI</vt:lpstr>
      <vt:lpstr>Outline</vt:lpstr>
      <vt:lpstr>Introduction</vt:lpstr>
      <vt:lpstr>Introduction - The Development  of Computing Models</vt:lpstr>
      <vt:lpstr>Introduction - Generative AI</vt:lpstr>
      <vt:lpstr>Introduction - Generated AI differs from traditional AI</vt:lpstr>
      <vt:lpstr>Introduction - Generated AI differs from traditional AI</vt:lpstr>
      <vt:lpstr>Introduction - Generated AI differs from traditional AI</vt:lpstr>
      <vt:lpstr>Introduction – Motivation for Generative AI with FL</vt:lpstr>
      <vt:lpstr>Federated GAN</vt:lpstr>
      <vt:lpstr>Federated GAN</vt:lpstr>
      <vt:lpstr>Federated GAN</vt:lpstr>
      <vt:lpstr>Federated VAE – synthetic data generation</vt:lpstr>
      <vt:lpstr>Federated VAE – gradient inversion attack</vt:lpstr>
      <vt:lpstr>Federated Diffusion Model</vt:lpstr>
      <vt:lpstr>Federated Diffusion Model</vt:lpstr>
      <vt:lpstr>Federated Transformer</vt:lpstr>
      <vt:lpstr>Federated Transformer</vt:lpstr>
      <vt:lpstr>Summary</vt:lpstr>
      <vt:lpstr>PowerPoint Presentation</vt:lpstr>
      <vt:lpstr>Federated GAN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Radio Map Estimation</dc:title>
  <dc:creator>weishan zhang</dc:creator>
  <cp:lastModifiedBy>Dong Yang</cp:lastModifiedBy>
  <cp:revision>285</cp:revision>
  <dcterms:created xsi:type="dcterms:W3CDTF">2024-09-25T01:30:38Z</dcterms:created>
  <dcterms:modified xsi:type="dcterms:W3CDTF">2025-04-04T14:44:50Z</dcterms:modified>
</cp:coreProperties>
</file>