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07" r:id="rId2"/>
    <p:sldId id="297" r:id="rId3"/>
    <p:sldId id="298" r:id="rId4"/>
    <p:sldId id="300" r:id="rId5"/>
    <p:sldId id="301" r:id="rId6"/>
    <p:sldId id="303" r:id="rId7"/>
    <p:sldId id="304" r:id="rId8"/>
    <p:sldId id="306" r:id="rId9"/>
    <p:sldId id="309" r:id="rId10"/>
    <p:sldId id="310" r:id="rId11"/>
    <p:sldId id="299" r:id="rId12"/>
    <p:sldId id="288" r:id="rId13"/>
    <p:sldId id="293" r:id="rId14"/>
    <p:sldId id="259" r:id="rId15"/>
    <p:sldId id="292" r:id="rId16"/>
    <p:sldId id="295" r:id="rId17"/>
    <p:sldId id="284" r:id="rId18"/>
    <p:sldId id="308" r:id="rId19"/>
    <p:sldId id="312" r:id="rId20"/>
    <p:sldId id="30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44"/>
    <p:restoredTop sz="70816"/>
  </p:normalViewPr>
  <p:slideViewPr>
    <p:cSldViewPr snapToGrid="0">
      <p:cViewPr varScale="1">
        <p:scale>
          <a:sx n="87" d="100"/>
          <a:sy n="87" d="100"/>
        </p:scale>
        <p:origin x="1136" y="192"/>
      </p:cViewPr>
      <p:guideLst/>
    </p:cSldViewPr>
  </p:slideViewPr>
  <p:outlineViewPr>
    <p:cViewPr>
      <p:scale>
        <a:sx n="33" d="100"/>
        <a:sy n="33" d="100"/>
      </p:scale>
      <p:origin x="0" y="-324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9113D3-A00F-4060-BF32-DC14A2F45ED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8DA4E87-17B7-491F-B6C2-8CFFD773A947}">
      <dgm:prSet custT="1"/>
      <dgm:spPr/>
      <dgm:t>
        <a:bodyPr/>
        <a:lstStyle/>
        <a:p>
          <a:r>
            <a:rPr lang="en-US" sz="2400" dirty="0"/>
            <a:t>Introduction of Game Theory</a:t>
          </a:r>
        </a:p>
      </dgm:t>
    </dgm:pt>
    <dgm:pt modelId="{ABE7DC5F-4579-4FB0-B0F9-91EA13867B71}" type="parTrans" cxnId="{D0758258-06BC-4226-88E5-B232E258A57C}">
      <dgm:prSet/>
      <dgm:spPr/>
      <dgm:t>
        <a:bodyPr/>
        <a:lstStyle/>
        <a:p>
          <a:endParaRPr lang="en-US" sz="2400"/>
        </a:p>
      </dgm:t>
    </dgm:pt>
    <dgm:pt modelId="{1F1B6E7B-DA74-4993-97DF-EAB6CFC21587}" type="sibTrans" cxnId="{D0758258-06BC-4226-88E5-B232E258A57C}">
      <dgm:prSet/>
      <dgm:spPr/>
      <dgm:t>
        <a:bodyPr/>
        <a:lstStyle/>
        <a:p>
          <a:endParaRPr lang="en-US" sz="2400"/>
        </a:p>
      </dgm:t>
    </dgm:pt>
    <dgm:pt modelId="{4050471E-6FE5-48FC-9F42-BBAB38F57B0F}">
      <dgm:prSet custT="1"/>
      <dgm:spPr/>
      <dgm:t>
        <a:bodyPr/>
        <a:lstStyle/>
        <a:p>
          <a:r>
            <a:rPr lang="en-US" sz="2400" dirty="0"/>
            <a:t>Challenges &amp; Limitations</a:t>
          </a:r>
        </a:p>
      </dgm:t>
    </dgm:pt>
    <dgm:pt modelId="{7A89DA93-B39D-4C9D-808A-9E8B2C83689E}" type="parTrans" cxnId="{F427036B-2F23-4247-BA78-687B3936BF57}">
      <dgm:prSet/>
      <dgm:spPr/>
      <dgm:t>
        <a:bodyPr/>
        <a:lstStyle/>
        <a:p>
          <a:endParaRPr lang="en-US" sz="2400"/>
        </a:p>
      </dgm:t>
    </dgm:pt>
    <dgm:pt modelId="{F95ADB7C-9F66-43B4-8982-49E2056F52AB}" type="sibTrans" cxnId="{F427036B-2F23-4247-BA78-687B3936BF57}">
      <dgm:prSet/>
      <dgm:spPr/>
      <dgm:t>
        <a:bodyPr/>
        <a:lstStyle/>
        <a:p>
          <a:endParaRPr lang="en-US" sz="2400"/>
        </a:p>
      </dgm:t>
    </dgm:pt>
    <dgm:pt modelId="{4E93266E-3DEC-4BC0-A843-A8B3890F3549}">
      <dgm:prSet custT="1"/>
      <dgm:spPr/>
      <dgm:t>
        <a:bodyPr/>
        <a:lstStyle/>
        <a:p>
          <a:r>
            <a:rPr lang="en-US" sz="2400" dirty="0"/>
            <a:t>Game theory &amp; Artificial Intelligence</a:t>
          </a:r>
        </a:p>
      </dgm:t>
    </dgm:pt>
    <dgm:pt modelId="{0060A879-1222-4160-B571-B93EE679BDED}" type="parTrans" cxnId="{E5084EFD-457A-4BFE-9792-4FD5B54A5B12}">
      <dgm:prSet/>
      <dgm:spPr/>
      <dgm:t>
        <a:bodyPr/>
        <a:lstStyle/>
        <a:p>
          <a:endParaRPr lang="en-US" sz="2400"/>
        </a:p>
      </dgm:t>
    </dgm:pt>
    <dgm:pt modelId="{5C13F39F-9459-440E-945A-193EC7BA46CC}" type="sibTrans" cxnId="{E5084EFD-457A-4BFE-9792-4FD5B54A5B12}">
      <dgm:prSet/>
      <dgm:spPr/>
      <dgm:t>
        <a:bodyPr/>
        <a:lstStyle/>
        <a:p>
          <a:endParaRPr lang="en-US" sz="2400"/>
        </a:p>
      </dgm:t>
    </dgm:pt>
    <dgm:pt modelId="{7278CC3C-F261-4856-BCB3-4D48EA6ED85D}">
      <dgm:prSet custT="1"/>
      <dgm:spPr/>
      <dgm:t>
        <a:bodyPr/>
        <a:lstStyle/>
        <a:p>
          <a:r>
            <a:rPr lang="en-US" sz="2400" b="0" i="0" dirty="0">
              <a:solidFill>
                <a:srgbClr val="333333"/>
              </a:solidFill>
              <a:effectLst/>
            </a:rPr>
            <a:t>Exploring Equilibrium Strategies in Network Games with Generative AI</a:t>
          </a:r>
          <a:endParaRPr lang="en-US" sz="2400" b="0" dirty="0"/>
        </a:p>
      </dgm:t>
    </dgm:pt>
    <dgm:pt modelId="{84A03382-459A-4EB1-9BD3-4F713E139926}" type="parTrans" cxnId="{78582443-7F03-43D7-882E-7AE36CA09B06}">
      <dgm:prSet/>
      <dgm:spPr/>
      <dgm:t>
        <a:bodyPr/>
        <a:lstStyle/>
        <a:p>
          <a:endParaRPr lang="en-US" sz="2400"/>
        </a:p>
      </dgm:t>
    </dgm:pt>
    <dgm:pt modelId="{38286CC2-0F82-4155-B55A-FA3616A5D113}" type="sibTrans" cxnId="{78582443-7F03-43D7-882E-7AE36CA09B06}">
      <dgm:prSet/>
      <dgm:spPr/>
      <dgm:t>
        <a:bodyPr/>
        <a:lstStyle/>
        <a:p>
          <a:endParaRPr lang="en-US" sz="2400"/>
        </a:p>
      </dgm:t>
    </dgm:pt>
    <dgm:pt modelId="{015F62CB-FD02-4141-B89E-306CA0DADCA2}">
      <dgm:prSet custT="1"/>
      <dgm:spPr/>
      <dgm:t>
        <a:bodyPr/>
        <a:lstStyle/>
        <a:p>
          <a:r>
            <a:rPr lang="en-US" sz="2400" dirty="0"/>
            <a:t>Exploring the Equilibrium for Multi-stage Tournaments with reinforcement learning</a:t>
          </a:r>
        </a:p>
      </dgm:t>
    </dgm:pt>
    <dgm:pt modelId="{EA3DF0B9-BC18-4949-8579-7D008DA511C8}" type="parTrans" cxnId="{AA044B08-427E-4903-A531-449E16880FD3}">
      <dgm:prSet/>
      <dgm:spPr/>
      <dgm:t>
        <a:bodyPr/>
        <a:lstStyle/>
        <a:p>
          <a:endParaRPr lang="en-US" sz="2400"/>
        </a:p>
      </dgm:t>
    </dgm:pt>
    <dgm:pt modelId="{F1B528DC-1915-4BF1-A738-7F047A8BAFA1}" type="sibTrans" cxnId="{AA044B08-427E-4903-A531-449E16880FD3}">
      <dgm:prSet/>
      <dgm:spPr/>
      <dgm:t>
        <a:bodyPr/>
        <a:lstStyle/>
        <a:p>
          <a:endParaRPr lang="en-US" sz="2400"/>
        </a:p>
      </dgm:t>
    </dgm:pt>
    <dgm:pt modelId="{CE0B6C44-5C73-4EE8-9025-0B19196D77D5}" type="pres">
      <dgm:prSet presAssocID="{C99113D3-A00F-4060-BF32-DC14A2F45EDD}" presName="root" presStyleCnt="0">
        <dgm:presLayoutVars>
          <dgm:dir/>
          <dgm:resizeHandles val="exact"/>
        </dgm:presLayoutVars>
      </dgm:prSet>
      <dgm:spPr/>
    </dgm:pt>
    <dgm:pt modelId="{87AE2350-4A83-41FE-A0AE-4B0D8CD592AE}" type="pres">
      <dgm:prSet presAssocID="{B8DA4E87-17B7-491F-B6C2-8CFFD773A947}" presName="compNode" presStyleCnt="0"/>
      <dgm:spPr/>
    </dgm:pt>
    <dgm:pt modelId="{9533096E-396C-4578-B294-8426B076B9EF}" type="pres">
      <dgm:prSet presAssocID="{B8DA4E87-17B7-491F-B6C2-8CFFD773A947}" presName="bgRect" presStyleLbl="bgShp" presStyleIdx="0" presStyleCnt="5"/>
      <dgm:spPr/>
    </dgm:pt>
    <dgm:pt modelId="{490E0CA3-E1EF-438A-A0EC-AABE464A9E57}" type="pres">
      <dgm:prSet presAssocID="{B8DA4E87-17B7-491F-B6C2-8CFFD773A94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373B63B5-D83E-41EA-8C45-3DB1A7AC2073}" type="pres">
      <dgm:prSet presAssocID="{B8DA4E87-17B7-491F-B6C2-8CFFD773A947}" presName="spaceRect" presStyleCnt="0"/>
      <dgm:spPr/>
    </dgm:pt>
    <dgm:pt modelId="{186E0BE5-DCEC-4906-9F32-2CE1FDBD0E96}" type="pres">
      <dgm:prSet presAssocID="{B8DA4E87-17B7-491F-B6C2-8CFFD773A947}" presName="parTx" presStyleLbl="revTx" presStyleIdx="0" presStyleCnt="5">
        <dgm:presLayoutVars>
          <dgm:chMax val="0"/>
          <dgm:chPref val="0"/>
        </dgm:presLayoutVars>
      </dgm:prSet>
      <dgm:spPr/>
    </dgm:pt>
    <dgm:pt modelId="{0259A589-000C-41C4-A7CA-328C17E6C68A}" type="pres">
      <dgm:prSet presAssocID="{1F1B6E7B-DA74-4993-97DF-EAB6CFC21587}" presName="sibTrans" presStyleCnt="0"/>
      <dgm:spPr/>
    </dgm:pt>
    <dgm:pt modelId="{CF980CF4-60AA-49AA-8625-B00B81F03B28}" type="pres">
      <dgm:prSet presAssocID="{4050471E-6FE5-48FC-9F42-BBAB38F57B0F}" presName="compNode" presStyleCnt="0"/>
      <dgm:spPr/>
    </dgm:pt>
    <dgm:pt modelId="{34CC571D-8D67-40F2-8714-DE55A561BC2F}" type="pres">
      <dgm:prSet presAssocID="{4050471E-6FE5-48FC-9F42-BBAB38F57B0F}" presName="bgRect" presStyleLbl="bgShp" presStyleIdx="1" presStyleCnt="5"/>
      <dgm:spPr/>
    </dgm:pt>
    <dgm:pt modelId="{98A9B8A0-035E-427D-868C-DDAFC83A1C2A}" type="pres">
      <dgm:prSet presAssocID="{4050471E-6FE5-48FC-9F42-BBAB38F57B0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F00581FA-E4C0-4D15-8386-F770519BFC2B}" type="pres">
      <dgm:prSet presAssocID="{4050471E-6FE5-48FC-9F42-BBAB38F57B0F}" presName="spaceRect" presStyleCnt="0"/>
      <dgm:spPr/>
    </dgm:pt>
    <dgm:pt modelId="{3BC18695-72AE-4BC2-A435-86009D51FB56}" type="pres">
      <dgm:prSet presAssocID="{4050471E-6FE5-48FC-9F42-BBAB38F57B0F}" presName="parTx" presStyleLbl="revTx" presStyleIdx="1" presStyleCnt="5">
        <dgm:presLayoutVars>
          <dgm:chMax val="0"/>
          <dgm:chPref val="0"/>
        </dgm:presLayoutVars>
      </dgm:prSet>
      <dgm:spPr/>
    </dgm:pt>
    <dgm:pt modelId="{1595CC81-F822-49B8-A213-48C547E73240}" type="pres">
      <dgm:prSet presAssocID="{F95ADB7C-9F66-43B4-8982-49E2056F52AB}" presName="sibTrans" presStyleCnt="0"/>
      <dgm:spPr/>
    </dgm:pt>
    <dgm:pt modelId="{1C566E4B-F796-460F-BAA9-1345F76EC3D5}" type="pres">
      <dgm:prSet presAssocID="{4E93266E-3DEC-4BC0-A843-A8B3890F3549}" presName="compNode" presStyleCnt="0"/>
      <dgm:spPr/>
    </dgm:pt>
    <dgm:pt modelId="{CD0C52DA-C896-494D-BF02-A9E5939A09E9}" type="pres">
      <dgm:prSet presAssocID="{4E93266E-3DEC-4BC0-A843-A8B3890F3549}" presName="bgRect" presStyleLbl="bgShp" presStyleIdx="2" presStyleCnt="5"/>
      <dgm:spPr/>
    </dgm:pt>
    <dgm:pt modelId="{0C2A0A0C-F84D-465A-A2FA-01859407886B}" type="pres">
      <dgm:prSet presAssocID="{4E93266E-3DEC-4BC0-A843-A8B3890F354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A3738B3-A3F7-4F0D-8A02-AB05AE595F3D}" type="pres">
      <dgm:prSet presAssocID="{4E93266E-3DEC-4BC0-A843-A8B3890F3549}" presName="spaceRect" presStyleCnt="0"/>
      <dgm:spPr/>
    </dgm:pt>
    <dgm:pt modelId="{B4E55190-2775-4CF6-B8FE-56ED2A4C4F82}" type="pres">
      <dgm:prSet presAssocID="{4E93266E-3DEC-4BC0-A843-A8B3890F3549}" presName="parTx" presStyleLbl="revTx" presStyleIdx="2" presStyleCnt="5">
        <dgm:presLayoutVars>
          <dgm:chMax val="0"/>
          <dgm:chPref val="0"/>
        </dgm:presLayoutVars>
      </dgm:prSet>
      <dgm:spPr/>
    </dgm:pt>
    <dgm:pt modelId="{102EA727-A47B-4BB6-9C38-882C44C47B71}" type="pres">
      <dgm:prSet presAssocID="{5C13F39F-9459-440E-945A-193EC7BA46CC}" presName="sibTrans" presStyleCnt="0"/>
      <dgm:spPr/>
    </dgm:pt>
    <dgm:pt modelId="{FC34ACAF-BB7E-4185-9358-7F9C4BB497BF}" type="pres">
      <dgm:prSet presAssocID="{7278CC3C-F261-4856-BCB3-4D48EA6ED85D}" presName="compNode" presStyleCnt="0"/>
      <dgm:spPr/>
    </dgm:pt>
    <dgm:pt modelId="{1FF6A475-32E7-40DC-8B26-8E18C04E249F}" type="pres">
      <dgm:prSet presAssocID="{7278CC3C-F261-4856-BCB3-4D48EA6ED85D}" presName="bgRect" presStyleLbl="bgShp" presStyleIdx="3" presStyleCnt="5"/>
      <dgm:spPr/>
    </dgm:pt>
    <dgm:pt modelId="{62D2BF57-F070-4122-AE0B-1D96297082A8}" type="pres">
      <dgm:prSet presAssocID="{7278CC3C-F261-4856-BCB3-4D48EA6ED85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0CE782EA-4951-4B5A-B03E-F6613A4573A1}" type="pres">
      <dgm:prSet presAssocID="{7278CC3C-F261-4856-BCB3-4D48EA6ED85D}" presName="spaceRect" presStyleCnt="0"/>
      <dgm:spPr/>
    </dgm:pt>
    <dgm:pt modelId="{C19847AC-EAF3-48A7-A3B8-2D5C3154AF54}" type="pres">
      <dgm:prSet presAssocID="{7278CC3C-F261-4856-BCB3-4D48EA6ED85D}" presName="parTx" presStyleLbl="revTx" presStyleIdx="3" presStyleCnt="5">
        <dgm:presLayoutVars>
          <dgm:chMax val="0"/>
          <dgm:chPref val="0"/>
        </dgm:presLayoutVars>
      </dgm:prSet>
      <dgm:spPr/>
    </dgm:pt>
    <dgm:pt modelId="{302E2C21-63E4-4C48-9019-9540A7F7FB35}" type="pres">
      <dgm:prSet presAssocID="{38286CC2-0F82-4155-B55A-FA3616A5D113}" presName="sibTrans" presStyleCnt="0"/>
      <dgm:spPr/>
    </dgm:pt>
    <dgm:pt modelId="{EBA9166C-E931-4377-BCE6-6C2A9FE69982}" type="pres">
      <dgm:prSet presAssocID="{015F62CB-FD02-4141-B89E-306CA0DADCA2}" presName="compNode" presStyleCnt="0"/>
      <dgm:spPr/>
    </dgm:pt>
    <dgm:pt modelId="{493D1A43-69C2-48D1-BEEA-1D0FDDC26DBC}" type="pres">
      <dgm:prSet presAssocID="{015F62CB-FD02-4141-B89E-306CA0DADCA2}" presName="bgRect" presStyleLbl="bgShp" presStyleIdx="4" presStyleCnt="5" custLinFactNeighborX="3610" custLinFactNeighborY="-2383"/>
      <dgm:spPr/>
    </dgm:pt>
    <dgm:pt modelId="{1C6CCD55-AE91-4BFF-89BA-BF774E8075B5}" type="pres">
      <dgm:prSet presAssocID="{015F62CB-FD02-4141-B89E-306CA0DADCA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B9D8B242-DD34-4985-9167-8E427BB8A21D}" type="pres">
      <dgm:prSet presAssocID="{015F62CB-FD02-4141-B89E-306CA0DADCA2}" presName="spaceRect" presStyleCnt="0"/>
      <dgm:spPr/>
    </dgm:pt>
    <dgm:pt modelId="{FE89357B-ECB9-41F8-A1E4-849361A17A29}" type="pres">
      <dgm:prSet presAssocID="{015F62CB-FD02-4141-B89E-306CA0DADCA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A044B08-427E-4903-A531-449E16880FD3}" srcId="{C99113D3-A00F-4060-BF32-DC14A2F45EDD}" destId="{015F62CB-FD02-4141-B89E-306CA0DADCA2}" srcOrd="4" destOrd="0" parTransId="{EA3DF0B9-BC18-4949-8579-7D008DA511C8}" sibTransId="{F1B528DC-1915-4BF1-A738-7F047A8BAFA1}"/>
    <dgm:cxn modelId="{9C19451C-DD0A-47DE-8694-0D207CE94084}" type="presOf" srcId="{4050471E-6FE5-48FC-9F42-BBAB38F57B0F}" destId="{3BC18695-72AE-4BC2-A435-86009D51FB56}" srcOrd="0" destOrd="0" presId="urn:microsoft.com/office/officeart/2018/2/layout/IconVerticalSolidList"/>
    <dgm:cxn modelId="{78582443-7F03-43D7-882E-7AE36CA09B06}" srcId="{C99113D3-A00F-4060-BF32-DC14A2F45EDD}" destId="{7278CC3C-F261-4856-BCB3-4D48EA6ED85D}" srcOrd="3" destOrd="0" parTransId="{84A03382-459A-4EB1-9BD3-4F713E139926}" sibTransId="{38286CC2-0F82-4155-B55A-FA3616A5D113}"/>
    <dgm:cxn modelId="{D0758258-06BC-4226-88E5-B232E258A57C}" srcId="{C99113D3-A00F-4060-BF32-DC14A2F45EDD}" destId="{B8DA4E87-17B7-491F-B6C2-8CFFD773A947}" srcOrd="0" destOrd="0" parTransId="{ABE7DC5F-4579-4FB0-B0F9-91EA13867B71}" sibTransId="{1F1B6E7B-DA74-4993-97DF-EAB6CFC21587}"/>
    <dgm:cxn modelId="{F427036B-2F23-4247-BA78-687B3936BF57}" srcId="{C99113D3-A00F-4060-BF32-DC14A2F45EDD}" destId="{4050471E-6FE5-48FC-9F42-BBAB38F57B0F}" srcOrd="1" destOrd="0" parTransId="{7A89DA93-B39D-4C9D-808A-9E8B2C83689E}" sibTransId="{F95ADB7C-9F66-43B4-8982-49E2056F52AB}"/>
    <dgm:cxn modelId="{EDDA1879-C744-4971-9E7F-FAD311E268C2}" type="presOf" srcId="{C99113D3-A00F-4060-BF32-DC14A2F45EDD}" destId="{CE0B6C44-5C73-4EE8-9025-0B19196D77D5}" srcOrd="0" destOrd="0" presId="urn:microsoft.com/office/officeart/2018/2/layout/IconVerticalSolidList"/>
    <dgm:cxn modelId="{50432EAE-C47D-450C-AD54-07E3EDCBFAC7}" type="presOf" srcId="{015F62CB-FD02-4141-B89E-306CA0DADCA2}" destId="{FE89357B-ECB9-41F8-A1E4-849361A17A29}" srcOrd="0" destOrd="0" presId="urn:microsoft.com/office/officeart/2018/2/layout/IconVerticalSolidList"/>
    <dgm:cxn modelId="{071EE5EA-DAC7-43F8-97B1-8ED3A5978FB3}" type="presOf" srcId="{B8DA4E87-17B7-491F-B6C2-8CFFD773A947}" destId="{186E0BE5-DCEC-4906-9F32-2CE1FDBD0E96}" srcOrd="0" destOrd="0" presId="urn:microsoft.com/office/officeart/2018/2/layout/IconVerticalSolidList"/>
    <dgm:cxn modelId="{3B768FF3-0B42-4AE6-813F-721BA79AA34B}" type="presOf" srcId="{7278CC3C-F261-4856-BCB3-4D48EA6ED85D}" destId="{C19847AC-EAF3-48A7-A3B8-2D5C3154AF54}" srcOrd="0" destOrd="0" presId="urn:microsoft.com/office/officeart/2018/2/layout/IconVerticalSolidList"/>
    <dgm:cxn modelId="{C7157EFA-61E9-442D-9C0A-A5954D945063}" type="presOf" srcId="{4E93266E-3DEC-4BC0-A843-A8B3890F3549}" destId="{B4E55190-2775-4CF6-B8FE-56ED2A4C4F82}" srcOrd="0" destOrd="0" presId="urn:microsoft.com/office/officeart/2018/2/layout/IconVerticalSolidList"/>
    <dgm:cxn modelId="{E5084EFD-457A-4BFE-9792-4FD5B54A5B12}" srcId="{C99113D3-A00F-4060-BF32-DC14A2F45EDD}" destId="{4E93266E-3DEC-4BC0-A843-A8B3890F3549}" srcOrd="2" destOrd="0" parTransId="{0060A879-1222-4160-B571-B93EE679BDED}" sibTransId="{5C13F39F-9459-440E-945A-193EC7BA46CC}"/>
    <dgm:cxn modelId="{99CF2713-A08C-46A5-9647-4A55D36F33EE}" type="presParOf" srcId="{CE0B6C44-5C73-4EE8-9025-0B19196D77D5}" destId="{87AE2350-4A83-41FE-A0AE-4B0D8CD592AE}" srcOrd="0" destOrd="0" presId="urn:microsoft.com/office/officeart/2018/2/layout/IconVerticalSolidList"/>
    <dgm:cxn modelId="{18DA7FA9-91F0-49BF-BC13-F2C93CF2E284}" type="presParOf" srcId="{87AE2350-4A83-41FE-A0AE-4B0D8CD592AE}" destId="{9533096E-396C-4578-B294-8426B076B9EF}" srcOrd="0" destOrd="0" presId="urn:microsoft.com/office/officeart/2018/2/layout/IconVerticalSolidList"/>
    <dgm:cxn modelId="{961831A7-FAC4-455B-A5B4-540B74361B6B}" type="presParOf" srcId="{87AE2350-4A83-41FE-A0AE-4B0D8CD592AE}" destId="{490E0CA3-E1EF-438A-A0EC-AABE464A9E57}" srcOrd="1" destOrd="0" presId="urn:microsoft.com/office/officeart/2018/2/layout/IconVerticalSolidList"/>
    <dgm:cxn modelId="{658913B3-073B-44BD-9444-B6FC5AF50F7B}" type="presParOf" srcId="{87AE2350-4A83-41FE-A0AE-4B0D8CD592AE}" destId="{373B63B5-D83E-41EA-8C45-3DB1A7AC2073}" srcOrd="2" destOrd="0" presId="urn:microsoft.com/office/officeart/2018/2/layout/IconVerticalSolidList"/>
    <dgm:cxn modelId="{A765B272-FC04-4590-AB87-AE069DDCFAFE}" type="presParOf" srcId="{87AE2350-4A83-41FE-A0AE-4B0D8CD592AE}" destId="{186E0BE5-DCEC-4906-9F32-2CE1FDBD0E96}" srcOrd="3" destOrd="0" presId="urn:microsoft.com/office/officeart/2018/2/layout/IconVerticalSolidList"/>
    <dgm:cxn modelId="{4CFB1997-4BB9-44D1-8C95-2B64B8DEF134}" type="presParOf" srcId="{CE0B6C44-5C73-4EE8-9025-0B19196D77D5}" destId="{0259A589-000C-41C4-A7CA-328C17E6C68A}" srcOrd="1" destOrd="0" presId="urn:microsoft.com/office/officeart/2018/2/layout/IconVerticalSolidList"/>
    <dgm:cxn modelId="{F107A0C7-C026-4F9C-8ECC-1052C0485140}" type="presParOf" srcId="{CE0B6C44-5C73-4EE8-9025-0B19196D77D5}" destId="{CF980CF4-60AA-49AA-8625-B00B81F03B28}" srcOrd="2" destOrd="0" presId="urn:microsoft.com/office/officeart/2018/2/layout/IconVerticalSolidList"/>
    <dgm:cxn modelId="{0CA2C88E-4D4F-4C3F-8C13-FE0B54222124}" type="presParOf" srcId="{CF980CF4-60AA-49AA-8625-B00B81F03B28}" destId="{34CC571D-8D67-40F2-8714-DE55A561BC2F}" srcOrd="0" destOrd="0" presId="urn:microsoft.com/office/officeart/2018/2/layout/IconVerticalSolidList"/>
    <dgm:cxn modelId="{B0E1959A-7317-4B44-82BA-7842637832F5}" type="presParOf" srcId="{CF980CF4-60AA-49AA-8625-B00B81F03B28}" destId="{98A9B8A0-035E-427D-868C-DDAFC83A1C2A}" srcOrd="1" destOrd="0" presId="urn:microsoft.com/office/officeart/2018/2/layout/IconVerticalSolidList"/>
    <dgm:cxn modelId="{ABE8C83D-0B28-46B8-80CD-3023AA980F23}" type="presParOf" srcId="{CF980CF4-60AA-49AA-8625-B00B81F03B28}" destId="{F00581FA-E4C0-4D15-8386-F770519BFC2B}" srcOrd="2" destOrd="0" presId="urn:microsoft.com/office/officeart/2018/2/layout/IconVerticalSolidList"/>
    <dgm:cxn modelId="{DB5B722C-E3C7-433E-8734-063E59663A06}" type="presParOf" srcId="{CF980CF4-60AA-49AA-8625-B00B81F03B28}" destId="{3BC18695-72AE-4BC2-A435-86009D51FB56}" srcOrd="3" destOrd="0" presId="urn:microsoft.com/office/officeart/2018/2/layout/IconVerticalSolidList"/>
    <dgm:cxn modelId="{E5F87E82-74D4-439B-93CD-C756BF56FC0D}" type="presParOf" srcId="{CE0B6C44-5C73-4EE8-9025-0B19196D77D5}" destId="{1595CC81-F822-49B8-A213-48C547E73240}" srcOrd="3" destOrd="0" presId="urn:microsoft.com/office/officeart/2018/2/layout/IconVerticalSolidList"/>
    <dgm:cxn modelId="{0EE65724-1B8E-47BE-AAF7-99519DF470CF}" type="presParOf" srcId="{CE0B6C44-5C73-4EE8-9025-0B19196D77D5}" destId="{1C566E4B-F796-460F-BAA9-1345F76EC3D5}" srcOrd="4" destOrd="0" presId="urn:microsoft.com/office/officeart/2018/2/layout/IconVerticalSolidList"/>
    <dgm:cxn modelId="{85F0DC79-D57A-488D-8E06-667BD4185255}" type="presParOf" srcId="{1C566E4B-F796-460F-BAA9-1345F76EC3D5}" destId="{CD0C52DA-C896-494D-BF02-A9E5939A09E9}" srcOrd="0" destOrd="0" presId="urn:microsoft.com/office/officeart/2018/2/layout/IconVerticalSolidList"/>
    <dgm:cxn modelId="{86C341C6-5B1C-4EF7-91CD-96C40744F552}" type="presParOf" srcId="{1C566E4B-F796-460F-BAA9-1345F76EC3D5}" destId="{0C2A0A0C-F84D-465A-A2FA-01859407886B}" srcOrd="1" destOrd="0" presId="urn:microsoft.com/office/officeart/2018/2/layout/IconVerticalSolidList"/>
    <dgm:cxn modelId="{144F6189-C248-4D0D-8DE8-A0C5917A50B3}" type="presParOf" srcId="{1C566E4B-F796-460F-BAA9-1345F76EC3D5}" destId="{7A3738B3-A3F7-4F0D-8A02-AB05AE595F3D}" srcOrd="2" destOrd="0" presId="urn:microsoft.com/office/officeart/2018/2/layout/IconVerticalSolidList"/>
    <dgm:cxn modelId="{D7B42E6E-04B6-4C2A-8933-2CBE50C33C94}" type="presParOf" srcId="{1C566E4B-F796-460F-BAA9-1345F76EC3D5}" destId="{B4E55190-2775-4CF6-B8FE-56ED2A4C4F82}" srcOrd="3" destOrd="0" presId="urn:microsoft.com/office/officeart/2018/2/layout/IconVerticalSolidList"/>
    <dgm:cxn modelId="{8CCD45F0-B2BE-4AAF-AEC0-80510CD019CD}" type="presParOf" srcId="{CE0B6C44-5C73-4EE8-9025-0B19196D77D5}" destId="{102EA727-A47B-4BB6-9C38-882C44C47B71}" srcOrd="5" destOrd="0" presId="urn:microsoft.com/office/officeart/2018/2/layout/IconVerticalSolidList"/>
    <dgm:cxn modelId="{3CBC84A8-E595-4375-A965-B1301037057E}" type="presParOf" srcId="{CE0B6C44-5C73-4EE8-9025-0B19196D77D5}" destId="{FC34ACAF-BB7E-4185-9358-7F9C4BB497BF}" srcOrd="6" destOrd="0" presId="urn:microsoft.com/office/officeart/2018/2/layout/IconVerticalSolidList"/>
    <dgm:cxn modelId="{8451E956-59B4-4C99-83DB-C8E4FFE06D3B}" type="presParOf" srcId="{FC34ACAF-BB7E-4185-9358-7F9C4BB497BF}" destId="{1FF6A475-32E7-40DC-8B26-8E18C04E249F}" srcOrd="0" destOrd="0" presId="urn:microsoft.com/office/officeart/2018/2/layout/IconVerticalSolidList"/>
    <dgm:cxn modelId="{E09A28B9-AFA3-434F-8123-095E71CFE5C3}" type="presParOf" srcId="{FC34ACAF-BB7E-4185-9358-7F9C4BB497BF}" destId="{62D2BF57-F070-4122-AE0B-1D96297082A8}" srcOrd="1" destOrd="0" presId="urn:microsoft.com/office/officeart/2018/2/layout/IconVerticalSolidList"/>
    <dgm:cxn modelId="{3A1FEA61-EA39-4EC7-AABE-6EFD71253264}" type="presParOf" srcId="{FC34ACAF-BB7E-4185-9358-7F9C4BB497BF}" destId="{0CE782EA-4951-4B5A-B03E-F6613A4573A1}" srcOrd="2" destOrd="0" presId="urn:microsoft.com/office/officeart/2018/2/layout/IconVerticalSolidList"/>
    <dgm:cxn modelId="{F81F569D-FE87-47CB-9A41-5E6DBF9C28B4}" type="presParOf" srcId="{FC34ACAF-BB7E-4185-9358-7F9C4BB497BF}" destId="{C19847AC-EAF3-48A7-A3B8-2D5C3154AF54}" srcOrd="3" destOrd="0" presId="urn:microsoft.com/office/officeart/2018/2/layout/IconVerticalSolidList"/>
    <dgm:cxn modelId="{6EFBEB92-6CB6-4E96-9BF0-D1B92B41FB1D}" type="presParOf" srcId="{CE0B6C44-5C73-4EE8-9025-0B19196D77D5}" destId="{302E2C21-63E4-4C48-9019-9540A7F7FB35}" srcOrd="7" destOrd="0" presId="urn:microsoft.com/office/officeart/2018/2/layout/IconVerticalSolidList"/>
    <dgm:cxn modelId="{4EE4A31D-CFCC-4EE7-9AFA-D0EC2A41F261}" type="presParOf" srcId="{CE0B6C44-5C73-4EE8-9025-0B19196D77D5}" destId="{EBA9166C-E931-4377-BCE6-6C2A9FE69982}" srcOrd="8" destOrd="0" presId="urn:microsoft.com/office/officeart/2018/2/layout/IconVerticalSolidList"/>
    <dgm:cxn modelId="{1B9FD5B9-36E9-4E1E-9FFA-5CCD24029DE8}" type="presParOf" srcId="{EBA9166C-E931-4377-BCE6-6C2A9FE69982}" destId="{493D1A43-69C2-48D1-BEEA-1D0FDDC26DBC}" srcOrd="0" destOrd="0" presId="urn:microsoft.com/office/officeart/2018/2/layout/IconVerticalSolidList"/>
    <dgm:cxn modelId="{EA720AD1-8FB8-4AE3-B83D-57FA1EC7D2B2}" type="presParOf" srcId="{EBA9166C-E931-4377-BCE6-6C2A9FE69982}" destId="{1C6CCD55-AE91-4BFF-89BA-BF774E8075B5}" srcOrd="1" destOrd="0" presId="urn:microsoft.com/office/officeart/2018/2/layout/IconVerticalSolidList"/>
    <dgm:cxn modelId="{6E1DBED0-7B8E-419A-9148-25F2BDD33E90}" type="presParOf" srcId="{EBA9166C-E931-4377-BCE6-6C2A9FE69982}" destId="{B9D8B242-DD34-4985-9167-8E427BB8A21D}" srcOrd="2" destOrd="0" presId="urn:microsoft.com/office/officeart/2018/2/layout/IconVerticalSolidList"/>
    <dgm:cxn modelId="{49C2CC87-E945-4468-8FF5-71C7285F3517}" type="presParOf" srcId="{EBA9166C-E931-4377-BCE6-6C2A9FE69982}" destId="{FE89357B-ECB9-41F8-A1E4-849361A17A2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733691-6A32-4B92-A435-7CF49497490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8BF7128-AB8A-4183-977A-6FA1592B56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Learn to find the equilibrium in the tournament with AI techniques</a:t>
          </a:r>
        </a:p>
      </dgm:t>
    </dgm:pt>
    <dgm:pt modelId="{BF9C480C-6E18-44D3-9988-2B4DDB198598}" type="parTrans" cxnId="{68500155-EBA1-4359-9A1E-8E594E1A49AF}">
      <dgm:prSet/>
      <dgm:spPr/>
      <dgm:t>
        <a:bodyPr/>
        <a:lstStyle/>
        <a:p>
          <a:endParaRPr lang="en-US"/>
        </a:p>
      </dgm:t>
    </dgm:pt>
    <dgm:pt modelId="{971FC407-A675-4327-94B9-778AB949BEBE}" type="sibTrans" cxnId="{68500155-EBA1-4359-9A1E-8E594E1A49AF}">
      <dgm:prSet/>
      <dgm:spPr/>
      <dgm:t>
        <a:bodyPr/>
        <a:lstStyle/>
        <a:p>
          <a:endParaRPr lang="en-US"/>
        </a:p>
      </dgm:t>
    </dgm:pt>
    <dgm:pt modelId="{B841CA34-57EF-44FA-A9DB-9DE40229BC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Valuable insight in research and practice </a:t>
          </a:r>
        </a:p>
      </dgm:t>
    </dgm:pt>
    <dgm:pt modelId="{BD0DAED8-488F-46A5-BECA-3589955EBF48}" type="parTrans" cxnId="{E742B8B3-A20E-4C22-AA4B-69BF9A78E9BE}">
      <dgm:prSet/>
      <dgm:spPr/>
      <dgm:t>
        <a:bodyPr/>
        <a:lstStyle/>
        <a:p>
          <a:endParaRPr lang="en-US"/>
        </a:p>
      </dgm:t>
    </dgm:pt>
    <dgm:pt modelId="{D51D1862-8072-459E-B46B-4DBE4FF48C76}" type="sibTrans" cxnId="{E742B8B3-A20E-4C22-AA4B-69BF9A78E9BE}">
      <dgm:prSet/>
      <dgm:spPr/>
      <dgm:t>
        <a:bodyPr/>
        <a:lstStyle/>
        <a:p>
          <a:endParaRPr lang="en-US"/>
        </a:p>
      </dgm:t>
    </dgm:pt>
    <dgm:pt modelId="{D07A1422-D96B-4DA8-8FE2-69B911477C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Proving equilibrium for the tournaments with more than two stages remains a significant challenge </a:t>
          </a:r>
        </a:p>
      </dgm:t>
    </dgm:pt>
    <dgm:pt modelId="{D56CFDD6-6F37-44DF-96D1-1845129132A2}" type="parTrans" cxnId="{EED6E083-02DE-4D41-B16A-2024C19F0550}">
      <dgm:prSet/>
      <dgm:spPr/>
      <dgm:t>
        <a:bodyPr/>
        <a:lstStyle/>
        <a:p>
          <a:endParaRPr lang="en-US"/>
        </a:p>
      </dgm:t>
    </dgm:pt>
    <dgm:pt modelId="{6DFF4017-EA38-4CF5-BBC4-78FA2A49E394}" type="sibTrans" cxnId="{EED6E083-02DE-4D41-B16A-2024C19F0550}">
      <dgm:prSet/>
      <dgm:spPr/>
      <dgm:t>
        <a:bodyPr/>
        <a:lstStyle/>
        <a:p>
          <a:endParaRPr lang="en-US"/>
        </a:p>
      </dgm:t>
    </dgm:pt>
    <dgm:pt modelId="{3721A58A-82E8-4246-A101-39C1D054E374}" type="pres">
      <dgm:prSet presAssocID="{FA733691-6A32-4B92-A435-7CF494974900}" presName="root" presStyleCnt="0">
        <dgm:presLayoutVars>
          <dgm:dir/>
          <dgm:resizeHandles val="exact"/>
        </dgm:presLayoutVars>
      </dgm:prSet>
      <dgm:spPr/>
    </dgm:pt>
    <dgm:pt modelId="{54790F69-6A78-4CA2-B549-7A9B26F1E4DF}" type="pres">
      <dgm:prSet presAssocID="{E8BF7128-AB8A-4183-977A-6FA1592B566F}" presName="compNode" presStyleCnt="0"/>
      <dgm:spPr/>
    </dgm:pt>
    <dgm:pt modelId="{03E6DFE8-E486-4F54-BEC0-0D9E1E5F8C5F}" type="pres">
      <dgm:prSet presAssocID="{E8BF7128-AB8A-4183-977A-6FA1592B566F}" presName="bgRect" presStyleLbl="bgShp" presStyleIdx="0" presStyleCnt="3"/>
      <dgm:spPr/>
    </dgm:pt>
    <dgm:pt modelId="{86CA5287-4179-4E94-80C6-14E6DA4DB321}" type="pres">
      <dgm:prSet presAssocID="{E8BF7128-AB8A-4183-977A-6FA1592B566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84F50219-AAC6-4F33-B684-AE3CDC84E9DD}" type="pres">
      <dgm:prSet presAssocID="{E8BF7128-AB8A-4183-977A-6FA1592B566F}" presName="spaceRect" presStyleCnt="0"/>
      <dgm:spPr/>
    </dgm:pt>
    <dgm:pt modelId="{2E4B51AD-7D29-46A0-ADA5-C394D7F9E63F}" type="pres">
      <dgm:prSet presAssocID="{E8BF7128-AB8A-4183-977A-6FA1592B566F}" presName="parTx" presStyleLbl="revTx" presStyleIdx="0" presStyleCnt="3">
        <dgm:presLayoutVars>
          <dgm:chMax val="0"/>
          <dgm:chPref val="0"/>
        </dgm:presLayoutVars>
      </dgm:prSet>
      <dgm:spPr/>
    </dgm:pt>
    <dgm:pt modelId="{AB93D2F7-51D5-4E39-9876-B123A43014E1}" type="pres">
      <dgm:prSet presAssocID="{971FC407-A675-4327-94B9-778AB949BEBE}" presName="sibTrans" presStyleCnt="0"/>
      <dgm:spPr/>
    </dgm:pt>
    <dgm:pt modelId="{19071635-022E-4CE3-A98C-039FB12E8BEF}" type="pres">
      <dgm:prSet presAssocID="{D07A1422-D96B-4DA8-8FE2-69B911477C02}" presName="compNode" presStyleCnt="0"/>
      <dgm:spPr/>
    </dgm:pt>
    <dgm:pt modelId="{716BEDE9-DD4E-4D81-B279-D0C9A4B80901}" type="pres">
      <dgm:prSet presAssocID="{D07A1422-D96B-4DA8-8FE2-69B911477C02}" presName="bgRect" presStyleLbl="bgShp" presStyleIdx="1" presStyleCnt="3"/>
      <dgm:spPr/>
    </dgm:pt>
    <dgm:pt modelId="{5BF372EF-CB74-436E-854F-423D55FAEAA8}" type="pres">
      <dgm:prSet presAssocID="{D07A1422-D96B-4DA8-8FE2-69B911477C0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E347A34F-1A41-43C0-A74B-3EFD2F78C4F3}" type="pres">
      <dgm:prSet presAssocID="{D07A1422-D96B-4DA8-8FE2-69B911477C02}" presName="spaceRect" presStyleCnt="0"/>
      <dgm:spPr/>
    </dgm:pt>
    <dgm:pt modelId="{1752BBC5-95EC-40A0-AE72-F29D833E9D94}" type="pres">
      <dgm:prSet presAssocID="{D07A1422-D96B-4DA8-8FE2-69B911477C02}" presName="parTx" presStyleLbl="revTx" presStyleIdx="1" presStyleCnt="3">
        <dgm:presLayoutVars>
          <dgm:chMax val="0"/>
          <dgm:chPref val="0"/>
        </dgm:presLayoutVars>
      </dgm:prSet>
      <dgm:spPr/>
    </dgm:pt>
    <dgm:pt modelId="{0339A35B-3295-EB41-BF2D-AEC751DD3849}" type="pres">
      <dgm:prSet presAssocID="{6DFF4017-EA38-4CF5-BBC4-78FA2A49E394}" presName="sibTrans" presStyleCnt="0"/>
      <dgm:spPr/>
    </dgm:pt>
    <dgm:pt modelId="{D0C4E8E1-3422-4AE2-9D93-6302A45C3FCC}" type="pres">
      <dgm:prSet presAssocID="{B841CA34-57EF-44FA-A9DB-9DE40229BC21}" presName="compNode" presStyleCnt="0"/>
      <dgm:spPr/>
    </dgm:pt>
    <dgm:pt modelId="{95D9EA2B-AB7E-4553-BD08-CB95DA83A957}" type="pres">
      <dgm:prSet presAssocID="{B841CA34-57EF-44FA-A9DB-9DE40229BC21}" presName="bgRect" presStyleLbl="bgShp" presStyleIdx="2" presStyleCnt="3"/>
      <dgm:spPr/>
    </dgm:pt>
    <dgm:pt modelId="{539E164F-7A23-4081-ABE6-02E3A3987DCE}" type="pres">
      <dgm:prSet presAssocID="{B841CA34-57EF-44FA-A9DB-9DE40229BC2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2D30E44F-E128-46D5-AAF4-F0DBF55026BA}" type="pres">
      <dgm:prSet presAssocID="{B841CA34-57EF-44FA-A9DB-9DE40229BC21}" presName="spaceRect" presStyleCnt="0"/>
      <dgm:spPr/>
    </dgm:pt>
    <dgm:pt modelId="{2B8E670A-DF82-4B46-B420-94B161B64C1D}" type="pres">
      <dgm:prSet presAssocID="{B841CA34-57EF-44FA-A9DB-9DE40229BC2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AF17646-8CCD-9A43-A9BA-6D09E56FFA0B}" type="presOf" srcId="{B841CA34-57EF-44FA-A9DB-9DE40229BC21}" destId="{2B8E670A-DF82-4B46-B420-94B161B64C1D}" srcOrd="0" destOrd="0" presId="urn:microsoft.com/office/officeart/2018/2/layout/IconVerticalSolidList"/>
    <dgm:cxn modelId="{0FBAE34F-1991-AC47-82B7-ABED42671DD4}" type="presOf" srcId="{E8BF7128-AB8A-4183-977A-6FA1592B566F}" destId="{2E4B51AD-7D29-46A0-ADA5-C394D7F9E63F}" srcOrd="0" destOrd="0" presId="urn:microsoft.com/office/officeart/2018/2/layout/IconVerticalSolidList"/>
    <dgm:cxn modelId="{68500155-EBA1-4359-9A1E-8E594E1A49AF}" srcId="{FA733691-6A32-4B92-A435-7CF494974900}" destId="{E8BF7128-AB8A-4183-977A-6FA1592B566F}" srcOrd="0" destOrd="0" parTransId="{BF9C480C-6E18-44D3-9988-2B4DDB198598}" sibTransId="{971FC407-A675-4327-94B9-778AB949BEBE}"/>
    <dgm:cxn modelId="{592B116F-0574-1D43-B3F0-039E7530C817}" type="presOf" srcId="{D07A1422-D96B-4DA8-8FE2-69B911477C02}" destId="{1752BBC5-95EC-40A0-AE72-F29D833E9D94}" srcOrd="0" destOrd="0" presId="urn:microsoft.com/office/officeart/2018/2/layout/IconVerticalSolidList"/>
    <dgm:cxn modelId="{EED6E083-02DE-4D41-B16A-2024C19F0550}" srcId="{FA733691-6A32-4B92-A435-7CF494974900}" destId="{D07A1422-D96B-4DA8-8FE2-69B911477C02}" srcOrd="1" destOrd="0" parTransId="{D56CFDD6-6F37-44DF-96D1-1845129132A2}" sibTransId="{6DFF4017-EA38-4CF5-BBC4-78FA2A49E394}"/>
    <dgm:cxn modelId="{E742B8B3-A20E-4C22-AA4B-69BF9A78E9BE}" srcId="{FA733691-6A32-4B92-A435-7CF494974900}" destId="{B841CA34-57EF-44FA-A9DB-9DE40229BC21}" srcOrd="2" destOrd="0" parTransId="{BD0DAED8-488F-46A5-BECA-3589955EBF48}" sibTransId="{D51D1862-8072-459E-B46B-4DBE4FF48C76}"/>
    <dgm:cxn modelId="{BFA9A2F8-4E07-4DDE-9975-084B4E360C33}" type="presOf" srcId="{FA733691-6A32-4B92-A435-7CF494974900}" destId="{3721A58A-82E8-4246-A101-39C1D054E374}" srcOrd="0" destOrd="0" presId="urn:microsoft.com/office/officeart/2018/2/layout/IconVerticalSolidList"/>
    <dgm:cxn modelId="{FAFE7807-11D3-8341-A792-E2F4198D8ACE}" type="presParOf" srcId="{3721A58A-82E8-4246-A101-39C1D054E374}" destId="{54790F69-6A78-4CA2-B549-7A9B26F1E4DF}" srcOrd="0" destOrd="0" presId="urn:microsoft.com/office/officeart/2018/2/layout/IconVerticalSolidList"/>
    <dgm:cxn modelId="{93D7C656-2690-0F45-BC52-D221D57DFCFE}" type="presParOf" srcId="{54790F69-6A78-4CA2-B549-7A9B26F1E4DF}" destId="{03E6DFE8-E486-4F54-BEC0-0D9E1E5F8C5F}" srcOrd="0" destOrd="0" presId="urn:microsoft.com/office/officeart/2018/2/layout/IconVerticalSolidList"/>
    <dgm:cxn modelId="{B8C3F3AB-EA8A-D042-8A57-3C6537BBB86D}" type="presParOf" srcId="{54790F69-6A78-4CA2-B549-7A9B26F1E4DF}" destId="{86CA5287-4179-4E94-80C6-14E6DA4DB321}" srcOrd="1" destOrd="0" presId="urn:microsoft.com/office/officeart/2018/2/layout/IconVerticalSolidList"/>
    <dgm:cxn modelId="{61A373D5-B6B6-8744-A3DD-EF717DECF0EA}" type="presParOf" srcId="{54790F69-6A78-4CA2-B549-7A9B26F1E4DF}" destId="{84F50219-AAC6-4F33-B684-AE3CDC84E9DD}" srcOrd="2" destOrd="0" presId="urn:microsoft.com/office/officeart/2018/2/layout/IconVerticalSolidList"/>
    <dgm:cxn modelId="{C862EC95-5B5A-5545-A0A8-F25EB65373DA}" type="presParOf" srcId="{54790F69-6A78-4CA2-B549-7A9B26F1E4DF}" destId="{2E4B51AD-7D29-46A0-ADA5-C394D7F9E63F}" srcOrd="3" destOrd="0" presId="urn:microsoft.com/office/officeart/2018/2/layout/IconVerticalSolidList"/>
    <dgm:cxn modelId="{C8B5B6EE-FCFB-5C47-954D-8505A600A820}" type="presParOf" srcId="{3721A58A-82E8-4246-A101-39C1D054E374}" destId="{AB93D2F7-51D5-4E39-9876-B123A43014E1}" srcOrd="1" destOrd="0" presId="urn:microsoft.com/office/officeart/2018/2/layout/IconVerticalSolidList"/>
    <dgm:cxn modelId="{6EE5FC61-66FD-AA4B-A0DC-3447288011D1}" type="presParOf" srcId="{3721A58A-82E8-4246-A101-39C1D054E374}" destId="{19071635-022E-4CE3-A98C-039FB12E8BEF}" srcOrd="2" destOrd="0" presId="urn:microsoft.com/office/officeart/2018/2/layout/IconVerticalSolidList"/>
    <dgm:cxn modelId="{37BE6BA7-811D-7D44-93C2-8942355793CB}" type="presParOf" srcId="{19071635-022E-4CE3-A98C-039FB12E8BEF}" destId="{716BEDE9-DD4E-4D81-B279-D0C9A4B80901}" srcOrd="0" destOrd="0" presId="urn:microsoft.com/office/officeart/2018/2/layout/IconVerticalSolidList"/>
    <dgm:cxn modelId="{8E2954AC-5741-F842-A4DB-7609E036A3C9}" type="presParOf" srcId="{19071635-022E-4CE3-A98C-039FB12E8BEF}" destId="{5BF372EF-CB74-436E-854F-423D55FAEAA8}" srcOrd="1" destOrd="0" presId="urn:microsoft.com/office/officeart/2018/2/layout/IconVerticalSolidList"/>
    <dgm:cxn modelId="{73C87829-BD9E-E64C-869D-BB52B2312863}" type="presParOf" srcId="{19071635-022E-4CE3-A98C-039FB12E8BEF}" destId="{E347A34F-1A41-43C0-A74B-3EFD2F78C4F3}" srcOrd="2" destOrd="0" presId="urn:microsoft.com/office/officeart/2018/2/layout/IconVerticalSolidList"/>
    <dgm:cxn modelId="{D7A4C5B6-F5A8-4C4E-BE00-A4AA8FD1D273}" type="presParOf" srcId="{19071635-022E-4CE3-A98C-039FB12E8BEF}" destId="{1752BBC5-95EC-40A0-AE72-F29D833E9D94}" srcOrd="3" destOrd="0" presId="urn:microsoft.com/office/officeart/2018/2/layout/IconVerticalSolidList"/>
    <dgm:cxn modelId="{BB0B9F7C-E9DB-CD49-86C4-B0ED937C4C3D}" type="presParOf" srcId="{3721A58A-82E8-4246-A101-39C1D054E374}" destId="{0339A35B-3295-EB41-BF2D-AEC751DD3849}" srcOrd="3" destOrd="0" presId="urn:microsoft.com/office/officeart/2018/2/layout/IconVerticalSolidList"/>
    <dgm:cxn modelId="{696157E0-CD6E-3B4F-924C-6957F7F67D50}" type="presParOf" srcId="{3721A58A-82E8-4246-A101-39C1D054E374}" destId="{D0C4E8E1-3422-4AE2-9D93-6302A45C3FCC}" srcOrd="4" destOrd="0" presId="urn:microsoft.com/office/officeart/2018/2/layout/IconVerticalSolidList"/>
    <dgm:cxn modelId="{BA050A9F-3031-3B4B-8643-574BBCB097CC}" type="presParOf" srcId="{D0C4E8E1-3422-4AE2-9D93-6302A45C3FCC}" destId="{95D9EA2B-AB7E-4553-BD08-CB95DA83A957}" srcOrd="0" destOrd="0" presId="urn:microsoft.com/office/officeart/2018/2/layout/IconVerticalSolidList"/>
    <dgm:cxn modelId="{18D0A9AF-825D-774E-938F-874C6D3890C8}" type="presParOf" srcId="{D0C4E8E1-3422-4AE2-9D93-6302A45C3FCC}" destId="{539E164F-7A23-4081-ABE6-02E3A3987DCE}" srcOrd="1" destOrd="0" presId="urn:microsoft.com/office/officeart/2018/2/layout/IconVerticalSolidList"/>
    <dgm:cxn modelId="{6393E5E9-0D8C-7545-8D8C-6FE7004F9809}" type="presParOf" srcId="{D0C4E8E1-3422-4AE2-9D93-6302A45C3FCC}" destId="{2D30E44F-E128-46D5-AAF4-F0DBF55026BA}" srcOrd="2" destOrd="0" presId="urn:microsoft.com/office/officeart/2018/2/layout/IconVerticalSolidList"/>
    <dgm:cxn modelId="{45114945-1884-E14E-A1EA-5B9686B6D386}" type="presParOf" srcId="{D0C4E8E1-3422-4AE2-9D93-6302A45C3FCC}" destId="{2B8E670A-DF82-4B46-B420-94B161B64C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33096E-396C-4578-B294-8426B076B9EF}">
      <dsp:nvSpPr>
        <dsp:cNvPr id="0" name=""/>
        <dsp:cNvSpPr/>
      </dsp:nvSpPr>
      <dsp:spPr>
        <a:xfrm>
          <a:off x="0" y="5520"/>
          <a:ext cx="10515600" cy="6091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0E0CA3-E1EF-438A-A0EC-AABE464A9E57}">
      <dsp:nvSpPr>
        <dsp:cNvPr id="0" name=""/>
        <dsp:cNvSpPr/>
      </dsp:nvSpPr>
      <dsp:spPr>
        <a:xfrm>
          <a:off x="184272" y="142582"/>
          <a:ext cx="335367" cy="3350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E0BE5-DCEC-4906-9F32-2CE1FDBD0E96}">
      <dsp:nvSpPr>
        <dsp:cNvPr id="0" name=""/>
        <dsp:cNvSpPr/>
      </dsp:nvSpPr>
      <dsp:spPr>
        <a:xfrm>
          <a:off x="703912" y="5520"/>
          <a:ext cx="9748445" cy="723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58" tIns="76558" rIns="76558" bIns="7655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Introduction of Game Theory</a:t>
          </a:r>
        </a:p>
      </dsp:txBody>
      <dsp:txXfrm>
        <a:off x="703912" y="5520"/>
        <a:ext cx="9748445" cy="723382"/>
      </dsp:txXfrm>
    </dsp:sp>
    <dsp:sp modelId="{34CC571D-8D67-40F2-8714-DE55A561BC2F}">
      <dsp:nvSpPr>
        <dsp:cNvPr id="0" name=""/>
        <dsp:cNvSpPr/>
      </dsp:nvSpPr>
      <dsp:spPr>
        <a:xfrm>
          <a:off x="0" y="909749"/>
          <a:ext cx="10515600" cy="6091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9B8A0-035E-427D-868C-DDAFC83A1C2A}">
      <dsp:nvSpPr>
        <dsp:cNvPr id="0" name=""/>
        <dsp:cNvSpPr/>
      </dsp:nvSpPr>
      <dsp:spPr>
        <a:xfrm>
          <a:off x="184272" y="1046811"/>
          <a:ext cx="335367" cy="3350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18695-72AE-4BC2-A435-86009D51FB56}">
      <dsp:nvSpPr>
        <dsp:cNvPr id="0" name=""/>
        <dsp:cNvSpPr/>
      </dsp:nvSpPr>
      <dsp:spPr>
        <a:xfrm>
          <a:off x="703912" y="909749"/>
          <a:ext cx="9748445" cy="723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58" tIns="76558" rIns="76558" bIns="7655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Challenges &amp; Limitations</a:t>
          </a:r>
        </a:p>
      </dsp:txBody>
      <dsp:txXfrm>
        <a:off x="703912" y="909749"/>
        <a:ext cx="9748445" cy="723382"/>
      </dsp:txXfrm>
    </dsp:sp>
    <dsp:sp modelId="{CD0C52DA-C896-494D-BF02-A9E5939A09E9}">
      <dsp:nvSpPr>
        <dsp:cNvPr id="0" name=""/>
        <dsp:cNvSpPr/>
      </dsp:nvSpPr>
      <dsp:spPr>
        <a:xfrm>
          <a:off x="0" y="1813977"/>
          <a:ext cx="10515600" cy="6091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2A0A0C-F84D-465A-A2FA-01859407886B}">
      <dsp:nvSpPr>
        <dsp:cNvPr id="0" name=""/>
        <dsp:cNvSpPr/>
      </dsp:nvSpPr>
      <dsp:spPr>
        <a:xfrm>
          <a:off x="184272" y="1951039"/>
          <a:ext cx="335367" cy="3350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E55190-2775-4CF6-B8FE-56ED2A4C4F82}">
      <dsp:nvSpPr>
        <dsp:cNvPr id="0" name=""/>
        <dsp:cNvSpPr/>
      </dsp:nvSpPr>
      <dsp:spPr>
        <a:xfrm>
          <a:off x="703912" y="1813977"/>
          <a:ext cx="9748445" cy="723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58" tIns="76558" rIns="76558" bIns="7655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Game theory &amp; Artificial Intelligence</a:t>
          </a:r>
        </a:p>
      </dsp:txBody>
      <dsp:txXfrm>
        <a:off x="703912" y="1813977"/>
        <a:ext cx="9748445" cy="723382"/>
      </dsp:txXfrm>
    </dsp:sp>
    <dsp:sp modelId="{1FF6A475-32E7-40DC-8B26-8E18C04E249F}">
      <dsp:nvSpPr>
        <dsp:cNvPr id="0" name=""/>
        <dsp:cNvSpPr/>
      </dsp:nvSpPr>
      <dsp:spPr>
        <a:xfrm>
          <a:off x="0" y="2718206"/>
          <a:ext cx="10515600" cy="6091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2BF57-F070-4122-AE0B-1D96297082A8}">
      <dsp:nvSpPr>
        <dsp:cNvPr id="0" name=""/>
        <dsp:cNvSpPr/>
      </dsp:nvSpPr>
      <dsp:spPr>
        <a:xfrm>
          <a:off x="184272" y="2855268"/>
          <a:ext cx="335367" cy="33504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9847AC-EAF3-48A7-A3B8-2D5C3154AF54}">
      <dsp:nvSpPr>
        <dsp:cNvPr id="0" name=""/>
        <dsp:cNvSpPr/>
      </dsp:nvSpPr>
      <dsp:spPr>
        <a:xfrm>
          <a:off x="703912" y="2718206"/>
          <a:ext cx="9748445" cy="723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58" tIns="76558" rIns="76558" bIns="7655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rgbClr val="333333"/>
              </a:solidFill>
              <a:effectLst/>
            </a:rPr>
            <a:t>Exploring Equilibrium Strategies in Network Games with Generative AI</a:t>
          </a:r>
          <a:endParaRPr lang="en-US" sz="2400" b="0" kern="1200" dirty="0"/>
        </a:p>
      </dsp:txBody>
      <dsp:txXfrm>
        <a:off x="703912" y="2718206"/>
        <a:ext cx="9748445" cy="723382"/>
      </dsp:txXfrm>
    </dsp:sp>
    <dsp:sp modelId="{493D1A43-69C2-48D1-BEEA-1D0FDDC26DBC}">
      <dsp:nvSpPr>
        <dsp:cNvPr id="0" name=""/>
        <dsp:cNvSpPr/>
      </dsp:nvSpPr>
      <dsp:spPr>
        <a:xfrm>
          <a:off x="0" y="3607918"/>
          <a:ext cx="10515600" cy="6091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6CCD55-AE91-4BFF-89BA-BF774E8075B5}">
      <dsp:nvSpPr>
        <dsp:cNvPr id="0" name=""/>
        <dsp:cNvSpPr/>
      </dsp:nvSpPr>
      <dsp:spPr>
        <a:xfrm>
          <a:off x="184452" y="3759496"/>
          <a:ext cx="335367" cy="33504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89357B-ECB9-41F8-A1E4-849361A17A29}">
      <dsp:nvSpPr>
        <dsp:cNvPr id="0" name=""/>
        <dsp:cNvSpPr/>
      </dsp:nvSpPr>
      <dsp:spPr>
        <a:xfrm>
          <a:off x="704272" y="3622434"/>
          <a:ext cx="9679276" cy="723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58" tIns="76558" rIns="76558" bIns="7655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Exploring the Equilibrium for Multi-stage Tournaments with reinforcement learning</a:t>
          </a:r>
        </a:p>
      </dsp:txBody>
      <dsp:txXfrm>
        <a:off x="704272" y="3622434"/>
        <a:ext cx="9679276" cy="7233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E6DFE8-E486-4F54-BEC0-0D9E1E5F8C5F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CA5287-4179-4E94-80C6-14E6DA4DB321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B51AD-7D29-46A0-ADA5-C394D7F9E63F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Learn to find the equilibrium in the tournament with AI techniques</a:t>
          </a:r>
        </a:p>
      </dsp:txBody>
      <dsp:txXfrm>
        <a:off x="1435590" y="531"/>
        <a:ext cx="9080009" cy="1242935"/>
      </dsp:txXfrm>
    </dsp:sp>
    <dsp:sp modelId="{716BEDE9-DD4E-4D81-B279-D0C9A4B80901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F372EF-CB74-436E-854F-423D55FAEAA8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52BBC5-95EC-40A0-AE72-F29D833E9D94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Proving equilibrium for the tournaments with more than two stages remains a significant challenge </a:t>
          </a:r>
        </a:p>
      </dsp:txBody>
      <dsp:txXfrm>
        <a:off x="1435590" y="1554201"/>
        <a:ext cx="9080009" cy="1242935"/>
      </dsp:txXfrm>
    </dsp:sp>
    <dsp:sp modelId="{95D9EA2B-AB7E-4553-BD08-CB95DA83A957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E164F-7A23-4081-ABE6-02E3A3987DCE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8E670A-DF82-4B46-B420-94B161B64C1D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Valuable insight in research and practice </a:t>
          </a: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B89F94-84DD-171F-AF83-24AADD6CF5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26D3D-6D9C-C5CF-1317-AB4DE75133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D8618-C30D-FA42-81EA-3CED0BA42441}" type="datetimeFigureOut">
              <a:rPr lang="en-US" smtClean="0"/>
              <a:t>3/13/25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3ADE7-DC7A-5DDF-6C78-7FB728C1BD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29213-9927-32B9-E0E7-4D813CBC4F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A95D9-0423-784E-8575-F630E7529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3790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EBD742-CDB9-874A-8368-7F629DCC4CF3}" type="datetimeFigureOut">
              <a:rPr lang="en-US" smtClean="0"/>
              <a:t>3/13/25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A33AC1-1824-D34E-88A3-9BA73F409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81136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05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565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97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79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98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7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16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8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409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1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</a:t>
                </a:r>
                <a:r>
                  <a:rPr lang="en-US" dirty="0"/>
                  <a:t>ournament model is based on Game theory, where participants compete based on their performance.</a:t>
                </a:r>
              </a:p>
              <a:p>
                <a:endParaRPr lang="en-US" dirty="0"/>
              </a:p>
              <a:p>
                <a:r>
                  <a:rPr lang="en-US" sz="18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 will start with a simple scenario involving two players in the tournament. We assume that both players have equal capabilities, are risk-neutral, and act with full rationality. At the end of the tournament, the player with higher output wins and receives the winning prize, while the other player receives the losing prize.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 tournament can consist</a:t>
                </a:r>
                <a:r>
                  <a:rPr lang="en-US" baseline="0" dirty="0"/>
                  <a:t> of</a:t>
                </a:r>
                <a:r>
                  <a:rPr lang="en-US" dirty="0"/>
                  <a:t> one or</a:t>
                </a:r>
                <a:r>
                  <a:rPr lang="en-US" baseline="0" dirty="0"/>
                  <a:t> multiple </a:t>
                </a:r>
                <a:r>
                  <a:rPr lang="en-US" dirty="0"/>
                  <a:t>stages. In stage t,  a player i’s output is determined by their effort level </a:t>
                </a:r>
                <a:r>
                  <a:rPr lang="en-US" dirty="0" err="1"/>
                  <a:t>eit</a:t>
                </a:r>
                <a:r>
                  <a:rPr lang="en-US" dirty="0"/>
                  <a:t> and a random noise term</a:t>
                </a:r>
                <a:r>
                  <a:rPr lang="en-US" baseline="0" dirty="0"/>
                  <a:t> </a:t>
                </a:r>
                <a:r>
                  <a:rPr lang="en-US" sz="1200" i="0"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𝜀_(𝑖𝑡 )</a:t>
                </a:r>
                <a:r>
                  <a:rPr lang="en-US" sz="12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which is </a:t>
                </a:r>
                <a:r>
                  <a:rPr lang="en-US" sz="1200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i.i.d</a:t>
                </a:r>
                <a:r>
                  <a:rPr lang="en-US" sz="12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independent and identically</a:t>
                </a:r>
                <a:r>
                  <a:rPr lang="en-US" sz="1200" baseline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distributed</a:t>
                </a:r>
                <a:r>
                  <a:rPr lang="en-US" sz="12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, normally</a:t>
                </a:r>
                <a:r>
                  <a:rPr lang="en-US" sz="1200" baseline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is </a:t>
                </a:r>
                <a:r>
                  <a:rPr lang="en-US" sz="12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uniformly distributed on the interval</a:t>
                </a:r>
                <a:r>
                  <a:rPr lang="en-US" sz="1200" i="0"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[−𝑞,𝑞]</a:t>
                </a:r>
                <a:r>
                  <a:rPr lang="en-US" sz="12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. For example, the</a:t>
                </a:r>
                <a:r>
                  <a:rPr lang="en-US" sz="1200" baseline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salesperson might meet different customers or different markets environment.</a:t>
                </a:r>
                <a:endParaRPr lang="en-US" sz="12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In real world,</a:t>
                </a:r>
                <a:r>
                  <a:rPr lang="en-US" sz="1200" baseline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sz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</a:t>
                </a:r>
                <a:r>
                  <a:rPr lang="en-US" dirty="0"/>
                  <a:t>he output can be the sales revenue or profit, or any measurable</a:t>
                </a:r>
                <a:r>
                  <a:rPr lang="en-US" baseline="0" dirty="0"/>
                  <a:t> performance metric.</a:t>
                </a:r>
                <a:endParaRPr lang="en-US" sz="12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The cost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 the efforts</a:t>
                </a:r>
                <a:r>
                  <a:rPr lang="en-US" dirty="0"/>
                  <a:t> increases </a:t>
                </a:r>
                <a:r>
                  <a:rPr lang="en-US" b="1" dirty="0"/>
                  <a:t>quadratically</a:t>
                </a:r>
                <a:r>
                  <a:rPr lang="en-US" dirty="0"/>
                  <a:t> with the level of effort </a:t>
                </a:r>
                <a:r>
                  <a:rPr lang="en-US" dirty="0" err="1"/>
                  <a:t>eite</a:t>
                </a:r>
                <a:r>
                  <a:rPr lang="en-US" dirty="0"/>
                  <a:t>_{it}</a:t>
                </a:r>
                <a:r>
                  <a:rPr lang="en-US" dirty="0" err="1"/>
                  <a:t>eit</a:t>
                </a:r>
                <a:r>
                  <a:rPr lang="en-US" dirty="0"/>
                  <a:t>​, meaning that higher effort levels become increasingly costly.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The utility function of each player consists of two components: the possible payoff from the tournament and the cost of each player’s efforts in stage t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At the end of each stage, every player is informed of their own output and their competitor’s output, allowing them to adjust their strategy for the next stage if applicable.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694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217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68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32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50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AFEBA-63A2-3CFB-C130-CEFAC71B4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40522-6AAC-B8C0-C48D-85346D980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0E6BE-3E56-C50D-5852-3E8187F3D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FC2CF7-DA68-4724-6A0B-BC820F870B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FA1DAD-CA57-8EE0-8EBD-6DDCA613E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317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02A5F-B2EE-66ED-D081-98DF6B49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E31F1-DABB-A120-6637-046415119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30723-CE15-28B6-BEC5-EF7CAC35D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06AE2-8D9C-2F64-3B5F-8638573037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3B23B-E06F-C2B2-E682-94F0D0867E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122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A33AC1-1824-D34E-88A3-9BA73F40979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15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2876-ED8E-93FC-DF7B-E6CD9BA52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0B3B31-59B6-075B-C87F-06595AC67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4DB70-B49C-2631-83D1-04164FF27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C9EA1-8B77-9141-BA9E-6B3DB4DBED74}" type="datetime1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9EC98-4ED3-8084-2916-980099701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CDC25-7602-F35B-08C3-723F5E80A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08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75271-7A6E-5336-04BB-34E8A422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3D763-093D-1BE2-46BE-1A1CE63C2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A0CE2-368F-1B52-AA6F-9FA0CA12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69A57-05D7-FD46-BB91-B928EAB9048E}" type="datetime1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33064-8CE8-AF40-4C9B-19FE5F8A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0BAD8-1EDF-3500-B076-B5B673BF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98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CD51-C290-E1F3-B9CD-2341EFC72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CA4BD-AA09-0FA4-11EC-0941463A1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1A11E-E50D-C715-5535-1AD9E7B7E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5A89-613C-8046-A4C1-8B4F5371F102}" type="datetime1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DF768-50FC-0B42-52D1-0C2F6682F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8EAA0-77B6-8841-9E24-4CC8C44BF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7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198D9-1631-64C7-6A3B-95564F11A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4EEF8-0651-C3AB-CD0E-70E86E9B5B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B9797-0513-1CF3-8C52-4C5403490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7AFD7-7767-DEB7-513E-B6105B46B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60129-E046-094A-A7B8-9254AD5A2717}" type="datetime1">
              <a:rPr lang="en-US" smtClean="0"/>
              <a:t>3/13/25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4EB46-0E03-A69E-1644-C123F3B53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4DF4F-6B2C-CC2C-E5D0-6680FA7EF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77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F1544-B8C7-FFE5-74C6-CFC140D83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0D5A9-EFE2-F307-4636-34E1904CC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0DF03-9EFD-2DD9-D30F-14E28EF6B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AA0D32-011C-16E5-3B5C-D333CFD30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9B78A8-4BBD-475B-FBD8-1C2631C55E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39B5D5-303C-48F7-8912-B289C7D8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CC52E-15D8-C542-8FE4-C17A976F1DBF}" type="datetime1">
              <a:rPr lang="en-US" smtClean="0"/>
              <a:t>3/13/25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EDF2C8-7DAB-3B8E-7FF9-5B99C9B23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180E83-A139-C770-C55A-137727C89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77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6007-B141-0BE1-3122-8B04574D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CF19A1-58C8-C412-8613-9F3AB5358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0C919-6454-A641-B7AC-B5CDEA6B0E9A}" type="datetime1">
              <a:rPr lang="en-US" smtClean="0"/>
              <a:t>3/13/25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3A21EA-5683-F116-DA5F-D031BBDB7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761B0-C44F-82EA-C434-09BC71CB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5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D1DCB1-F0F2-3F9F-8E78-9C4BCA85E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06F1-33BB-954A-940C-56D98A2649A2}" type="datetime1">
              <a:rPr lang="en-US" smtClean="0"/>
              <a:t>3/13/25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59C445-5CB2-D2D1-7E98-86E82C2EF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70699-5D2D-8F20-07F9-1B11A20C6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08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98463-1135-0E9E-10A0-C0DE845D8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E415E-C58F-F1E7-BE70-E345D5981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EFE99-CC33-BB8D-DD3C-43CC2BC34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635BA-9E6B-7937-9DC7-BE0AAF838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25A8-7908-FD47-9441-67A6506F5D43}" type="datetime1">
              <a:rPr lang="en-US" smtClean="0"/>
              <a:t>3/13/25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ECE06-EA60-5720-664E-20DF3948A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3112E-0A77-4219-23B0-4DC9A8D8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97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6A9C-AF03-930C-72A7-85E2CE76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325F4-01AB-9247-DE81-94637732F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760B8-5BC4-4D0B-5E29-83492B92D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77B43-7047-4E57-683C-9515A4E0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0799-5792-2F48-90CF-F0A0E102E89B}" type="datetime1">
              <a:rPr lang="en-US" smtClean="0"/>
              <a:t>3/13/25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D27A2-BDCB-A196-39CF-60D43E0B4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27E85-B12E-C2CD-53BB-934F0524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43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2AF29-48A9-B802-5DE2-0F5F1C095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7D296-377C-644D-252B-818930B64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9AA17-5645-F5BD-1AD5-8E40AEF76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D3ECF-B2CF-274A-B1EF-471F9340D093}" type="datetime1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5E2B4-83AB-F6A7-0607-68A49E5E6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AE4F4-D3EB-D921-E967-3B631AD0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67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9C6B34-AD62-9CCA-66BD-F5CC4EAF05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94B05-ACFD-6A07-1DA8-96422E240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BCB46-7A88-EEB5-2F1E-4161E7172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9B02E-9282-244C-9D95-C7916FEF6C92}" type="datetime1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7309E-947F-FBFC-06AD-1657CBC7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5CB9B-E83C-5D2F-9409-BECB828E0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72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B623B-10E4-F2F1-D054-B015D46D2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111C0-C114-7BDB-6625-6E67CDA05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B4339-7614-779A-F607-E469C0CF4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B754B7-5C50-E546-A59A-C9F3607B1075}" type="datetime1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40D65-33EE-7887-F919-7EC86B5BC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BE024-E244-94E3-1E15-6E73C045F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6EB623-ECD5-1742-B79E-DBB48A63F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17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ciencealert.com/a-professor-explains-how-1980s-game-theory-could-explain-how-morality-evolved" TargetMode="Externa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hyperlink" Target="https://www.prospectly.com/blog/17-elite-sales-contest-ideas/" TargetMode="Externa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42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5.png"/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3.png"/><Relationship Id="rId5" Type="http://schemas.openxmlformats.org/officeDocument/2006/relationships/image" Target="../media/image24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3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70.png"/><Relationship Id="rId18" Type="http://schemas.openxmlformats.org/officeDocument/2006/relationships/image" Target="../media/image300.png"/><Relationship Id="rId3" Type="http://schemas.openxmlformats.org/officeDocument/2006/relationships/image" Target="../media/image7.png"/><Relationship Id="rId21" Type="http://schemas.openxmlformats.org/officeDocument/2006/relationships/image" Target="../media/image41.png"/><Relationship Id="rId7" Type="http://schemas.openxmlformats.org/officeDocument/2006/relationships/image" Target="../media/image11.png"/><Relationship Id="rId12" Type="http://schemas.openxmlformats.org/officeDocument/2006/relationships/image" Target="../media/image160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00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5" Type="http://schemas.openxmlformats.org/officeDocument/2006/relationships/image" Target="../media/image9.png"/><Relationship Id="rId15" Type="http://schemas.openxmlformats.org/officeDocument/2006/relationships/image" Target="../media/image190.png"/><Relationship Id="rId10" Type="http://schemas.openxmlformats.org/officeDocument/2006/relationships/image" Target="../media/image140.png"/><Relationship Id="rId19" Type="http://schemas.openxmlformats.org/officeDocument/2006/relationships/image" Target="../media/image390.png"/><Relationship Id="rId4" Type="http://schemas.openxmlformats.org/officeDocument/2006/relationships/image" Target="../media/image80.png"/><Relationship Id="rId9" Type="http://schemas.openxmlformats.org/officeDocument/2006/relationships/image" Target="../media/image130.png"/><Relationship Id="rId14" Type="http://schemas.openxmlformats.org/officeDocument/2006/relationships/image" Target="../media/image180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2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4" name="Picture 13" descr="Rocks stacked on driftwood with the sea on background">
            <a:extLst>
              <a:ext uri="{FF2B5EF4-FFF2-40B4-BE49-F238E27FC236}">
                <a16:creationId xmlns:a16="http://schemas.microsoft.com/office/drawing/2014/main" id="{A9B34CAF-BFDB-91E2-4688-CC03B6EC9B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0" r="-1" b="15058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6DD4703-FD80-4610-ACE9-01DCD86D8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7853" y="0"/>
            <a:ext cx="10256294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CEFCBC2-6F82-4011-8D8D-90F43DCB1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08571" y="0"/>
            <a:ext cx="9958950" cy="6858000"/>
          </a:xfrm>
          <a:custGeom>
            <a:avLst/>
            <a:gdLst>
              <a:gd name="connsiteX0" fmla="*/ 7551973 w 9174595"/>
              <a:gd name="connsiteY0" fmla="*/ 0 h 6858000"/>
              <a:gd name="connsiteX1" fmla="*/ 5634635 w 9174595"/>
              <a:gd name="connsiteY1" fmla="*/ 0 h 6858000"/>
              <a:gd name="connsiteX2" fmla="*/ 5550590 w 9174595"/>
              <a:gd name="connsiteY2" fmla="*/ 0 h 6858000"/>
              <a:gd name="connsiteX3" fmla="*/ 5480986 w 9174595"/>
              <a:gd name="connsiteY3" fmla="*/ 0 h 6858000"/>
              <a:gd name="connsiteX4" fmla="*/ 4886240 w 9174595"/>
              <a:gd name="connsiteY4" fmla="*/ 0 h 6858000"/>
              <a:gd name="connsiteX5" fmla="*/ 4816638 w 9174595"/>
              <a:gd name="connsiteY5" fmla="*/ 0 h 6858000"/>
              <a:gd name="connsiteX6" fmla="*/ 4357958 w 9174595"/>
              <a:gd name="connsiteY6" fmla="*/ 0 h 6858000"/>
              <a:gd name="connsiteX7" fmla="*/ 4288354 w 9174595"/>
              <a:gd name="connsiteY7" fmla="*/ 0 h 6858000"/>
              <a:gd name="connsiteX8" fmla="*/ 3693608 w 9174595"/>
              <a:gd name="connsiteY8" fmla="*/ 0 h 6858000"/>
              <a:gd name="connsiteX9" fmla="*/ 3624006 w 9174595"/>
              <a:gd name="connsiteY9" fmla="*/ 0 h 6858000"/>
              <a:gd name="connsiteX10" fmla="*/ 3276448 w 9174595"/>
              <a:gd name="connsiteY10" fmla="*/ 0 h 6858000"/>
              <a:gd name="connsiteX11" fmla="*/ 1622622 w 9174595"/>
              <a:gd name="connsiteY11" fmla="*/ 0 h 6858000"/>
              <a:gd name="connsiteX12" fmla="*/ 1600504 w 9174595"/>
              <a:gd name="connsiteY12" fmla="*/ 14997 h 6858000"/>
              <a:gd name="connsiteX13" fmla="*/ 0 w 9174595"/>
              <a:gd name="connsiteY13" fmla="*/ 3621656 h 6858000"/>
              <a:gd name="connsiteX14" fmla="*/ 1873886 w 9174595"/>
              <a:gd name="connsiteY14" fmla="*/ 6374814 h 6858000"/>
              <a:gd name="connsiteX15" fmla="*/ 2390406 w 9174595"/>
              <a:gd name="connsiteY15" fmla="*/ 6780599 h 6858000"/>
              <a:gd name="connsiteX16" fmla="*/ 2502136 w 9174595"/>
              <a:gd name="connsiteY16" fmla="*/ 6858000 h 6858000"/>
              <a:gd name="connsiteX17" fmla="*/ 3276448 w 9174595"/>
              <a:gd name="connsiteY17" fmla="*/ 6858000 h 6858000"/>
              <a:gd name="connsiteX18" fmla="*/ 3624006 w 9174595"/>
              <a:gd name="connsiteY18" fmla="*/ 6858000 h 6858000"/>
              <a:gd name="connsiteX19" fmla="*/ 3693608 w 9174595"/>
              <a:gd name="connsiteY19" fmla="*/ 6858000 h 6858000"/>
              <a:gd name="connsiteX20" fmla="*/ 4288354 w 9174595"/>
              <a:gd name="connsiteY20" fmla="*/ 6858000 h 6858000"/>
              <a:gd name="connsiteX21" fmla="*/ 4357958 w 9174595"/>
              <a:gd name="connsiteY21" fmla="*/ 6858000 h 6858000"/>
              <a:gd name="connsiteX22" fmla="*/ 4816638 w 9174595"/>
              <a:gd name="connsiteY22" fmla="*/ 6858000 h 6858000"/>
              <a:gd name="connsiteX23" fmla="*/ 4886240 w 9174595"/>
              <a:gd name="connsiteY23" fmla="*/ 6858000 h 6858000"/>
              <a:gd name="connsiteX24" fmla="*/ 5480986 w 9174595"/>
              <a:gd name="connsiteY24" fmla="*/ 6858000 h 6858000"/>
              <a:gd name="connsiteX25" fmla="*/ 5550590 w 9174595"/>
              <a:gd name="connsiteY25" fmla="*/ 6858000 h 6858000"/>
              <a:gd name="connsiteX26" fmla="*/ 5634635 w 9174595"/>
              <a:gd name="connsiteY26" fmla="*/ 6858000 h 6858000"/>
              <a:gd name="connsiteX27" fmla="*/ 6672460 w 9174595"/>
              <a:gd name="connsiteY27" fmla="*/ 6858000 h 6858000"/>
              <a:gd name="connsiteX28" fmla="*/ 6784188 w 9174595"/>
              <a:gd name="connsiteY28" fmla="*/ 6780599 h 6858000"/>
              <a:gd name="connsiteX29" fmla="*/ 7300708 w 9174595"/>
              <a:gd name="connsiteY29" fmla="*/ 6374814 h 6858000"/>
              <a:gd name="connsiteX30" fmla="*/ 9174595 w 9174595"/>
              <a:gd name="connsiteY30" fmla="*/ 3621656 h 6858000"/>
              <a:gd name="connsiteX31" fmla="*/ 7574092 w 9174595"/>
              <a:gd name="connsiteY3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174595" h="6858000">
                <a:moveTo>
                  <a:pt x="7551973" y="0"/>
                </a:moveTo>
                <a:lnTo>
                  <a:pt x="5634635" y="0"/>
                </a:lnTo>
                <a:lnTo>
                  <a:pt x="5550590" y="0"/>
                </a:lnTo>
                <a:lnTo>
                  <a:pt x="5480986" y="0"/>
                </a:lnTo>
                <a:lnTo>
                  <a:pt x="4886240" y="0"/>
                </a:lnTo>
                <a:lnTo>
                  <a:pt x="4816638" y="0"/>
                </a:lnTo>
                <a:lnTo>
                  <a:pt x="4357958" y="0"/>
                </a:lnTo>
                <a:lnTo>
                  <a:pt x="4288354" y="0"/>
                </a:lnTo>
                <a:lnTo>
                  <a:pt x="3693608" y="0"/>
                </a:lnTo>
                <a:lnTo>
                  <a:pt x="3624006" y="0"/>
                </a:lnTo>
                <a:lnTo>
                  <a:pt x="3276448" y="0"/>
                </a:lnTo>
                <a:lnTo>
                  <a:pt x="1622622" y="0"/>
                </a:lnTo>
                <a:lnTo>
                  <a:pt x="1600504" y="14997"/>
                </a:lnTo>
                <a:cubicBezTo>
                  <a:pt x="573594" y="754641"/>
                  <a:pt x="0" y="2093192"/>
                  <a:pt x="0" y="3621656"/>
                </a:cubicBezTo>
                <a:cubicBezTo>
                  <a:pt x="0" y="4969131"/>
                  <a:pt x="928496" y="5602839"/>
                  <a:pt x="1873886" y="6374814"/>
                </a:cubicBezTo>
                <a:cubicBezTo>
                  <a:pt x="2046046" y="6515397"/>
                  <a:pt x="2216632" y="6653108"/>
                  <a:pt x="2390406" y="6780599"/>
                </a:cubicBezTo>
                <a:lnTo>
                  <a:pt x="2502136" y="6858000"/>
                </a:lnTo>
                <a:lnTo>
                  <a:pt x="3276448" y="6858000"/>
                </a:lnTo>
                <a:lnTo>
                  <a:pt x="3624006" y="6858000"/>
                </a:lnTo>
                <a:lnTo>
                  <a:pt x="3693608" y="6858000"/>
                </a:lnTo>
                <a:lnTo>
                  <a:pt x="4288354" y="6858000"/>
                </a:lnTo>
                <a:lnTo>
                  <a:pt x="4357958" y="6858000"/>
                </a:lnTo>
                <a:lnTo>
                  <a:pt x="4816638" y="6858000"/>
                </a:lnTo>
                <a:lnTo>
                  <a:pt x="4886240" y="6858000"/>
                </a:lnTo>
                <a:lnTo>
                  <a:pt x="5480986" y="6858000"/>
                </a:lnTo>
                <a:lnTo>
                  <a:pt x="5550590" y="6858000"/>
                </a:lnTo>
                <a:lnTo>
                  <a:pt x="5634635" y="6858000"/>
                </a:lnTo>
                <a:lnTo>
                  <a:pt x="6672460" y="6858000"/>
                </a:lnTo>
                <a:lnTo>
                  <a:pt x="6784188" y="6780599"/>
                </a:lnTo>
                <a:cubicBezTo>
                  <a:pt x="6957963" y="6653108"/>
                  <a:pt x="7128548" y="6515397"/>
                  <a:pt x="7300708" y="6374814"/>
                </a:cubicBezTo>
                <a:cubicBezTo>
                  <a:pt x="8246100" y="5602839"/>
                  <a:pt x="9174595" y="4969131"/>
                  <a:pt x="9174595" y="3621656"/>
                </a:cubicBezTo>
                <a:cubicBezTo>
                  <a:pt x="9174595" y="2093192"/>
                  <a:pt x="8601001" y="754641"/>
                  <a:pt x="7574092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2E9DED9E-DE30-402A-B9D1-AC3C24025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8673" y="-35602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CCB7C65-BA06-49C5-8D3C-51F97B409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75235" y="-35602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6F3399-4809-EBB0-F4DC-5C8B2EA3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7041" y="1346268"/>
            <a:ext cx="9290479" cy="26611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dirty="0"/>
              <a:t>Exploring the Equilibrium </a:t>
            </a:r>
            <a:br>
              <a:rPr lang="en-US" sz="4800" b="1" dirty="0"/>
            </a:br>
            <a:r>
              <a:rPr lang="en-US" sz="4800" b="1" dirty="0"/>
              <a:t>in a Game with AI</a:t>
            </a:r>
            <a:br>
              <a:rPr lang="en-US" sz="6000" b="1" dirty="0"/>
            </a:br>
            <a:endParaRPr lang="en-US" sz="6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C1EA2A-AD71-0947-73EF-C96A23A06D38}"/>
              </a:ext>
            </a:extLst>
          </p:cNvPr>
          <p:cNvSpPr txBox="1"/>
          <p:nvPr/>
        </p:nvSpPr>
        <p:spPr>
          <a:xfrm>
            <a:off x="2619375" y="4214191"/>
            <a:ext cx="6953250" cy="13609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3200" b="1" dirty="0" err="1"/>
              <a:t>Haijing</a:t>
            </a:r>
            <a:r>
              <a:rPr lang="en-US" sz="3200" b="1" dirty="0"/>
              <a:t> Zhang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BA110-1734-2918-C8F5-40CC5312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3928" y="6356350"/>
            <a:ext cx="11887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  <a:defRPr/>
            </a:pPr>
            <a:fld id="{356EB623-ECD5-1742-B79E-DBB48A63F659}" type="slidenum">
              <a:rPr lang="en-US" sz="1600">
                <a:solidFill>
                  <a:srgbClr val="FFFFFF"/>
                </a:solidFill>
                <a:latin typeface="Calibri" panose="020F0502020204030204"/>
              </a:rPr>
              <a:pPr algn="l">
                <a:spcAft>
                  <a:spcPts val="600"/>
                </a:spcAft>
                <a:defRPr/>
              </a:pPr>
              <a:t>1</a:t>
            </a:fld>
            <a:endParaRPr lang="en-US" sz="16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0879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ED9BB-2995-5689-30FC-1AA7161F2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4800" b="1" dirty="0"/>
              <a:t>Table of Contents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A956A-6BFA-E918-C129-361ED930D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56EB623-ECD5-1742-B79E-DBB48A63F659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CCE126CA-14C4-18DD-D76A-E085557143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946943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4257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BA37BA-8019-4585-F17B-4A2A61581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439" y="962181"/>
            <a:ext cx="5879802" cy="1035781"/>
          </a:xfrm>
        </p:spPr>
        <p:txBody>
          <a:bodyPr anchor="ctr">
            <a:noAutofit/>
          </a:bodyPr>
          <a:lstStyle/>
          <a:p>
            <a:r>
              <a:rPr lang="en-US" sz="3600" b="1" dirty="0"/>
              <a:t>Introduction of Game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BA30C-8CEA-7F78-B6CD-EC33ECCF8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70" y="2300080"/>
            <a:ext cx="5891918" cy="3677123"/>
          </a:xfrm>
        </p:spPr>
        <p:txBody>
          <a:bodyPr anchor="ctr">
            <a:normAutofit/>
          </a:bodyPr>
          <a:lstStyle/>
          <a:p>
            <a:r>
              <a:rPr lang="en-US" sz="3200" dirty="0"/>
              <a:t>O</a:t>
            </a:r>
            <a:r>
              <a:rPr lang="en-US" sz="3200" dirty="0">
                <a:effectLst/>
              </a:rPr>
              <a:t>ffer valuable insights into decision-making</a:t>
            </a:r>
          </a:p>
          <a:p>
            <a:r>
              <a:rPr lang="en-US" sz="3200" dirty="0"/>
              <a:t>Three main components: Players, actions/strategies and utility functions</a:t>
            </a:r>
            <a:endParaRPr lang="en-US" sz="3200" dirty="0">
              <a:effectLst/>
            </a:endParaRPr>
          </a:p>
          <a:p>
            <a:endParaRPr lang="en-US" sz="1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rectangular grid with text&#10;&#10;AI-generated content may be incorrect.">
            <a:extLst>
              <a:ext uri="{FF2B5EF4-FFF2-40B4-BE49-F238E27FC236}">
                <a16:creationId xmlns:a16="http://schemas.microsoft.com/office/drawing/2014/main" id="{EA723EC2-E48A-E744-579B-C5E294B03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860" y="194309"/>
            <a:ext cx="4533145" cy="315053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table with text and images&#10;&#10;AI-generated content may be incorrect.">
            <a:extLst>
              <a:ext uri="{FF2B5EF4-FFF2-40B4-BE49-F238E27FC236}">
                <a16:creationId xmlns:a16="http://schemas.microsoft.com/office/drawing/2014/main" id="{96BF076E-B4C7-729B-8B49-CBBA4C0FA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069" y="3471053"/>
            <a:ext cx="5157403" cy="2656061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A920A-7E34-0075-C1D4-269A1702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56EB623-ECD5-1742-B79E-DBB48A63F659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E2AF0-AFA6-D589-A8F5-8CCE672320FB}"/>
              </a:ext>
            </a:extLst>
          </p:cNvPr>
          <p:cNvSpPr txBox="1"/>
          <p:nvPr/>
        </p:nvSpPr>
        <p:spPr>
          <a:xfrm>
            <a:off x="1246255" y="6238488"/>
            <a:ext cx="652614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000" dirty="0">
                <a:hlinkClick r:id="rId5"/>
              </a:rPr>
              <a:t>https://www.sciencealert.com/a-professor-explains-how-1980s-game-theory-could-explain-how-morality-evolved</a:t>
            </a: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1000" dirty="0"/>
              <a:t>https://</a:t>
            </a:r>
            <a:r>
              <a:rPr lang="en-US" sz="1000" dirty="0" err="1"/>
              <a:t>www.economicshelp.org</a:t>
            </a:r>
            <a:r>
              <a:rPr lang="en-US" sz="1000" dirty="0"/>
              <a:t>/university/game-theory/</a:t>
            </a:r>
          </a:p>
        </p:txBody>
      </p:sp>
    </p:spTree>
    <p:extLst>
      <p:ext uri="{BB962C8B-B14F-4D97-AF65-F5344CB8AC3E}">
        <p14:creationId xmlns:p14="http://schemas.microsoft.com/office/powerpoint/2010/main" val="2620086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D6DAC-349A-B755-E922-6C2485F80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Challenges &amp; Limitations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306FF-B8E8-0380-50AB-CDB1DD916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677808" cy="3435531"/>
          </a:xfrm>
        </p:spPr>
        <p:txBody>
          <a:bodyPr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effectLst/>
              </a:rPr>
              <a:t> Finding an equilibrium solution of the game </a:t>
            </a:r>
            <a:r>
              <a:rPr lang="en-US" dirty="0"/>
              <a:t>becomes harder</a:t>
            </a:r>
            <a:endParaRPr lang="en-US" dirty="0">
              <a:effectLst/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effectLst/>
              </a:rPr>
              <a:t> Analyzing strategic interactions in the game process is challenging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Traditional approach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dirty="0">
                <a:solidFill>
                  <a:srgbClr val="000000"/>
                </a:solidFill>
                <a:effectLst/>
              </a:rPr>
              <a:t>Limited participants and actions consideration</a:t>
            </a:r>
          </a:p>
          <a:p>
            <a:pPr lvl="1"/>
            <a:r>
              <a:rPr lang="en-US" dirty="0">
                <a:solidFill>
                  <a:srgbClr val="000000"/>
                </a:solidFill>
                <a:effectLst/>
              </a:rPr>
              <a:t>Standard game structure requirement. </a:t>
            </a:r>
          </a:p>
          <a:p>
            <a:pPr lvl="1"/>
            <a:r>
              <a:rPr lang="en-US" dirty="0">
                <a:solidFill>
                  <a:srgbClr val="000000"/>
                </a:solidFill>
                <a:effectLst/>
              </a:rPr>
              <a:t>Strong participant’s behavior assumption.</a:t>
            </a:r>
          </a:p>
          <a:p>
            <a:pPr lvl="1"/>
            <a:endParaRPr lang="en-US" dirty="0">
              <a:effectLst/>
            </a:endParaRP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99A38-881D-EF4E-F07D-C0B2BFBDC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56EB623-ECD5-1742-B79E-DBB48A63F659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31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C86BD-68B1-1E2E-AD41-20E163E76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Game Theory &amp; Artificial Intelligence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7BB98-0EA2-8B5E-17A4-63427D3A7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Discriminative AI</a:t>
            </a:r>
            <a:r>
              <a:rPr lang="en-US" dirty="0"/>
              <a:t>:</a:t>
            </a:r>
          </a:p>
          <a:p>
            <a:pPr lvl="1"/>
            <a:r>
              <a:rPr lang="en-US" sz="2800" dirty="0"/>
              <a:t>Supervised learning</a:t>
            </a:r>
          </a:p>
          <a:p>
            <a:pPr lvl="1"/>
            <a:r>
              <a:rPr lang="en-US" sz="2800" dirty="0"/>
              <a:t>Reinforcement learning</a:t>
            </a:r>
          </a:p>
          <a:p>
            <a:pPr lvl="1"/>
            <a:r>
              <a:rPr lang="en-US" sz="2800" dirty="0"/>
              <a:t>...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Generative AI</a:t>
            </a:r>
            <a:r>
              <a:rPr lang="en-US" dirty="0"/>
              <a:t>:</a:t>
            </a:r>
          </a:p>
          <a:p>
            <a:pPr lvl="1"/>
            <a:r>
              <a:rPr lang="en-US" sz="2800" dirty="0">
                <a:effectLst/>
              </a:rPr>
              <a:t>Offering the digital twin evolving environment </a:t>
            </a:r>
          </a:p>
          <a:p>
            <a:pPr lvl="1"/>
            <a:r>
              <a:rPr lang="en-US" sz="2800" dirty="0">
                <a:effectLst/>
              </a:rPr>
              <a:t>Creating AI agents to simulate the game process</a:t>
            </a:r>
          </a:p>
          <a:p>
            <a:pPr lvl="1"/>
            <a:r>
              <a:rPr lang="en-US" sz="2800" dirty="0">
                <a:effectLst/>
              </a:rPr>
              <a:t>Improving deep reinforcement learning for better decision-making performances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9662F-34BE-059D-76D4-2012DA3AF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56EB623-ECD5-1742-B79E-DBB48A63F659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863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1173B-6A20-7D65-C0B3-1B9E8E0A0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2" y="2607515"/>
            <a:ext cx="10445130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Exploring Equilibrium Strategies in Network Games with Generative AI</a:t>
            </a:r>
            <a:br>
              <a:rPr lang="en-US" sz="3700" b="1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3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2C5BB2-C2E1-9883-0643-75F0304CBF60}"/>
              </a:ext>
            </a:extLst>
          </p:cNvPr>
          <p:cNvSpPr txBox="1"/>
          <p:nvPr/>
        </p:nvSpPr>
        <p:spPr>
          <a:xfrm>
            <a:off x="1740246" y="5040839"/>
            <a:ext cx="9688296" cy="10105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0" i="0" dirty="0">
                <a:effectLst/>
              </a:rPr>
              <a:t>Y. Yang, H. Du, G. Sun, Z. Xiong, D. </a:t>
            </a:r>
            <a:r>
              <a:rPr lang="en-US" sz="1200" b="0" i="0" dirty="0" err="1">
                <a:effectLst/>
              </a:rPr>
              <a:t>Niyato</a:t>
            </a:r>
            <a:r>
              <a:rPr lang="en-US" sz="1200" b="0" i="0" dirty="0">
                <a:effectLst/>
              </a:rPr>
              <a:t> and Z. Han, "Exploring Equilibrium Strategies in Network Games with Generative AI," in </a:t>
            </a:r>
            <a:r>
              <a:rPr lang="en-US" sz="1200" b="0" i="1" dirty="0">
                <a:effectLst/>
              </a:rPr>
              <a:t>IEEE Network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doi</a:t>
            </a:r>
            <a:r>
              <a:rPr lang="en-US" sz="1200" b="0" i="0" dirty="0">
                <a:effectLst/>
              </a:rPr>
              <a:t>: 10.1109/MNET.2024.3521887.</a:t>
            </a:r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8869D-2C46-0765-74E3-D9E379BC2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56EB623-ECD5-1742-B79E-DBB48A63F659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388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FD58F-1883-B307-2511-CD5C9BB9A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5" y="352947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141C6-1CC1-A653-07C6-56EC8EEFB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270" y="1642648"/>
            <a:ext cx="10497787" cy="4920814"/>
          </a:xfrm>
        </p:spPr>
        <p:txBody>
          <a:bodyPr anchor="ctr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sz="3200" dirty="0"/>
              <a:t> Objective: Machine learning model performance optimization against false data injection attack </a:t>
            </a:r>
            <a:r>
              <a:rPr lang="en-US" sz="3200" dirty="0"/>
              <a:t>while </a:t>
            </a:r>
            <a:r>
              <a:rPr lang="en-US" sz="3200" b="1" dirty="0"/>
              <a:t>minimizing costs</a:t>
            </a:r>
            <a:endParaRPr lang="en-US" altLang="zh-CN" sz="3200" dirty="0"/>
          </a:p>
          <a:p>
            <a:pPr>
              <a:buFont typeface="Wingdings" pitchFamily="2" charset="2"/>
              <a:buChar char="Ø"/>
            </a:pPr>
            <a:r>
              <a:rPr lang="en-US" altLang="zh-CN" sz="3200" dirty="0"/>
              <a:t> Collecting data for </a:t>
            </a:r>
            <a:r>
              <a:rPr lang="en-US" sz="3200" dirty="0"/>
              <a:t>the </a:t>
            </a:r>
            <a:r>
              <a:rPr lang="en-US" altLang="zh-CN" sz="3200" dirty="0"/>
              <a:t>object detection</a:t>
            </a:r>
            <a:r>
              <a:rPr lang="en-US" sz="3200" dirty="0"/>
              <a:t> model: honest user, malicious user, different costs</a:t>
            </a:r>
            <a:endParaRPr lang="en-US" sz="3200" b="1" dirty="0"/>
          </a:p>
          <a:p>
            <a:pPr>
              <a:buFont typeface="Wingdings" pitchFamily="2" charset="2"/>
              <a:buChar char="Ø"/>
            </a:pPr>
            <a:r>
              <a:rPr lang="en-US" sz="3200" dirty="0"/>
              <a:t> A</a:t>
            </a:r>
            <a:r>
              <a:rPr lang="en-US" sz="3200" dirty="0">
                <a:effectLst/>
              </a:rPr>
              <a:t> generative AI-enabled game theoretical framework: </a:t>
            </a:r>
            <a:r>
              <a:rPr lang="en-US" sz="3200" dirty="0">
                <a:solidFill>
                  <a:srgbClr val="000000"/>
                </a:solidFill>
                <a:effectLst/>
              </a:rPr>
              <a:t>model formulation, solution derivation, and strategy evaluation.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CE948-29F5-BC3E-CA61-B6D355306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56EB623-ECD5-1742-B79E-DBB48A63F659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517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34077-F836-A3B8-9C05-AA2FE250B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925" y="387720"/>
            <a:ext cx="10866148" cy="164296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</a:t>
            </a:r>
            <a:r>
              <a:rPr lang="en-US" sz="36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Generative AI-enabled Game </a:t>
            </a:r>
            <a:r>
              <a:rPr lang="en-US" sz="3600" b="1" dirty="0"/>
              <a:t>T</a:t>
            </a:r>
            <a:r>
              <a:rPr lang="en-US" sz="36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heoretical </a:t>
            </a:r>
            <a:r>
              <a:rPr lang="en-US" sz="3600" b="1" dirty="0"/>
              <a:t>F</a:t>
            </a:r>
            <a:r>
              <a:rPr lang="en-US" sz="36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ramework</a:t>
            </a:r>
            <a:br>
              <a:rPr lang="en-US" sz="3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CF9E0C-904C-A1DD-1FF0-66C8B4255E53}"/>
              </a:ext>
            </a:extLst>
          </p:cNvPr>
          <p:cNvSpPr txBox="1"/>
          <p:nvPr/>
        </p:nvSpPr>
        <p:spPr>
          <a:xfrm>
            <a:off x="536927" y="2030689"/>
            <a:ext cx="6190395" cy="436968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514350" indent="-4572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800" dirty="0">
                <a:effectLst/>
              </a:rPr>
              <a:t>Player: Honest user, GAN-based agent, and GDM-based agent.</a:t>
            </a:r>
          </a:p>
          <a:p>
            <a:pPr marL="514350" indent="-4572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CN" sz="2800" dirty="0"/>
              <a:t>Action: </a:t>
            </a:r>
            <a:r>
              <a:rPr lang="en-US" sz="2800" dirty="0">
                <a:effectLst/>
              </a:rPr>
              <a:t> the number of data collected/generated by players</a:t>
            </a:r>
          </a:p>
          <a:p>
            <a:pPr marL="514350" indent="-4572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800" dirty="0">
                <a:effectLst/>
              </a:rPr>
              <a:t>Utility function: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</a:t>
            </a:r>
            <a:r>
              <a:rPr lang="en-US" sz="2800" dirty="0">
                <a:effectLst/>
              </a:rPr>
              <a:t>alicious users: (SVM model accuracy - generation cost) </a:t>
            </a:r>
            <a:endParaRPr lang="en-US" sz="28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H</a:t>
            </a:r>
            <a:r>
              <a:rPr lang="en-US" sz="2800" dirty="0">
                <a:effectLst/>
              </a:rPr>
              <a:t>onest users: SVM model accuracy  - collection cost).</a:t>
            </a:r>
          </a:p>
          <a:p>
            <a:pPr marL="514350" indent="-4572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800" dirty="0"/>
              <a:t>Strategies are guided by ChatGPT4</a:t>
            </a:r>
            <a:endParaRPr lang="en-US" sz="280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effectLst/>
            </a:endParaRPr>
          </a:p>
        </p:txBody>
      </p:sp>
      <p:pic>
        <p:nvPicPr>
          <p:cNvPr id="10" name="Content Placeholder 9" descr="A diagram of a model&#10;&#10;AI-generated content may be incorrect.">
            <a:extLst>
              <a:ext uri="{FF2B5EF4-FFF2-40B4-BE49-F238E27FC236}">
                <a16:creationId xmlns:a16="http://schemas.microsoft.com/office/drawing/2014/main" id="{BA919875-AFA4-501A-84DE-C3EF83526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27325" y="2030262"/>
            <a:ext cx="5201023" cy="378374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DB198-D33E-51CF-606B-E33BC8A06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56EB623-ECD5-1742-B79E-DBB48A63F659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888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13B9-6D6B-F0EE-B879-9353082F7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Exploring the Equilibrium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4A101-7983-95F4-6EFE-0CEF7230C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 descr="A close-up of a graph&#10;&#10;AI-generated content may be incorrect.">
            <a:extLst>
              <a:ext uri="{FF2B5EF4-FFF2-40B4-BE49-F238E27FC236}">
                <a16:creationId xmlns:a16="http://schemas.microsoft.com/office/drawing/2014/main" id="{9EBF2DA2-5778-C1EB-CF3A-0CF844825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48754"/>
            <a:ext cx="5875283" cy="2868867"/>
          </a:xfrm>
          <a:prstGeom prst="rect">
            <a:avLst/>
          </a:prstGeom>
        </p:spPr>
      </p:pic>
      <p:pic>
        <p:nvPicPr>
          <p:cNvPr id="12" name="Content Placeholder 11" descr="A diagram with text and numbers&#10;&#10;AI-generated content may be incorrect.">
            <a:extLst>
              <a:ext uri="{FF2B5EF4-FFF2-40B4-BE49-F238E27FC236}">
                <a16:creationId xmlns:a16="http://schemas.microsoft.com/office/drawing/2014/main" id="{94CD9E11-949C-2176-5934-029DE2C18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38481" y="3748755"/>
            <a:ext cx="5757519" cy="2868867"/>
          </a:xfr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90B6C75-779E-3626-FE56-C24848D86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485549"/>
              </p:ext>
            </p:extLst>
          </p:nvPr>
        </p:nvGraphicFramePr>
        <p:xfrm>
          <a:off x="838200" y="1644363"/>
          <a:ext cx="9946388" cy="2004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3944">
                  <a:extLst>
                    <a:ext uri="{9D8B030D-6E8A-4147-A177-3AD203B41FA5}">
                      <a16:colId xmlns:a16="http://schemas.microsoft.com/office/drawing/2014/main" val="3970529036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550816088"/>
                    </a:ext>
                  </a:extLst>
                </a:gridCol>
                <a:gridCol w="2724912">
                  <a:extLst>
                    <a:ext uri="{9D8B030D-6E8A-4147-A177-3AD203B41FA5}">
                      <a16:colId xmlns:a16="http://schemas.microsoft.com/office/drawing/2014/main" val="3277667432"/>
                    </a:ext>
                  </a:extLst>
                </a:gridCol>
                <a:gridCol w="2659004">
                  <a:extLst>
                    <a:ext uri="{9D8B030D-6E8A-4147-A177-3AD203B41FA5}">
                      <a16:colId xmlns:a16="http://schemas.microsoft.com/office/drawing/2014/main" val="915945736"/>
                    </a:ext>
                  </a:extLst>
                </a:gridCol>
              </a:tblGrid>
              <a:tr h="6136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Honest users</a:t>
                      </a:r>
                      <a:endParaRPr 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GAN-based agents</a:t>
                      </a:r>
                      <a:endParaRPr 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GDM-based agents </a:t>
                      </a:r>
                      <a:endParaRPr 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587615"/>
                  </a:ext>
                </a:extLst>
              </a:tr>
              <a:tr h="68640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he number of images</a:t>
                      </a:r>
                      <a:endParaRPr 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038943"/>
                  </a:ext>
                </a:extLst>
              </a:tr>
              <a:tr h="70469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Data cost per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0.0005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0.0007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0.0008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121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883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A40B-CBAA-3EF6-D8CF-6A18BF50B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 Analysis and Limitations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B3EFA-C297-E424-9D45-45BFED87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10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F72466-C132-30C2-EA42-4D992840615E}"/>
              </a:ext>
            </a:extLst>
          </p:cNvPr>
          <p:cNvSpPr txBox="1"/>
          <p:nvPr/>
        </p:nvSpPr>
        <p:spPr>
          <a:xfrm>
            <a:off x="838200" y="4670108"/>
            <a:ext cx="10683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1- </a:t>
            </a:r>
            <a:r>
              <a:rPr lang="en-US" sz="2400" dirty="0">
                <a:solidFill>
                  <a:srgbClr val="000000"/>
                </a:solidFill>
                <a:effectLst/>
                <a:latin typeface="Helvetica" pitchFamily="2" charset="0"/>
              </a:rPr>
              <a:t>GAN and GDM can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effectLst/>
                <a:latin typeface="Helvetica" pitchFamily="2" charset="0"/>
              </a:rPr>
              <a:t>act as the attacker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altLang="zh-CN" sz="2400" dirty="0">
                <a:solidFill>
                  <a:srgbClr val="000000"/>
                </a:solidFill>
              </a:rPr>
              <a:t>2-</a:t>
            </a:r>
            <a:r>
              <a:rPr lang="zh-CN" altLang="en-US" sz="240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The utilities can converge to a stable equilibrium strategy</a:t>
            </a:r>
          </a:p>
          <a:p>
            <a:r>
              <a:rPr lang="en-US" altLang="zh-CN" sz="2400" dirty="0">
                <a:solidFill>
                  <a:srgbClr val="000000"/>
                </a:solidFill>
                <a:effectLst/>
              </a:rPr>
              <a:t>3</a:t>
            </a:r>
            <a:r>
              <a:rPr lang="en-US" sz="2400" dirty="0">
                <a:solidFill>
                  <a:srgbClr val="000000"/>
                </a:solidFill>
                <a:effectLst/>
              </a:rPr>
              <a:t>- The derived Nash </a:t>
            </a:r>
            <a:r>
              <a:rPr lang="en-US" sz="2400" dirty="0">
                <a:solidFill>
                  <a:srgbClr val="000000"/>
                </a:solidFill>
              </a:rPr>
              <a:t>equilibrium strategy remains optimal</a:t>
            </a:r>
          </a:p>
          <a:p>
            <a:r>
              <a:rPr lang="en-US" altLang="zh-CN" sz="2400" dirty="0">
                <a:solidFill>
                  <a:srgbClr val="000000"/>
                </a:solidFill>
                <a:effectLst/>
              </a:rPr>
              <a:t>4</a:t>
            </a:r>
            <a:r>
              <a:rPr lang="en-US" sz="2400" dirty="0">
                <a:solidFill>
                  <a:srgbClr val="000000"/>
                </a:solidFill>
                <a:effectLst/>
              </a:rPr>
              <a:t>- Limitations: Scalability</a:t>
            </a:r>
            <a:r>
              <a:rPr lang="en-US" sz="2400" dirty="0">
                <a:solidFill>
                  <a:srgbClr val="000000"/>
                </a:solidFill>
              </a:rPr>
              <a:t>, the assumption of fixed datasets, methodology </a:t>
            </a:r>
            <a:endParaRPr lang="en-US" sz="2400" dirty="0">
              <a:solidFill>
                <a:srgbClr val="000000"/>
              </a:solidFill>
              <a:effectLst/>
            </a:endParaRPr>
          </a:p>
        </p:txBody>
      </p:sp>
      <p:pic>
        <p:nvPicPr>
          <p:cNvPr id="20" name="Picture 19" descr="A graph with blue bars&#10;&#10;AI-generated content may be incorrect.">
            <a:extLst>
              <a:ext uri="{FF2B5EF4-FFF2-40B4-BE49-F238E27FC236}">
                <a16:creationId xmlns:a16="http://schemas.microsoft.com/office/drawing/2014/main" id="{2FF26978-4A3A-ADC3-3E7F-9E8687746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65445"/>
            <a:ext cx="4168648" cy="3030286"/>
          </a:xfrm>
          <a:prstGeom prst="rect">
            <a:avLst/>
          </a:prstGeom>
        </p:spPr>
      </p:pic>
      <p:pic>
        <p:nvPicPr>
          <p:cNvPr id="22" name="Picture 21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5C3EDC91-8E1D-0ED5-D610-7CE012F68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472" y="1516334"/>
            <a:ext cx="3924044" cy="280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7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AB8C2-7931-6352-11A7-FE0612F46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2766218"/>
            <a:ext cx="10924309" cy="132556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Exploring the Equilibrium for Tournaments </a:t>
            </a:r>
            <a:br>
              <a:rPr lang="en-US" sz="3600" b="1" dirty="0"/>
            </a:br>
            <a:r>
              <a:rPr lang="en-US" sz="3600" b="1" dirty="0"/>
              <a:t>with Reinforcement Learning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C5FAB-B0B5-606B-DFC0-F67C50524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65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E7981-9DC4-2168-F8A7-657FFEF47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Research on Tournaments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974F0-B21D-8B5F-AC29-1C85F30FA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 descr="A diagram of sales contest statistics&#10;&#10;AI-generated content may be incorrect.">
            <a:extLst>
              <a:ext uri="{FF2B5EF4-FFF2-40B4-BE49-F238E27FC236}">
                <a16:creationId xmlns:a16="http://schemas.microsoft.com/office/drawing/2014/main" id="{7FF37D1D-D5C4-927A-4D28-88D63AE26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40" y="1736865"/>
            <a:ext cx="5753760" cy="3697860"/>
          </a:xfrm>
          <a:prstGeom prst="rect">
            <a:avLst/>
          </a:prstGeom>
        </p:spPr>
      </p:pic>
      <p:pic>
        <p:nvPicPr>
          <p:cNvPr id="12" name="Picture 11" descr="A screen shot of a chart&#10;&#10;AI-generated content may be incorrect.">
            <a:extLst>
              <a:ext uri="{FF2B5EF4-FFF2-40B4-BE49-F238E27FC236}">
                <a16:creationId xmlns:a16="http://schemas.microsoft.com/office/drawing/2014/main" id="{ADC1FD52-D3A4-68C1-620B-BAEC3186F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853" y="1787228"/>
            <a:ext cx="3925887" cy="41325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2C4839F-4F39-7CCC-47AA-02F7BE72C4BB}"/>
              </a:ext>
            </a:extLst>
          </p:cNvPr>
          <p:cNvSpPr txBox="1"/>
          <p:nvPr/>
        </p:nvSpPr>
        <p:spPr>
          <a:xfrm>
            <a:off x="377569" y="6169709"/>
            <a:ext cx="68819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fitsmallbusiness.com</a:t>
            </a:r>
            <a:r>
              <a:rPr lang="en-US" sz="1200" dirty="0"/>
              <a:t>/sales-contest-ideas</a:t>
            </a:r>
          </a:p>
          <a:p>
            <a:r>
              <a:rPr lang="en-US" sz="1200" dirty="0">
                <a:hlinkClick r:id="rId5"/>
              </a:rPr>
              <a:t>https://www.prospectly.com/blog/17-elite-sales-contest-ideas/</a:t>
            </a:r>
            <a:endParaRPr lang="en-US" sz="1200" dirty="0"/>
          </a:p>
          <a:p>
            <a:r>
              <a:rPr lang="en-US" sz="1200" dirty="0"/>
              <a:t>https://</a:t>
            </a:r>
            <a:r>
              <a:rPr lang="en-US" sz="1200" dirty="0" err="1"/>
              <a:t>knowledge.wharton.upenn.edu</a:t>
            </a:r>
            <a:r>
              <a:rPr lang="en-US" sz="1200" dirty="0"/>
              <a:t>/article/how-innovation-tournaments-create-gargantuan-wins/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EE7EF3-F307-81DF-5D52-8530B0A41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1520033"/>
            <a:ext cx="3141200" cy="4739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242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9277-4575-1592-782F-AB456C9E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Tournament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4D8773-7CC6-F241-72E4-C14B4EF1FB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6192"/>
                <a:ext cx="10515600" cy="4820157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spcBef>
                    <a:spcPts val="1600"/>
                  </a:spcBef>
                  <a:buFont typeface="Wingdings" pitchFamily="2" charset="2"/>
                  <a:buChar char="Ø"/>
                </a:pPr>
                <a:r>
                  <a:rPr lang="en-US" dirty="0"/>
                  <a:t> Assumption about two identical players:</a:t>
                </a:r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equal capabilities, risk-neutral, and act with full rationality</a:t>
                </a:r>
                <a:r>
                  <a:rPr lang="en-US" dirty="0"/>
                  <a:t> </a:t>
                </a:r>
              </a:p>
              <a:p>
                <a:pPr marL="342900" indent="-342900">
                  <a:spcBef>
                    <a:spcPts val="1600"/>
                  </a:spcBef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Predetermined winning prize for higher output;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dirty="0"/>
                      <m:t>Predetermined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losing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prize</m:t>
                    </m:r>
                  </m:oMath>
                </a14:m>
                <a:endParaRPr lang="en-US" dirty="0"/>
              </a:p>
              <a:p>
                <a:pPr marL="342900" indent="-342900">
                  <a:spcBef>
                    <a:spcPts val="1600"/>
                  </a:spcBef>
                  <a:buFont typeface="Wingdings" pitchFamily="2" charset="2"/>
                  <a:buChar char="Ø"/>
                </a:pPr>
                <a:r>
                  <a:rPr lang="en-US" dirty="0"/>
                  <a:t> Output of stage 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SG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SG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(−</m:t>
                    </m:r>
                    <m:r>
                      <a:rPr lang="en-US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342900" indent="-342900">
                  <a:spcBef>
                    <a:spcPts val="1600"/>
                  </a:spcBef>
                  <a:buFont typeface="Wingdings" pitchFamily="2" charset="2"/>
                  <a:buChar char="Ø"/>
                </a:pPr>
                <a:r>
                  <a:rPr lang="en-US" dirty="0"/>
                  <a:t> Cost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342900" indent="-342900">
                  <a:spcBef>
                    <a:spcPts val="1600"/>
                  </a:spcBef>
                  <a:buFont typeface="Wingdings" pitchFamily="2" charset="2"/>
                  <a:buChar char="Ø"/>
                </a:pPr>
                <a:r>
                  <a:rPr lang="en-US" dirty="0"/>
                  <a:t> Utility function: </a:t>
                </a:r>
                <a14:m>
                  <m:oMath xmlns:m="http://schemas.openxmlformats.org/officeDocument/2006/math">
                    <m:r>
                      <a:rPr lang="en-US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𝑖𝑡</m:t>
                            </m:r>
                          </m:sub>
                        </m:sSub>
                      </m:e>
                    </m:d>
                    <m:r>
                      <a:rPr lang="en-US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𝑤</m:t>
                    </m:r>
                    <m:d>
                      <m:dPr>
                        <m:ctrlP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  <m:r>
                      <a:rPr lang="en-US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𝑖𝑡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=1,2,</m:t>
                    </m:r>
                    <m:r>
                      <a:rPr lang="en-US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=1,2,..</m:t>
                    </m:r>
                    <m:r>
                      <a:rPr lang="en-US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en-US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spcBef>
                    <a:spcPts val="1600"/>
                  </a:spcBef>
                  <a:buFont typeface="Wingdings" pitchFamily="2" charset="2"/>
                  <a:buChar char="Ø"/>
                </a:pPr>
                <a:r>
                  <a:rPr lang="en-US" dirty="0">
                    <a:ea typeface="SimSun" panose="02010600030101010101" pitchFamily="2" charset="-122"/>
                  </a:rPr>
                  <a:t> Players can view their own output and that of their competitor after each stage</a:t>
                </a:r>
                <a:endParaRPr lang="en-US" dirty="0"/>
              </a:p>
              <a:p>
                <a:pPr marL="342900" indent="-342900">
                  <a:buFont typeface="Wingdings" pitchFamily="2" charset="2"/>
                  <a:buChar char="Ø"/>
                </a:pPr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4D8773-7CC6-F241-72E4-C14B4EF1FB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6192"/>
                <a:ext cx="10515600" cy="4820157"/>
              </a:xfrm>
              <a:blipFill>
                <a:blip r:embed="rId3"/>
                <a:stretch>
                  <a:fillRect l="-1086" t="-2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D9DAC-8767-E381-BCB1-1393776ED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08628F-9A9C-A005-C52E-36E01067912A}"/>
              </a:ext>
            </a:extLst>
          </p:cNvPr>
          <p:cNvSpPr txBox="1"/>
          <p:nvPr/>
        </p:nvSpPr>
        <p:spPr>
          <a:xfrm>
            <a:off x="1109279" y="6453966"/>
            <a:ext cx="9694762" cy="26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Clr>
                <a:srgbClr val="222222"/>
              </a:buClr>
              <a:buSzPts val="1000"/>
            </a:pPr>
            <a:r>
              <a:rPr lang="en-US" sz="1050" kern="10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Orrison</a:t>
            </a:r>
            <a:r>
              <a:rPr lang="en-US" sz="1050" kern="1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Alannah, Andrew </a:t>
            </a:r>
            <a:r>
              <a:rPr lang="en-US" sz="1050" kern="10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Schotter</a:t>
            </a:r>
            <a:r>
              <a:rPr lang="en-US" sz="1050" kern="1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and Keith </a:t>
            </a:r>
            <a:r>
              <a:rPr lang="en-US" sz="1050" kern="10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Weigelt</a:t>
            </a:r>
            <a:r>
              <a:rPr lang="en-US" sz="1050" kern="1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"</a:t>
            </a:r>
            <a:r>
              <a:rPr lang="en-US" sz="1050" kern="10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Multiperson</a:t>
            </a:r>
            <a:r>
              <a:rPr lang="en-US" sz="1050" kern="1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tournaments: An experimental examination." </a:t>
            </a:r>
            <a:r>
              <a:rPr lang="en-US" sz="1050" i="1" kern="1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Management Science</a:t>
            </a:r>
            <a:r>
              <a:rPr lang="en-US" sz="1050" kern="1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50.2 (2004): 268-279.</a:t>
            </a:r>
            <a:endParaRPr lang="en-US" sz="105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224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255" y="424442"/>
            <a:ext cx="9839325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One-stage Tournament</a:t>
            </a:r>
            <a:endParaRPr lang="en-SG" sz="4000" dirty="0"/>
          </a:p>
        </p:txBody>
      </p:sp>
      <p:sp>
        <p:nvSpPr>
          <p:cNvPr id="5" name="Rectangle 4"/>
          <p:cNvSpPr/>
          <p:nvPr/>
        </p:nvSpPr>
        <p:spPr>
          <a:xfrm>
            <a:off x="3244364" y="2291862"/>
            <a:ext cx="422031" cy="422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1</a:t>
            </a:r>
            <a:endParaRPr lang="en-SG" dirty="0"/>
          </a:p>
        </p:txBody>
      </p:sp>
      <p:sp>
        <p:nvSpPr>
          <p:cNvPr id="6" name="Rectangle 5"/>
          <p:cNvSpPr/>
          <p:nvPr/>
        </p:nvSpPr>
        <p:spPr>
          <a:xfrm>
            <a:off x="3244363" y="3074377"/>
            <a:ext cx="422031" cy="4220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2</a:t>
            </a:r>
            <a:endParaRPr lang="en-SG" dirty="0"/>
          </a:p>
        </p:txBody>
      </p:sp>
      <p:cxnSp>
        <p:nvCxnSpPr>
          <p:cNvPr id="8" name="Straight Connector 7"/>
          <p:cNvCxnSpPr>
            <a:stCxn id="5" idx="3"/>
          </p:cNvCxnSpPr>
          <p:nvPr/>
        </p:nvCxnSpPr>
        <p:spPr>
          <a:xfrm flipV="1">
            <a:off x="3666395" y="2502877"/>
            <a:ext cx="949569" cy="1"/>
          </a:xfrm>
          <a:prstGeom prst="line">
            <a:avLst/>
          </a:prstGeom>
          <a:ln w="38100" cap="flat"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666393" y="3295468"/>
            <a:ext cx="1433146" cy="1"/>
          </a:xfrm>
          <a:prstGeom prst="line">
            <a:avLst/>
          </a:prstGeom>
          <a:ln w="38100">
            <a:tailEnd type="diamon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615964" y="2502875"/>
            <a:ext cx="863955" cy="0"/>
          </a:xfrm>
          <a:prstGeom prst="line">
            <a:avLst/>
          </a:prstGeom>
          <a:ln w="38100" cap="flat">
            <a:prstDash val="sys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099539" y="3295466"/>
            <a:ext cx="1128524" cy="0"/>
          </a:xfrm>
          <a:prstGeom prst="line">
            <a:avLst/>
          </a:prstGeom>
          <a:ln w="38100">
            <a:prstDash val="sysDot"/>
            <a:tailEnd type="diamon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868957" y="2068883"/>
                <a:ext cx="544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957" y="2068883"/>
                <a:ext cx="54444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778378" y="2077525"/>
                <a:ext cx="539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378" y="2077525"/>
                <a:ext cx="53912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141176" y="2889709"/>
                <a:ext cx="5497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176" y="2889709"/>
                <a:ext cx="54976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91579" y="2889709"/>
                <a:ext cx="544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579" y="2889709"/>
                <a:ext cx="54444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387865" y="2547940"/>
                <a:ext cx="560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865" y="2547940"/>
                <a:ext cx="560218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767832" y="3321173"/>
                <a:ext cx="5655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832" y="3321173"/>
                <a:ext cx="565539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537924" y="2992348"/>
                <a:ext cx="781551" cy="519351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G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24" y="2992348"/>
                <a:ext cx="781551" cy="519351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508522" y="2177553"/>
                <a:ext cx="731960" cy="519351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G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522" y="2177553"/>
                <a:ext cx="731960" cy="519351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080D8F-F20A-44FD-071F-716B46FE41B9}"/>
                  </a:ext>
                </a:extLst>
              </p:cNvPr>
              <p:cNvSpPr txBox="1"/>
              <p:nvPr/>
            </p:nvSpPr>
            <p:spPr>
              <a:xfrm>
                <a:off x="1458410" y="4398745"/>
                <a:ext cx="9839325" cy="16265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2000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player’s expected payoff:</a:t>
                </a:r>
              </a:p>
              <a:p>
                <a:pPr marL="0" marR="0" algn="just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sup>
                      </m:sSup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sup>
                          </m:s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 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</m:oMath>
                  </m:oMathPara>
                </a14:m>
                <a:endParaRPr lang="en-US" sz="2000" kern="1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2000" kern="1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The symmetric equilibrium effort: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000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H</m:t>
                            </m:r>
                          </m:sup>
                        </m:sSup>
                        <m: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000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L</m:t>
                            </m:r>
                          </m:sup>
                        </m:sSup>
                      </m:num>
                      <m:den>
                        <m:r>
                          <a:rPr lang="en-US" sz="2000" b="0" i="1" kern="100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𝑞𝑘</m:t>
                        </m:r>
                      </m:den>
                    </m:f>
                  </m:oMath>
                </a14:m>
                <a:endParaRPr lang="en-US" sz="2000" kern="1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080D8F-F20A-44FD-071F-716B46FE4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410" y="4398745"/>
                <a:ext cx="9839325" cy="1626599"/>
              </a:xfrm>
              <a:prstGeom prst="rect">
                <a:avLst/>
              </a:prstGeom>
              <a:blipFill>
                <a:blip r:embed="rId11"/>
                <a:stretch>
                  <a:fillRect l="-644" b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48F58C-43BF-88F6-4414-4DB05AC5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28DC92-9C6D-2F8F-C8F9-1FBCE14EA6FA}"/>
                  </a:ext>
                </a:extLst>
              </p:cNvPr>
              <p:cNvSpPr txBox="1"/>
              <p:nvPr/>
            </p:nvSpPr>
            <p:spPr>
              <a:xfrm>
                <a:off x="7629336" y="2512473"/>
                <a:ext cx="451259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SG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dirty="0"/>
                  <a:t>Winning prize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G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  <m:r>
                        <a:rPr lang="en-US" sz="180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Losing</m:t>
                      </m:r>
                      <m:r>
                        <m:rPr>
                          <m:nor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prize</m:t>
                      </m:r>
                    </m:oMath>
                  </m:oMathPara>
                </a14:m>
                <a:endParaRPr lang="en-US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28DC92-9C6D-2F8F-C8F9-1FBCE14EA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9336" y="2512473"/>
                <a:ext cx="4512596" cy="923330"/>
              </a:xfrm>
              <a:prstGeom prst="rect">
                <a:avLst/>
              </a:prstGeom>
              <a:blipFill>
                <a:blip r:embed="rId12"/>
                <a:stretch>
                  <a:fillRect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9CF8160-77B7-9D48-E2BE-39790EECAE51}"/>
              </a:ext>
            </a:extLst>
          </p:cNvPr>
          <p:cNvSpPr txBox="1"/>
          <p:nvPr/>
        </p:nvSpPr>
        <p:spPr>
          <a:xfrm>
            <a:off x="1710672" y="6450071"/>
            <a:ext cx="9034781" cy="2591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just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Clr>
                <a:srgbClr val="222222"/>
              </a:buClr>
              <a:buSzPts val="1000"/>
            </a:pPr>
            <a:r>
              <a:rPr lang="en-US" sz="1000" kern="10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Orrison</a:t>
            </a:r>
            <a:r>
              <a:rPr lang="en-US" sz="1000" kern="1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Alannah, Andrew </a:t>
            </a:r>
            <a:r>
              <a:rPr lang="en-US" sz="1000" kern="10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Schotter</a:t>
            </a:r>
            <a:r>
              <a:rPr lang="en-US" sz="1000" kern="1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and Keith </a:t>
            </a:r>
            <a:r>
              <a:rPr lang="en-US" sz="1000" kern="10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Weigelt</a:t>
            </a:r>
            <a:r>
              <a:rPr lang="en-US" sz="1000" kern="1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"</a:t>
            </a:r>
            <a:r>
              <a:rPr lang="en-US" sz="1000" kern="10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Multiperson</a:t>
            </a:r>
            <a:r>
              <a:rPr lang="en-US" sz="1000" kern="1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tournaments: An experimental examination." </a:t>
            </a:r>
            <a:r>
              <a:rPr lang="en-US" sz="1000" i="1" kern="1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Management Science</a:t>
            </a:r>
            <a:r>
              <a:rPr lang="en-US" sz="1000" kern="100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50.2 (2004): 268-279.</a:t>
            </a:r>
            <a:endParaRPr lang="en-US" sz="10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270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C9B00-E826-FB50-39CA-C70F1F304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BDCE6-3147-9A8A-F88A-A5FC2E207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125" y="350879"/>
            <a:ext cx="981075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Two-stage Tournament</a:t>
            </a:r>
            <a:endParaRPr lang="en-SG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9447F5-0C96-5490-C962-4838A5C36E8D}"/>
              </a:ext>
            </a:extLst>
          </p:cNvPr>
          <p:cNvSpPr/>
          <p:nvPr/>
        </p:nvSpPr>
        <p:spPr>
          <a:xfrm>
            <a:off x="3244364" y="2291862"/>
            <a:ext cx="422031" cy="422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1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740849-27CB-CF0A-3EC5-D0D7B5C80017}"/>
              </a:ext>
            </a:extLst>
          </p:cNvPr>
          <p:cNvSpPr/>
          <p:nvPr/>
        </p:nvSpPr>
        <p:spPr>
          <a:xfrm>
            <a:off x="3244363" y="3074377"/>
            <a:ext cx="422031" cy="4220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2</a:t>
            </a:r>
            <a:endParaRPr lang="en-SG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704524-14D5-D41B-6A71-C65D432662B0}"/>
              </a:ext>
            </a:extLst>
          </p:cNvPr>
          <p:cNvCxnSpPr>
            <a:stCxn id="5" idx="3"/>
          </p:cNvCxnSpPr>
          <p:nvPr/>
        </p:nvCxnSpPr>
        <p:spPr>
          <a:xfrm flipV="1">
            <a:off x="3666395" y="2502877"/>
            <a:ext cx="949569" cy="1"/>
          </a:xfrm>
          <a:prstGeom prst="line">
            <a:avLst/>
          </a:prstGeom>
          <a:ln w="38100" cap="flat"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460F93-D466-758A-C582-F6462A1008DA}"/>
              </a:ext>
            </a:extLst>
          </p:cNvPr>
          <p:cNvCxnSpPr/>
          <p:nvPr/>
        </p:nvCxnSpPr>
        <p:spPr>
          <a:xfrm flipV="1">
            <a:off x="3666393" y="3295468"/>
            <a:ext cx="1433146" cy="1"/>
          </a:xfrm>
          <a:prstGeom prst="line">
            <a:avLst/>
          </a:prstGeom>
          <a:ln w="38100">
            <a:tailEnd type="diamon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3D138F-7C9F-7A41-887E-3A990161E5BC}"/>
              </a:ext>
            </a:extLst>
          </p:cNvPr>
          <p:cNvCxnSpPr/>
          <p:nvPr/>
        </p:nvCxnSpPr>
        <p:spPr>
          <a:xfrm>
            <a:off x="4615964" y="2502875"/>
            <a:ext cx="863955" cy="0"/>
          </a:xfrm>
          <a:prstGeom prst="line">
            <a:avLst/>
          </a:prstGeom>
          <a:ln w="38100" cap="flat">
            <a:prstDash val="sys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DE5630-B6A8-02A9-8376-C3F19C3B7309}"/>
              </a:ext>
            </a:extLst>
          </p:cNvPr>
          <p:cNvCxnSpPr/>
          <p:nvPr/>
        </p:nvCxnSpPr>
        <p:spPr>
          <a:xfrm>
            <a:off x="5099539" y="3295466"/>
            <a:ext cx="1128524" cy="0"/>
          </a:xfrm>
          <a:prstGeom prst="line">
            <a:avLst/>
          </a:prstGeom>
          <a:ln w="38100">
            <a:prstDash val="sysDot"/>
            <a:tailEnd type="diamon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14ECE8-7A3E-1A5C-99AD-A2CE06732B9B}"/>
                  </a:ext>
                </a:extLst>
              </p:cNvPr>
              <p:cNvSpPr txBox="1"/>
              <p:nvPr/>
            </p:nvSpPr>
            <p:spPr>
              <a:xfrm>
                <a:off x="3868957" y="2068883"/>
                <a:ext cx="544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14ECE8-7A3E-1A5C-99AD-A2CE06732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957" y="2068883"/>
                <a:ext cx="54444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B8D9085-6591-7DA4-8CA8-7FE5AE7B4F7C}"/>
                  </a:ext>
                </a:extLst>
              </p:cNvPr>
              <p:cNvSpPr txBox="1"/>
              <p:nvPr/>
            </p:nvSpPr>
            <p:spPr>
              <a:xfrm>
                <a:off x="4778378" y="2077525"/>
                <a:ext cx="539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B8D9085-6591-7DA4-8CA8-7FE5AE7B4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378" y="2077525"/>
                <a:ext cx="53912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99A901-6032-FFB1-DEB6-9A0F391847B9}"/>
                  </a:ext>
                </a:extLst>
              </p:cNvPr>
              <p:cNvSpPr txBox="1"/>
              <p:nvPr/>
            </p:nvSpPr>
            <p:spPr>
              <a:xfrm>
                <a:off x="4141176" y="2889709"/>
                <a:ext cx="5497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99A901-6032-FFB1-DEB6-9A0F39184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176" y="2889709"/>
                <a:ext cx="54976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EF8EC3-1054-532A-0712-C00C6BCCA167}"/>
                  </a:ext>
                </a:extLst>
              </p:cNvPr>
              <p:cNvSpPr txBox="1"/>
              <p:nvPr/>
            </p:nvSpPr>
            <p:spPr>
              <a:xfrm>
                <a:off x="5391579" y="2889709"/>
                <a:ext cx="544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FEF8EC3-1054-532A-0712-C00C6BCCA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579" y="2889709"/>
                <a:ext cx="54444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075BFC-FEEF-2E18-4CC6-D4DDBB64B27D}"/>
                  </a:ext>
                </a:extLst>
              </p:cNvPr>
              <p:cNvSpPr txBox="1"/>
              <p:nvPr/>
            </p:nvSpPr>
            <p:spPr>
              <a:xfrm>
                <a:off x="4387865" y="2547940"/>
                <a:ext cx="560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075BFC-FEEF-2E18-4CC6-D4DDBB64B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865" y="2547940"/>
                <a:ext cx="560218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67C539C-E447-4BD0-90FF-D154806D5AEF}"/>
                  </a:ext>
                </a:extLst>
              </p:cNvPr>
              <p:cNvSpPr txBox="1"/>
              <p:nvPr/>
            </p:nvSpPr>
            <p:spPr>
              <a:xfrm>
                <a:off x="4767832" y="3321173"/>
                <a:ext cx="5655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67C539C-E447-4BD0-90FF-D154806D5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832" y="3321173"/>
                <a:ext cx="565539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96D463B-54AE-20AF-503B-39957C693DCB}"/>
              </a:ext>
            </a:extLst>
          </p:cNvPr>
          <p:cNvCxnSpPr/>
          <p:nvPr/>
        </p:nvCxnSpPr>
        <p:spPr>
          <a:xfrm>
            <a:off x="5504895" y="2502876"/>
            <a:ext cx="649345" cy="0"/>
          </a:xfrm>
          <a:prstGeom prst="line">
            <a:avLst/>
          </a:prstGeom>
          <a:ln w="38100" cap="flat"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73D607B-80A7-A15D-9EC8-BC4F21476A51}"/>
              </a:ext>
            </a:extLst>
          </p:cNvPr>
          <p:cNvCxnSpPr/>
          <p:nvPr/>
        </p:nvCxnSpPr>
        <p:spPr>
          <a:xfrm flipV="1">
            <a:off x="6261832" y="3295469"/>
            <a:ext cx="721472" cy="1"/>
          </a:xfrm>
          <a:prstGeom prst="line">
            <a:avLst/>
          </a:prstGeom>
          <a:ln w="38100">
            <a:tailEnd type="diamon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CEB8F16-3461-B991-D2A4-EFEB73F6A255}"/>
              </a:ext>
            </a:extLst>
          </p:cNvPr>
          <p:cNvCxnSpPr/>
          <p:nvPr/>
        </p:nvCxnSpPr>
        <p:spPr>
          <a:xfrm>
            <a:off x="6184900" y="2502875"/>
            <a:ext cx="1212152" cy="0"/>
          </a:xfrm>
          <a:prstGeom prst="line">
            <a:avLst/>
          </a:prstGeom>
          <a:ln w="38100" cap="flat">
            <a:prstDash val="sys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9CA32F-D89A-F5C0-4328-7773DEEA3742}"/>
              </a:ext>
            </a:extLst>
          </p:cNvPr>
          <p:cNvCxnSpPr/>
          <p:nvPr/>
        </p:nvCxnSpPr>
        <p:spPr>
          <a:xfrm>
            <a:off x="7025467" y="3295466"/>
            <a:ext cx="781638" cy="0"/>
          </a:xfrm>
          <a:prstGeom prst="line">
            <a:avLst/>
          </a:prstGeom>
          <a:ln w="38100">
            <a:prstDash val="sysDot"/>
            <a:tailEnd type="diamon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28FC712-7C94-A418-70A5-26AF3A027115}"/>
                  </a:ext>
                </a:extLst>
              </p:cNvPr>
              <p:cNvSpPr txBox="1"/>
              <p:nvPr/>
            </p:nvSpPr>
            <p:spPr>
              <a:xfrm>
                <a:off x="5572677" y="2077525"/>
                <a:ext cx="544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28FC712-7C94-A418-70A5-26AF3A027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677" y="2077525"/>
                <a:ext cx="54444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402DB12-4BF8-9EED-6879-E5ABDE41C879}"/>
                  </a:ext>
                </a:extLst>
              </p:cNvPr>
              <p:cNvSpPr txBox="1"/>
              <p:nvPr/>
            </p:nvSpPr>
            <p:spPr>
              <a:xfrm>
                <a:off x="6517022" y="2077525"/>
                <a:ext cx="539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402DB12-4BF8-9EED-6879-E5ABDE41C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022" y="2077525"/>
                <a:ext cx="53912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B8AA6-E1D0-6677-CC0F-3F29DFD30EA4}"/>
                  </a:ext>
                </a:extLst>
              </p:cNvPr>
              <p:cNvSpPr txBox="1"/>
              <p:nvPr/>
            </p:nvSpPr>
            <p:spPr>
              <a:xfrm>
                <a:off x="6368536" y="2880193"/>
                <a:ext cx="5497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B8AA6-E1D0-6677-CC0F-3F29DFD30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536" y="2880193"/>
                <a:ext cx="54976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0A9C99-7C9C-011B-C96D-D8772247B8FA}"/>
                  </a:ext>
                </a:extLst>
              </p:cNvPr>
              <p:cNvSpPr txBox="1"/>
              <p:nvPr/>
            </p:nvSpPr>
            <p:spPr>
              <a:xfrm>
                <a:off x="7175742" y="2907156"/>
                <a:ext cx="544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0A9C99-7C9C-011B-C96D-D8772247B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742" y="2907156"/>
                <a:ext cx="54444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D24CC10-9E6E-59DD-3D69-FE3190178EB3}"/>
                  </a:ext>
                </a:extLst>
              </p:cNvPr>
              <p:cNvSpPr txBox="1"/>
              <p:nvPr/>
            </p:nvSpPr>
            <p:spPr>
              <a:xfrm>
                <a:off x="6184902" y="2557591"/>
                <a:ext cx="5602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D24CC10-9E6E-59DD-3D69-FE3190178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902" y="2557591"/>
                <a:ext cx="560217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C8CCE3C-8295-1F66-027D-F8AF62956CC4}"/>
                  </a:ext>
                </a:extLst>
              </p:cNvPr>
              <p:cNvSpPr txBox="1"/>
              <p:nvPr/>
            </p:nvSpPr>
            <p:spPr>
              <a:xfrm>
                <a:off x="6754234" y="3351196"/>
                <a:ext cx="5655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C8CCE3C-8295-1F66-027D-F8AF62956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234" y="3351196"/>
                <a:ext cx="565539" cy="369332"/>
              </a:xfrm>
              <a:prstGeom prst="rect">
                <a:avLst/>
              </a:prstGeom>
              <a:blipFill>
                <a:blip r:embed="rId14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344B1160-2295-2FB6-E99B-9E0F09E1E8B5}"/>
              </a:ext>
            </a:extLst>
          </p:cNvPr>
          <p:cNvSpPr txBox="1"/>
          <p:nvPr/>
        </p:nvSpPr>
        <p:spPr>
          <a:xfrm>
            <a:off x="4170711" y="1690689"/>
            <a:ext cx="944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Stage 1</a:t>
            </a:r>
            <a:endParaRPr lang="en-SG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9AD21FF-04B6-8161-7800-09952CC0A8F2}"/>
                  </a:ext>
                </a:extLst>
              </p:cNvPr>
              <p:cNvSpPr txBox="1"/>
              <p:nvPr/>
            </p:nvSpPr>
            <p:spPr>
              <a:xfrm>
                <a:off x="7939697" y="3025693"/>
                <a:ext cx="781551" cy="519351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G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9AD21FF-04B6-8161-7800-09952CC0A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9697" y="3025693"/>
                <a:ext cx="781551" cy="519351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1C4C1EA-BB66-56D2-5E1B-C006A24E7786}"/>
                  </a:ext>
                </a:extLst>
              </p:cNvPr>
              <p:cNvSpPr txBox="1"/>
              <p:nvPr/>
            </p:nvSpPr>
            <p:spPr>
              <a:xfrm>
                <a:off x="7932164" y="2243201"/>
                <a:ext cx="731960" cy="519351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G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1C4C1EA-BB66-56D2-5E1B-C006A24E7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164" y="2243201"/>
                <a:ext cx="731960" cy="519351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9CC5FC4E-652E-6983-460C-FD219F17ADB8}"/>
              </a:ext>
            </a:extLst>
          </p:cNvPr>
          <p:cNvSpPr txBox="1"/>
          <p:nvPr/>
        </p:nvSpPr>
        <p:spPr>
          <a:xfrm>
            <a:off x="5867889" y="1695294"/>
            <a:ext cx="944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Stage 2</a:t>
            </a:r>
            <a:endParaRPr lang="en-SG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4E6941-0295-05B9-8F3B-050765445B39}"/>
                  </a:ext>
                </a:extLst>
              </p:cNvPr>
              <p:cNvSpPr txBox="1"/>
              <p:nvPr/>
            </p:nvSpPr>
            <p:spPr>
              <a:xfrm>
                <a:off x="1331608" y="3874604"/>
                <a:ext cx="9072562" cy="2906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2000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player’s expected payoff:</a:t>
                </a:r>
              </a:p>
              <a:p>
                <a:pPr marL="0" marR="0" algn="just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𝑖𝑡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𝑖𝑡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sup>
                      </m:sSup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𝑖𝑡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𝑖𝑡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sup>
                          </m:s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 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 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  </m:t>
                      </m:r>
                    </m:oMath>
                  </m:oMathPara>
                </a14:m>
                <a:endParaRPr lang="en-US" sz="2000" kern="1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2000" kern="1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The symmetric equilibrium effort in Stage 1: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000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H</m:t>
                            </m:r>
                          </m:sup>
                        </m:sSup>
                        <m: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000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L</m:t>
                            </m:r>
                          </m:sup>
                        </m:sSup>
                      </m:num>
                      <m:den>
                        <m:r>
                          <a:rPr lang="en-US" sz="2000" b="0" i="1" kern="100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𝑞𝑘</m:t>
                        </m:r>
                      </m:den>
                    </m:f>
                  </m:oMath>
                </a14:m>
                <a:endParaRPr lang="en-US" sz="2000" kern="1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2000" kern="1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The symmetric expected equilibrium effort in Stage 2: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000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H</m:t>
                            </m:r>
                          </m:sup>
                        </m:sSup>
                        <m: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000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000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L</m:t>
                            </m:r>
                          </m:sup>
                        </m:sSup>
                      </m:num>
                      <m:den>
                        <m:r>
                          <a:rPr lang="en-US" sz="2000" b="0" i="1" kern="100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sz="2000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𝑞𝑘</m:t>
                        </m:r>
                      </m:den>
                    </m:f>
                  </m:oMath>
                </a14:m>
                <a:endParaRPr lang="en-US" sz="2000" kern="1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4E6941-0295-05B9-8F3B-050765445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08" y="3874604"/>
                <a:ext cx="9072562" cy="2906180"/>
              </a:xfrm>
              <a:prstGeom prst="rect">
                <a:avLst/>
              </a:prstGeom>
              <a:blipFill>
                <a:blip r:embed="rId17"/>
                <a:stretch>
                  <a:fillRect l="-2793" t="-14847" r="-140" b="-2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51CABF-2543-B6A7-B168-2DC8B8EC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09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61ED9-6B81-FD34-5353-DFE415B43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6DA6-A30A-7B3B-11FF-A56AEB6DE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48" y="3546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Multi-Stage Tournament</a:t>
            </a:r>
            <a:endParaRPr lang="en-SG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C8C4D-8534-C691-1157-EE44E8D3DE3D}"/>
              </a:ext>
            </a:extLst>
          </p:cNvPr>
          <p:cNvSpPr/>
          <p:nvPr/>
        </p:nvSpPr>
        <p:spPr>
          <a:xfrm>
            <a:off x="1537937" y="2213921"/>
            <a:ext cx="422031" cy="422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1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E3AF0A-9DE7-167E-4D2E-985D90A90036}"/>
              </a:ext>
            </a:extLst>
          </p:cNvPr>
          <p:cNvSpPr/>
          <p:nvPr/>
        </p:nvSpPr>
        <p:spPr>
          <a:xfrm>
            <a:off x="1597544" y="2997952"/>
            <a:ext cx="422031" cy="4220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2</a:t>
            </a:r>
            <a:endParaRPr lang="en-SG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9A6B22-7A6C-9843-33BA-FD116AE93A8D}"/>
              </a:ext>
            </a:extLst>
          </p:cNvPr>
          <p:cNvCxnSpPr>
            <a:stCxn id="5" idx="3"/>
          </p:cNvCxnSpPr>
          <p:nvPr/>
        </p:nvCxnSpPr>
        <p:spPr>
          <a:xfrm flipV="1">
            <a:off x="1959968" y="2424936"/>
            <a:ext cx="949569" cy="1"/>
          </a:xfrm>
          <a:prstGeom prst="line">
            <a:avLst/>
          </a:prstGeom>
          <a:ln w="38100" cap="flat"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53ACA7-4C0C-56F8-B9CA-0D4C369D8ECD}"/>
              </a:ext>
            </a:extLst>
          </p:cNvPr>
          <p:cNvCxnSpPr/>
          <p:nvPr/>
        </p:nvCxnSpPr>
        <p:spPr>
          <a:xfrm flipV="1">
            <a:off x="2003639" y="3210240"/>
            <a:ext cx="1433146" cy="1"/>
          </a:xfrm>
          <a:prstGeom prst="line">
            <a:avLst/>
          </a:prstGeom>
          <a:ln w="38100">
            <a:tailEnd type="diamon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AC13EF-E624-338A-10C6-FE7F58975914}"/>
              </a:ext>
            </a:extLst>
          </p:cNvPr>
          <p:cNvCxnSpPr>
            <a:cxnSpLocks/>
          </p:cNvCxnSpPr>
          <p:nvPr/>
        </p:nvCxnSpPr>
        <p:spPr>
          <a:xfrm>
            <a:off x="3004807" y="2455914"/>
            <a:ext cx="863955" cy="0"/>
          </a:xfrm>
          <a:prstGeom prst="line">
            <a:avLst/>
          </a:prstGeom>
          <a:ln w="38100" cap="flat">
            <a:prstDash val="sys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4AB40F4-792C-DE40-2A6A-EB7462CC2ED0}"/>
              </a:ext>
            </a:extLst>
          </p:cNvPr>
          <p:cNvCxnSpPr/>
          <p:nvPr/>
        </p:nvCxnSpPr>
        <p:spPr>
          <a:xfrm>
            <a:off x="3504222" y="3208967"/>
            <a:ext cx="1128524" cy="0"/>
          </a:xfrm>
          <a:prstGeom prst="line">
            <a:avLst/>
          </a:prstGeom>
          <a:ln w="38100">
            <a:prstDash val="sysDot"/>
            <a:tailEnd type="diamon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C28B9B-9403-FA5A-BF9D-E83AAAC8BFF5}"/>
                  </a:ext>
                </a:extLst>
              </p:cNvPr>
              <p:cNvSpPr txBox="1"/>
              <p:nvPr/>
            </p:nvSpPr>
            <p:spPr>
              <a:xfrm>
                <a:off x="2309363" y="2002610"/>
                <a:ext cx="544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C28B9B-9403-FA5A-BF9D-E83AAAC8B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363" y="2002610"/>
                <a:ext cx="54444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3EDD903-00BB-1910-D416-70A71B67A88D}"/>
                  </a:ext>
                </a:extLst>
              </p:cNvPr>
              <p:cNvSpPr txBox="1"/>
              <p:nvPr/>
            </p:nvSpPr>
            <p:spPr>
              <a:xfrm>
                <a:off x="3167223" y="2061506"/>
                <a:ext cx="539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3EDD903-00BB-1910-D416-70A71B67A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223" y="2061506"/>
                <a:ext cx="53912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BAC45C-15B4-D06D-C2AB-A4D586BAC688}"/>
                  </a:ext>
                </a:extLst>
              </p:cNvPr>
              <p:cNvSpPr txBox="1"/>
              <p:nvPr/>
            </p:nvSpPr>
            <p:spPr>
              <a:xfrm>
                <a:off x="2480169" y="2851419"/>
                <a:ext cx="5497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BAC45C-15B4-D06D-C2AB-A4D586BAC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169" y="2851419"/>
                <a:ext cx="54976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EC31CD-5C77-5D4E-1E9F-160D32391CF4}"/>
                  </a:ext>
                </a:extLst>
              </p:cNvPr>
              <p:cNvSpPr txBox="1"/>
              <p:nvPr/>
            </p:nvSpPr>
            <p:spPr>
              <a:xfrm>
                <a:off x="3773974" y="2805939"/>
                <a:ext cx="544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EC31CD-5C77-5D4E-1E9F-160D32391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974" y="2805939"/>
                <a:ext cx="54444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0C86E17-93C6-09B5-9E78-AA55BBA23AC1}"/>
                  </a:ext>
                </a:extLst>
              </p:cNvPr>
              <p:cNvSpPr txBox="1"/>
              <p:nvPr/>
            </p:nvSpPr>
            <p:spPr>
              <a:xfrm>
                <a:off x="2703522" y="2499198"/>
                <a:ext cx="560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0C86E17-93C6-09B5-9E78-AA55BBA23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522" y="2499198"/>
                <a:ext cx="560218" cy="369332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7EC6896-3FA7-C32B-80A9-FCA36353932D}"/>
                  </a:ext>
                </a:extLst>
              </p:cNvPr>
              <p:cNvSpPr txBox="1"/>
              <p:nvPr/>
            </p:nvSpPr>
            <p:spPr>
              <a:xfrm>
                <a:off x="3184380" y="3322613"/>
                <a:ext cx="5655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7EC6896-3FA7-C32B-80A9-FCA363539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380" y="3322613"/>
                <a:ext cx="565539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4B0356C-E8E7-8416-9EA1-BF836EF04C51}"/>
              </a:ext>
            </a:extLst>
          </p:cNvPr>
          <p:cNvCxnSpPr/>
          <p:nvPr/>
        </p:nvCxnSpPr>
        <p:spPr>
          <a:xfrm>
            <a:off x="3877038" y="2455914"/>
            <a:ext cx="649345" cy="0"/>
          </a:xfrm>
          <a:prstGeom prst="line">
            <a:avLst/>
          </a:prstGeom>
          <a:ln w="38100" cap="flat"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E59D388-E9C3-A9C0-43EF-499A80E411A5}"/>
              </a:ext>
            </a:extLst>
          </p:cNvPr>
          <p:cNvCxnSpPr/>
          <p:nvPr/>
        </p:nvCxnSpPr>
        <p:spPr>
          <a:xfrm flipV="1">
            <a:off x="4724422" y="3222413"/>
            <a:ext cx="721472" cy="1"/>
          </a:xfrm>
          <a:prstGeom prst="line">
            <a:avLst/>
          </a:prstGeom>
          <a:ln w="38100">
            <a:tailEnd type="diamon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E11C91D-4D3C-6F83-4CC0-88688A0C5478}"/>
              </a:ext>
            </a:extLst>
          </p:cNvPr>
          <p:cNvCxnSpPr/>
          <p:nvPr/>
        </p:nvCxnSpPr>
        <p:spPr>
          <a:xfrm>
            <a:off x="4632746" y="2464971"/>
            <a:ext cx="1212152" cy="0"/>
          </a:xfrm>
          <a:prstGeom prst="line">
            <a:avLst/>
          </a:prstGeom>
          <a:ln w="38100" cap="flat">
            <a:prstDash val="sys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0FD8E82-E92E-FB58-CD76-B5D01D1DDEB6}"/>
              </a:ext>
            </a:extLst>
          </p:cNvPr>
          <p:cNvCxnSpPr/>
          <p:nvPr/>
        </p:nvCxnSpPr>
        <p:spPr>
          <a:xfrm>
            <a:off x="5545204" y="3242664"/>
            <a:ext cx="781638" cy="0"/>
          </a:xfrm>
          <a:prstGeom prst="line">
            <a:avLst/>
          </a:prstGeom>
          <a:ln w="38100">
            <a:prstDash val="sysDot"/>
            <a:tailEnd type="diamon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577B962-6EB7-851B-0D3A-A4B23F59A026}"/>
                  </a:ext>
                </a:extLst>
              </p:cNvPr>
              <p:cNvSpPr txBox="1"/>
              <p:nvPr/>
            </p:nvSpPr>
            <p:spPr>
              <a:xfrm>
                <a:off x="3929488" y="2009946"/>
                <a:ext cx="544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577B962-6EB7-851B-0D3A-A4B23F59A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488" y="2009946"/>
                <a:ext cx="54444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25CA9A2-EB9B-691B-B214-AA619432B270}"/>
                  </a:ext>
                </a:extLst>
              </p:cNvPr>
              <p:cNvSpPr txBox="1"/>
              <p:nvPr/>
            </p:nvSpPr>
            <p:spPr>
              <a:xfrm>
                <a:off x="5006082" y="2061506"/>
                <a:ext cx="539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25CA9A2-EB9B-691B-B214-AA619432B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082" y="2061506"/>
                <a:ext cx="53912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7A51562-DE82-CE36-827F-A3379AF66A55}"/>
                  </a:ext>
                </a:extLst>
              </p:cNvPr>
              <p:cNvSpPr txBox="1"/>
              <p:nvPr/>
            </p:nvSpPr>
            <p:spPr>
              <a:xfrm>
                <a:off x="4870594" y="2813286"/>
                <a:ext cx="5497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7A51562-DE82-CE36-827F-A3379AF66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594" y="2813286"/>
                <a:ext cx="54976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B50C14-5EDF-0339-AEAC-69D7AC8DE4EA}"/>
                  </a:ext>
                </a:extLst>
              </p:cNvPr>
              <p:cNvSpPr txBox="1"/>
              <p:nvPr/>
            </p:nvSpPr>
            <p:spPr>
              <a:xfrm>
                <a:off x="5681626" y="2841460"/>
                <a:ext cx="544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B50C14-5EDF-0339-AEAC-69D7AC8DE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26" y="2841460"/>
                <a:ext cx="54444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255024D-AC87-54F0-F967-BB4177B1B6DA}"/>
                  </a:ext>
                </a:extLst>
              </p:cNvPr>
              <p:cNvSpPr txBox="1"/>
              <p:nvPr/>
            </p:nvSpPr>
            <p:spPr>
              <a:xfrm>
                <a:off x="4444313" y="2527316"/>
                <a:ext cx="5602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255024D-AC87-54F0-F967-BB4177B1B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313" y="2527316"/>
                <a:ext cx="560217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290BE25-24E6-72F6-4392-109DC10F09CC}"/>
                  </a:ext>
                </a:extLst>
              </p:cNvPr>
              <p:cNvSpPr txBox="1"/>
              <p:nvPr/>
            </p:nvSpPr>
            <p:spPr>
              <a:xfrm>
                <a:off x="5262434" y="3333042"/>
                <a:ext cx="5655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290BE25-24E6-72F6-4392-109DC10F0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2434" y="3333042"/>
                <a:ext cx="565539" cy="369332"/>
              </a:xfrm>
              <a:prstGeom prst="rect">
                <a:avLst/>
              </a:prstGeom>
              <a:blipFill>
                <a:blip r:embed="rId1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74D54EA6-770B-D7C3-D533-3B60B345607E}"/>
              </a:ext>
            </a:extLst>
          </p:cNvPr>
          <p:cNvSpPr txBox="1"/>
          <p:nvPr/>
        </p:nvSpPr>
        <p:spPr>
          <a:xfrm>
            <a:off x="2832305" y="1607105"/>
            <a:ext cx="944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Stage 1</a:t>
            </a:r>
            <a:endParaRPr lang="en-SG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2AD242C-93C2-0DFA-1346-CDBC362F7589}"/>
                  </a:ext>
                </a:extLst>
              </p:cNvPr>
              <p:cNvSpPr txBox="1"/>
              <p:nvPr/>
            </p:nvSpPr>
            <p:spPr>
              <a:xfrm>
                <a:off x="9652389" y="3025716"/>
                <a:ext cx="781551" cy="519351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G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2AD242C-93C2-0DFA-1346-CDBC362F7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389" y="3025716"/>
                <a:ext cx="781551" cy="519351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BAF6753-9A7B-048B-0443-7C6B5A4BC06D}"/>
                  </a:ext>
                </a:extLst>
              </p:cNvPr>
              <p:cNvSpPr txBox="1"/>
              <p:nvPr/>
            </p:nvSpPr>
            <p:spPr>
              <a:xfrm>
                <a:off x="9711087" y="2128447"/>
                <a:ext cx="731960" cy="519351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G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BAF6753-9A7B-048B-0443-7C6B5A4BC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1087" y="2128447"/>
                <a:ext cx="731960" cy="519351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E19D9223-4B1E-EBD7-CF35-3F85A0246DAB}"/>
              </a:ext>
            </a:extLst>
          </p:cNvPr>
          <p:cNvSpPr txBox="1"/>
          <p:nvPr/>
        </p:nvSpPr>
        <p:spPr>
          <a:xfrm>
            <a:off x="4475806" y="1627186"/>
            <a:ext cx="944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Stage 2</a:t>
            </a:r>
            <a:endParaRPr lang="en-SG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9B24F9-4A7E-8137-4E99-A99791F0C83C}"/>
              </a:ext>
            </a:extLst>
          </p:cNvPr>
          <p:cNvSpPr txBox="1"/>
          <p:nvPr/>
        </p:nvSpPr>
        <p:spPr>
          <a:xfrm>
            <a:off x="6170946" y="224617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6BBE45-459D-2002-4FFD-0764AFEA1CA6}"/>
              </a:ext>
            </a:extLst>
          </p:cNvPr>
          <p:cNvSpPr txBox="1"/>
          <p:nvPr/>
        </p:nvSpPr>
        <p:spPr>
          <a:xfrm>
            <a:off x="6487675" y="296371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BD7DB5-9F4B-23C5-E94B-A0A903504725}"/>
              </a:ext>
            </a:extLst>
          </p:cNvPr>
          <p:cNvSpPr txBox="1"/>
          <p:nvPr/>
        </p:nvSpPr>
        <p:spPr>
          <a:xfrm>
            <a:off x="7512267" y="1627186"/>
            <a:ext cx="90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Stage 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9DE41D-3092-0217-28C1-65DB47696151}"/>
              </a:ext>
            </a:extLst>
          </p:cNvPr>
          <p:cNvCxnSpPr/>
          <p:nvPr/>
        </p:nvCxnSpPr>
        <p:spPr>
          <a:xfrm>
            <a:off x="6969944" y="2499198"/>
            <a:ext cx="649345" cy="0"/>
          </a:xfrm>
          <a:prstGeom prst="line">
            <a:avLst/>
          </a:prstGeom>
          <a:ln w="38100" cap="flat"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F4A33E-E4FD-CB3A-70C9-213F3B2C3109}"/>
              </a:ext>
            </a:extLst>
          </p:cNvPr>
          <p:cNvCxnSpPr>
            <a:cxnSpLocks/>
          </p:cNvCxnSpPr>
          <p:nvPr/>
        </p:nvCxnSpPr>
        <p:spPr>
          <a:xfrm>
            <a:off x="7619289" y="2496340"/>
            <a:ext cx="863955" cy="0"/>
          </a:xfrm>
          <a:prstGeom prst="line">
            <a:avLst/>
          </a:prstGeom>
          <a:ln w="38100" cap="flat">
            <a:prstDash val="sys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8ADC61-5FDA-9DCA-69D8-C37E9ED73100}"/>
                  </a:ext>
                </a:extLst>
              </p:cNvPr>
              <p:cNvSpPr txBox="1"/>
              <p:nvPr/>
            </p:nvSpPr>
            <p:spPr>
              <a:xfrm>
                <a:off x="7035378" y="2061506"/>
                <a:ext cx="518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8ADC61-5FDA-9DCA-69D8-C37E9ED73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378" y="2061506"/>
                <a:ext cx="51847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4DDB248-31CC-1DFD-5DB3-BBFFA9563FA4}"/>
                  </a:ext>
                </a:extLst>
              </p:cNvPr>
              <p:cNvSpPr txBox="1"/>
              <p:nvPr/>
            </p:nvSpPr>
            <p:spPr>
              <a:xfrm>
                <a:off x="7819879" y="2055604"/>
                <a:ext cx="5131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4DDB248-31CC-1DFD-5DB3-BBFFA9563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879" y="2055604"/>
                <a:ext cx="513154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DFB46A1-A182-E1C9-6E87-C8FA421D9008}"/>
                  </a:ext>
                </a:extLst>
              </p:cNvPr>
              <p:cNvSpPr txBox="1"/>
              <p:nvPr/>
            </p:nvSpPr>
            <p:spPr>
              <a:xfrm>
                <a:off x="7236136" y="2849597"/>
                <a:ext cx="5237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DFB46A1-A182-E1C9-6E87-C8FA421D9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136" y="2849597"/>
                <a:ext cx="52379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3D12F6-9C4B-C11B-E4C9-DF28B4FF59F0}"/>
                  </a:ext>
                </a:extLst>
              </p:cNvPr>
              <p:cNvSpPr txBox="1"/>
              <p:nvPr/>
            </p:nvSpPr>
            <p:spPr>
              <a:xfrm>
                <a:off x="8510762" y="2809374"/>
                <a:ext cx="518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3D12F6-9C4B-C11B-E4C9-DF28B4FF5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0762" y="2809374"/>
                <a:ext cx="518475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051E18-E8C7-321A-395D-3BA0878803D2}"/>
              </a:ext>
            </a:extLst>
          </p:cNvPr>
          <p:cNvCxnSpPr/>
          <p:nvPr/>
        </p:nvCxnSpPr>
        <p:spPr>
          <a:xfrm flipV="1">
            <a:off x="6899887" y="3216071"/>
            <a:ext cx="1433146" cy="1"/>
          </a:xfrm>
          <a:prstGeom prst="line">
            <a:avLst/>
          </a:prstGeom>
          <a:ln w="38100">
            <a:tailEnd type="diamon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B7658C0-33E5-286D-BEB8-47686507BC4F}"/>
              </a:ext>
            </a:extLst>
          </p:cNvPr>
          <p:cNvCxnSpPr/>
          <p:nvPr/>
        </p:nvCxnSpPr>
        <p:spPr>
          <a:xfrm>
            <a:off x="8333033" y="3229510"/>
            <a:ext cx="781638" cy="0"/>
          </a:xfrm>
          <a:prstGeom prst="line">
            <a:avLst/>
          </a:prstGeom>
          <a:ln w="38100">
            <a:prstDash val="sysDot"/>
            <a:tailEnd type="diamon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70B0A-BC44-4D10-EC80-B8EF82DC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EB623-ECD5-1742-B79E-DBB48A63F659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C3CBDD-0017-2551-53D3-4055D297FE5E}"/>
                  </a:ext>
                </a:extLst>
              </p:cNvPr>
              <p:cNvSpPr txBox="1"/>
              <p:nvPr/>
            </p:nvSpPr>
            <p:spPr>
              <a:xfrm>
                <a:off x="1425776" y="4286681"/>
                <a:ext cx="10505633" cy="1898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algn="just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2000" kern="1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player’s expected payoff is </a:t>
                </a:r>
              </a:p>
              <a:p>
                <a:pPr marL="0" marR="0" algn="just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𝑖𝑡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𝑖𝑡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sup>
                      </m:sSup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𝑖𝑡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𝑖𝑡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sup>
                          </m:s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 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 </m:t>
                          </m:r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sSubSup>
                            <m:sSubSup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0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The equilibrium efforts: Symmetric? How large?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C3CBDD-0017-2551-53D3-4055D297F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776" y="4286681"/>
                <a:ext cx="10505633" cy="1898468"/>
              </a:xfrm>
              <a:prstGeom prst="rect">
                <a:avLst/>
              </a:prstGeom>
              <a:blipFill>
                <a:blip r:embed="rId21"/>
                <a:stretch>
                  <a:fillRect l="-604" t="-22517" b="-54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693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One big red thumbtack in front of many smaller black thumbtacks">
            <a:extLst>
              <a:ext uri="{FF2B5EF4-FFF2-40B4-BE49-F238E27FC236}">
                <a16:creationId xmlns:a16="http://schemas.microsoft.com/office/drawing/2014/main" id="{AD9AD8B7-25EA-FD98-9DDD-3C1A51684B1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0765" b="2180"/>
          <a:stretch/>
        </p:blipFill>
        <p:spPr>
          <a:xfrm>
            <a:off x="20" y="23064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56646-90E8-DBD4-7DE8-F304F0026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2060"/>
                </a:solidFill>
              </a:rPr>
              <a:t>Motivation</a:t>
            </a:r>
            <a:endParaRPr lang="en-US" b="1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8463BC6A-B29B-30BF-E352-B89671EBC5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949286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A6B2D-B9CB-D316-C94D-F8626151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56EB623-ECD5-1742-B79E-DBB48A63F659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610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D21DF-8B7A-947D-BC84-17F582394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One big red thumbtack in front of many smaller black thumbtacks">
            <a:extLst>
              <a:ext uri="{FF2B5EF4-FFF2-40B4-BE49-F238E27FC236}">
                <a16:creationId xmlns:a16="http://schemas.microsoft.com/office/drawing/2014/main" id="{593CBD73-FAFD-EC95-DAF0-3EBA58E36EC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0765" b="218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AADD86C-FF48-2487-DD9C-29FDE8452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10E91-5B2C-3A3C-F6F4-DF295E712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0ACAA-BA08-49BC-0645-7066348B0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07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 Train the model to</a:t>
            </a:r>
            <a:r>
              <a:rPr lang="en-US" altLang="zh-CN" dirty="0"/>
              <a:t> learn how to find t</a:t>
            </a:r>
            <a:r>
              <a:rPr lang="en-US" dirty="0"/>
              <a:t>he equilibrium: one stage and two stages</a:t>
            </a:r>
          </a:p>
          <a:p>
            <a:pPr lvl="1"/>
            <a:r>
              <a:rPr lang="en-US" sz="2800" dirty="0"/>
              <a:t>Without data</a:t>
            </a:r>
          </a:p>
          <a:p>
            <a:pPr lvl="1"/>
            <a:r>
              <a:rPr lang="en-US" sz="2800" dirty="0"/>
              <a:t>With limited data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Multi-stage tournament</a:t>
            </a:r>
          </a:p>
          <a:p>
            <a:pPr lvl="1"/>
            <a:r>
              <a:rPr lang="en-US" sz="2800" dirty="0"/>
              <a:t>Exploring the effort equilibrium for more than three stages</a:t>
            </a:r>
          </a:p>
          <a:p>
            <a:pPr lvl="1"/>
            <a:r>
              <a:rPr lang="en-US" sz="2800" dirty="0"/>
              <a:t>Insights for proving the equilibrium, incentive strategies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6E0D6-C024-AE6B-D321-8A028FCA5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56EB623-ECD5-1742-B79E-DBB48A63F659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31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789B65-C42C-8D2F-9A8E-10F5D83B0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One big red thumbtack in front of many smaller black thumbtacks">
            <a:extLst>
              <a:ext uri="{FF2B5EF4-FFF2-40B4-BE49-F238E27FC236}">
                <a16:creationId xmlns:a16="http://schemas.microsoft.com/office/drawing/2014/main" id="{1775E693-3AC2-FE41-3E8E-BA1C3AB1D39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0765" b="218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2EA5D1B-D446-9D29-E69C-79DFF9024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E43385-B905-0B92-9C9A-D4E8E3F77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58A57-7075-9602-751F-AA2256A46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200" dirty="0"/>
              <a:t>Reinforcement learning: Finding the equilibrium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/>
              <a:t> Trial-and-Error learning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/>
              <a:t>Adaptability in dynamic environments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/>
              <a:t>Multi-agent interactions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800" dirty="0"/>
              <a:t>Scalability</a:t>
            </a:r>
            <a:endParaRPr lang="en-US" sz="3200" dirty="0"/>
          </a:p>
          <a:p>
            <a:pPr>
              <a:buFont typeface="Wingdings" pitchFamily="2" charset="2"/>
              <a:buChar char="§"/>
            </a:pPr>
            <a:r>
              <a:rPr lang="en-US" sz="3200" dirty="0"/>
              <a:t>Reward function = Utility function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9B248-3690-673C-CE1D-8E1903A3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56EB623-ECD5-1742-B79E-DBB48A63F659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82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7" name="Picture 16" descr="Aerial view of a highway near the ocean">
            <a:extLst>
              <a:ext uri="{FF2B5EF4-FFF2-40B4-BE49-F238E27FC236}">
                <a16:creationId xmlns:a16="http://schemas.microsoft.com/office/drawing/2014/main" id="{46058BF1-F20A-90F7-EE3B-6B1D547FA9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16" r="-1" b="15164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6DD4703-FD80-4610-ACE9-01DCD86D8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7853" y="0"/>
            <a:ext cx="10256294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CEFCBC2-6F82-4011-8D8D-90F43DCB1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08571" y="0"/>
            <a:ext cx="9958950" cy="6858000"/>
          </a:xfrm>
          <a:custGeom>
            <a:avLst/>
            <a:gdLst>
              <a:gd name="connsiteX0" fmla="*/ 7551973 w 9174595"/>
              <a:gd name="connsiteY0" fmla="*/ 0 h 6858000"/>
              <a:gd name="connsiteX1" fmla="*/ 5634635 w 9174595"/>
              <a:gd name="connsiteY1" fmla="*/ 0 h 6858000"/>
              <a:gd name="connsiteX2" fmla="*/ 5550590 w 9174595"/>
              <a:gd name="connsiteY2" fmla="*/ 0 h 6858000"/>
              <a:gd name="connsiteX3" fmla="*/ 5480986 w 9174595"/>
              <a:gd name="connsiteY3" fmla="*/ 0 h 6858000"/>
              <a:gd name="connsiteX4" fmla="*/ 4886240 w 9174595"/>
              <a:gd name="connsiteY4" fmla="*/ 0 h 6858000"/>
              <a:gd name="connsiteX5" fmla="*/ 4816638 w 9174595"/>
              <a:gd name="connsiteY5" fmla="*/ 0 h 6858000"/>
              <a:gd name="connsiteX6" fmla="*/ 4357958 w 9174595"/>
              <a:gd name="connsiteY6" fmla="*/ 0 h 6858000"/>
              <a:gd name="connsiteX7" fmla="*/ 4288354 w 9174595"/>
              <a:gd name="connsiteY7" fmla="*/ 0 h 6858000"/>
              <a:gd name="connsiteX8" fmla="*/ 3693608 w 9174595"/>
              <a:gd name="connsiteY8" fmla="*/ 0 h 6858000"/>
              <a:gd name="connsiteX9" fmla="*/ 3624006 w 9174595"/>
              <a:gd name="connsiteY9" fmla="*/ 0 h 6858000"/>
              <a:gd name="connsiteX10" fmla="*/ 3276448 w 9174595"/>
              <a:gd name="connsiteY10" fmla="*/ 0 h 6858000"/>
              <a:gd name="connsiteX11" fmla="*/ 1622622 w 9174595"/>
              <a:gd name="connsiteY11" fmla="*/ 0 h 6858000"/>
              <a:gd name="connsiteX12" fmla="*/ 1600504 w 9174595"/>
              <a:gd name="connsiteY12" fmla="*/ 14997 h 6858000"/>
              <a:gd name="connsiteX13" fmla="*/ 0 w 9174595"/>
              <a:gd name="connsiteY13" fmla="*/ 3621656 h 6858000"/>
              <a:gd name="connsiteX14" fmla="*/ 1873886 w 9174595"/>
              <a:gd name="connsiteY14" fmla="*/ 6374814 h 6858000"/>
              <a:gd name="connsiteX15" fmla="*/ 2390406 w 9174595"/>
              <a:gd name="connsiteY15" fmla="*/ 6780599 h 6858000"/>
              <a:gd name="connsiteX16" fmla="*/ 2502136 w 9174595"/>
              <a:gd name="connsiteY16" fmla="*/ 6858000 h 6858000"/>
              <a:gd name="connsiteX17" fmla="*/ 3276448 w 9174595"/>
              <a:gd name="connsiteY17" fmla="*/ 6858000 h 6858000"/>
              <a:gd name="connsiteX18" fmla="*/ 3624006 w 9174595"/>
              <a:gd name="connsiteY18" fmla="*/ 6858000 h 6858000"/>
              <a:gd name="connsiteX19" fmla="*/ 3693608 w 9174595"/>
              <a:gd name="connsiteY19" fmla="*/ 6858000 h 6858000"/>
              <a:gd name="connsiteX20" fmla="*/ 4288354 w 9174595"/>
              <a:gd name="connsiteY20" fmla="*/ 6858000 h 6858000"/>
              <a:gd name="connsiteX21" fmla="*/ 4357958 w 9174595"/>
              <a:gd name="connsiteY21" fmla="*/ 6858000 h 6858000"/>
              <a:gd name="connsiteX22" fmla="*/ 4816638 w 9174595"/>
              <a:gd name="connsiteY22" fmla="*/ 6858000 h 6858000"/>
              <a:gd name="connsiteX23" fmla="*/ 4886240 w 9174595"/>
              <a:gd name="connsiteY23" fmla="*/ 6858000 h 6858000"/>
              <a:gd name="connsiteX24" fmla="*/ 5480986 w 9174595"/>
              <a:gd name="connsiteY24" fmla="*/ 6858000 h 6858000"/>
              <a:gd name="connsiteX25" fmla="*/ 5550590 w 9174595"/>
              <a:gd name="connsiteY25" fmla="*/ 6858000 h 6858000"/>
              <a:gd name="connsiteX26" fmla="*/ 5634635 w 9174595"/>
              <a:gd name="connsiteY26" fmla="*/ 6858000 h 6858000"/>
              <a:gd name="connsiteX27" fmla="*/ 6672460 w 9174595"/>
              <a:gd name="connsiteY27" fmla="*/ 6858000 h 6858000"/>
              <a:gd name="connsiteX28" fmla="*/ 6784188 w 9174595"/>
              <a:gd name="connsiteY28" fmla="*/ 6780599 h 6858000"/>
              <a:gd name="connsiteX29" fmla="*/ 7300708 w 9174595"/>
              <a:gd name="connsiteY29" fmla="*/ 6374814 h 6858000"/>
              <a:gd name="connsiteX30" fmla="*/ 9174595 w 9174595"/>
              <a:gd name="connsiteY30" fmla="*/ 3621656 h 6858000"/>
              <a:gd name="connsiteX31" fmla="*/ 7574092 w 9174595"/>
              <a:gd name="connsiteY3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174595" h="6858000">
                <a:moveTo>
                  <a:pt x="7551973" y="0"/>
                </a:moveTo>
                <a:lnTo>
                  <a:pt x="5634635" y="0"/>
                </a:lnTo>
                <a:lnTo>
                  <a:pt x="5550590" y="0"/>
                </a:lnTo>
                <a:lnTo>
                  <a:pt x="5480986" y="0"/>
                </a:lnTo>
                <a:lnTo>
                  <a:pt x="4886240" y="0"/>
                </a:lnTo>
                <a:lnTo>
                  <a:pt x="4816638" y="0"/>
                </a:lnTo>
                <a:lnTo>
                  <a:pt x="4357958" y="0"/>
                </a:lnTo>
                <a:lnTo>
                  <a:pt x="4288354" y="0"/>
                </a:lnTo>
                <a:lnTo>
                  <a:pt x="3693608" y="0"/>
                </a:lnTo>
                <a:lnTo>
                  <a:pt x="3624006" y="0"/>
                </a:lnTo>
                <a:lnTo>
                  <a:pt x="3276448" y="0"/>
                </a:lnTo>
                <a:lnTo>
                  <a:pt x="1622622" y="0"/>
                </a:lnTo>
                <a:lnTo>
                  <a:pt x="1600504" y="14997"/>
                </a:lnTo>
                <a:cubicBezTo>
                  <a:pt x="573594" y="754641"/>
                  <a:pt x="0" y="2093192"/>
                  <a:pt x="0" y="3621656"/>
                </a:cubicBezTo>
                <a:cubicBezTo>
                  <a:pt x="0" y="4969131"/>
                  <a:pt x="928496" y="5602839"/>
                  <a:pt x="1873886" y="6374814"/>
                </a:cubicBezTo>
                <a:cubicBezTo>
                  <a:pt x="2046046" y="6515397"/>
                  <a:pt x="2216632" y="6653108"/>
                  <a:pt x="2390406" y="6780599"/>
                </a:cubicBezTo>
                <a:lnTo>
                  <a:pt x="2502136" y="6858000"/>
                </a:lnTo>
                <a:lnTo>
                  <a:pt x="3276448" y="6858000"/>
                </a:lnTo>
                <a:lnTo>
                  <a:pt x="3624006" y="6858000"/>
                </a:lnTo>
                <a:lnTo>
                  <a:pt x="3693608" y="6858000"/>
                </a:lnTo>
                <a:lnTo>
                  <a:pt x="4288354" y="6858000"/>
                </a:lnTo>
                <a:lnTo>
                  <a:pt x="4357958" y="6858000"/>
                </a:lnTo>
                <a:lnTo>
                  <a:pt x="4816638" y="6858000"/>
                </a:lnTo>
                <a:lnTo>
                  <a:pt x="4886240" y="6858000"/>
                </a:lnTo>
                <a:lnTo>
                  <a:pt x="5480986" y="6858000"/>
                </a:lnTo>
                <a:lnTo>
                  <a:pt x="5550590" y="6858000"/>
                </a:lnTo>
                <a:lnTo>
                  <a:pt x="5634635" y="6858000"/>
                </a:lnTo>
                <a:lnTo>
                  <a:pt x="6672460" y="6858000"/>
                </a:lnTo>
                <a:lnTo>
                  <a:pt x="6784188" y="6780599"/>
                </a:lnTo>
                <a:cubicBezTo>
                  <a:pt x="6957963" y="6653108"/>
                  <a:pt x="7128548" y="6515397"/>
                  <a:pt x="7300708" y="6374814"/>
                </a:cubicBezTo>
                <a:cubicBezTo>
                  <a:pt x="8246100" y="5602839"/>
                  <a:pt x="9174595" y="4969131"/>
                  <a:pt x="9174595" y="3621656"/>
                </a:cubicBezTo>
                <a:cubicBezTo>
                  <a:pt x="9174595" y="2093192"/>
                  <a:pt x="8601001" y="754641"/>
                  <a:pt x="7574092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E9DED9E-DE30-402A-B9D1-AC3C24025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8673" y="-35602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CCB7C65-BA06-49C5-8D3C-51F97B409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75235" y="-35602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FAFD1F-46F7-AB67-8049-63DB6EECB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0" y="1346268"/>
            <a:ext cx="7810500" cy="26611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/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C7034-360F-103F-E6F9-F37E8FF3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3928" y="6356350"/>
            <a:ext cx="11887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  <a:defRPr/>
            </a:pPr>
            <a:fld id="{356EB623-ECD5-1742-B79E-DBB48A63F659}" type="slidenum">
              <a:rPr lang="en-US" sz="1600">
                <a:solidFill>
                  <a:srgbClr val="FFFFFF"/>
                </a:solidFill>
                <a:latin typeface="Calibri" panose="020F0502020204030204"/>
              </a:rPr>
              <a:pPr algn="l">
                <a:spcAft>
                  <a:spcPts val="600"/>
                </a:spcAft>
                <a:defRPr/>
              </a:pPr>
              <a:t>20</a:t>
            </a:fld>
            <a:endParaRPr lang="en-US" sz="16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280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40354</TotalTime>
  <Words>912</Words>
  <Application>Microsoft Macintosh PowerPoint</Application>
  <PresentationFormat>Widescreen</PresentationFormat>
  <Paragraphs>199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DengXian</vt:lpstr>
      <vt:lpstr>Meiryo</vt:lpstr>
      <vt:lpstr>SimSun</vt:lpstr>
      <vt:lpstr>Aptos</vt:lpstr>
      <vt:lpstr>Aptos Display</vt:lpstr>
      <vt:lpstr>Arial</vt:lpstr>
      <vt:lpstr>Calibri</vt:lpstr>
      <vt:lpstr>Cambria Math</vt:lpstr>
      <vt:lpstr>Courier New</vt:lpstr>
      <vt:lpstr>Helvetica</vt:lpstr>
      <vt:lpstr>Wingdings</vt:lpstr>
      <vt:lpstr>Office Theme</vt:lpstr>
      <vt:lpstr>Exploring the Equilibrium  in a Game with AI </vt:lpstr>
      <vt:lpstr>Table of Contents</vt:lpstr>
      <vt:lpstr>Introduction of Game Theory</vt:lpstr>
      <vt:lpstr>Challenges &amp; Limitations</vt:lpstr>
      <vt:lpstr>Game Theory &amp; Artificial Intelligence</vt:lpstr>
      <vt:lpstr>Exploring Equilibrium Strategies in Network Games with Generative AI </vt:lpstr>
      <vt:lpstr>Introduction</vt:lpstr>
      <vt:lpstr>A Generative AI-enabled Game Theoretical Framework </vt:lpstr>
      <vt:lpstr>Exploring the Equilibrium</vt:lpstr>
      <vt:lpstr>Result Analysis and Limitations</vt:lpstr>
      <vt:lpstr>Exploring the Equilibrium for Tournaments  with Reinforcement Learning</vt:lpstr>
      <vt:lpstr>Research on Tournaments</vt:lpstr>
      <vt:lpstr>Tournament Model</vt:lpstr>
      <vt:lpstr>One-stage Tournament</vt:lpstr>
      <vt:lpstr>Two-stage Tournament</vt:lpstr>
      <vt:lpstr>Multi-Stage Tournament</vt:lpstr>
      <vt:lpstr>Motivation</vt:lpstr>
      <vt:lpstr>Objectives</vt:lpstr>
      <vt:lpstr>Methodology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Haijing Zhang</dc:creator>
  <cp:lastModifiedBy>Haijing Zhang</cp:lastModifiedBy>
  <cp:revision>22</cp:revision>
  <dcterms:created xsi:type="dcterms:W3CDTF">2025-01-11T17:23:05Z</dcterms:created>
  <dcterms:modified xsi:type="dcterms:W3CDTF">2025-03-14T02:10:48Z</dcterms:modified>
</cp:coreProperties>
</file>